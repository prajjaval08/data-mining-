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oogle Shape;10;p2"/>
          <p:cNvPicPr/>
          <p:nvPr/>
        </p:nvPicPr>
        <p:blipFill>
          <a:blip r:embed="rId2"/>
          <a:srcRect l="1028" t="3591" r="38467" b="2908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69960" y="1711080"/>
            <a:ext cx="6003720" cy="172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4;p11"/>
          <p:cNvSpPr/>
          <p:nvPr/>
        </p:nvSpPr>
        <p:spPr>
          <a:xfrm>
            <a:off x="3749400" y="-366336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Google Shape;45;p11"/>
          <p:cNvPicPr/>
          <p:nvPr/>
        </p:nvPicPr>
        <p:blipFill>
          <a:blip r:embed="rId2"/>
          <a:srcRect t="3591" r="38467" b="2908"/>
          <a:stretch/>
        </p:blipFill>
        <p:spPr>
          <a:xfrm>
            <a:off x="4497120" y="167040"/>
            <a:ext cx="44690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84120" y="1793520"/>
            <a:ext cx="657576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72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0;p13"/>
          <p:cNvSpPr/>
          <p:nvPr/>
        </p:nvSpPr>
        <p:spPr>
          <a:xfrm>
            <a:off x="-1615680" y="421812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" name="Google Shape;51;p13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17748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2017440"/>
            <a:ext cx="3748320" cy="110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4599720" y="38952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4599720" y="9615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4599720" y="15336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4599720" y="21056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4599720" y="264132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4599720" y="321336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title"/>
          </p:nvPr>
        </p:nvSpPr>
        <p:spPr>
          <a:xfrm>
            <a:off x="4599720" y="378540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title"/>
          </p:nvPr>
        </p:nvSpPr>
        <p:spPr>
          <a:xfrm>
            <a:off x="4599720" y="4357440"/>
            <a:ext cx="690480" cy="43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2100" b="1" u="none" strike="noStrike">
                <a:solidFill>
                  <a:schemeClr val="dk2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0;p14"/>
          <p:cNvPicPr/>
          <p:nvPr/>
        </p:nvPicPr>
        <p:blipFill>
          <a:blip r:embed="rId2"/>
          <a:srcRect l="1028" t="3591" r="61317" b="2908"/>
          <a:stretch/>
        </p:blipFill>
        <p:spPr>
          <a:xfrm>
            <a:off x="177480" y="167040"/>
            <a:ext cx="27342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97600" y="1332000"/>
            <a:ext cx="3589920" cy="247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Google Shape;73;p14"/>
          <p:cNvSpPr/>
          <p:nvPr/>
        </p:nvSpPr>
        <p:spPr>
          <a:xfrm>
            <a:off x="6144840" y="-3550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27440" y="230040"/>
            <a:ext cx="3905640" cy="75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29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79;p16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705816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746240" y="228600"/>
            <a:ext cx="4168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7"/>
          <p:cNvPicPr/>
          <p:nvPr/>
        </p:nvPicPr>
        <p:blipFill>
          <a:blip r:embed="rId2"/>
          <a:srcRect l="1030" t="3591" r="77067" b="2908"/>
          <a:stretch/>
        </p:blipFill>
        <p:spPr>
          <a:xfrm>
            <a:off x="173880" y="167040"/>
            <a:ext cx="159012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475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99;p18"/>
          <p:cNvSpPr/>
          <p:nvPr/>
        </p:nvSpPr>
        <p:spPr>
          <a:xfrm>
            <a:off x="-3257640" y="36442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" name="Google Shape;100;p18"/>
          <p:cNvPicPr/>
          <p:nvPr/>
        </p:nvPicPr>
        <p:blipFill>
          <a:blip r:embed="rId2"/>
          <a:srcRect l="1030" t="3591" r="92862" b="2908"/>
          <a:stretch/>
        </p:blipFill>
        <p:spPr>
          <a:xfrm>
            <a:off x="173880" y="167040"/>
            <a:ext cx="442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5692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03;p19"/>
          <p:cNvSpPr/>
          <p:nvPr/>
        </p:nvSpPr>
        <p:spPr>
          <a:xfrm>
            <a:off x="4689000" y="388440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4" name="Google Shape;104;p19"/>
          <p:cNvPicPr/>
          <p:nvPr/>
        </p:nvPicPr>
        <p:blipFill>
          <a:blip r:embed="rId2"/>
          <a:srcRect l="16965" t="3591" r="30236" b="2908"/>
          <a:stretch/>
        </p:blipFill>
        <p:spPr>
          <a:xfrm>
            <a:off x="5135400" y="167040"/>
            <a:ext cx="383436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184720" y="454320"/>
            <a:ext cx="3713760" cy="17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107;p19"/>
          <p:cNvSpPr/>
          <p:nvPr/>
        </p:nvSpPr>
        <p:spPr>
          <a:xfrm>
            <a:off x="239040" y="38995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naheim"/>
                <a:ea typeface="Anaheim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09;p20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" name="Google Shape;110;p20"/>
          <p:cNvPicPr/>
          <p:nvPr/>
        </p:nvPicPr>
        <p:blipFill>
          <a:blip r:embed="rId2"/>
          <a:srcRect l="1028" t="3591" r="38467" b="2908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4;p3"/>
          <p:cNvSpPr/>
          <p:nvPr/>
        </p:nvSpPr>
        <p:spPr>
          <a:xfrm>
            <a:off x="2189880" y="408276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Google Shape;15;p3"/>
          <p:cNvPicPr/>
          <p:nvPr/>
        </p:nvPicPr>
        <p:blipFill>
          <a:blip r:embed="rId2"/>
          <a:srcRect l="10335" t="3591" r="38467" b="2908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7600" y="1628640"/>
            <a:ext cx="5183640" cy="188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340320" y="1919880"/>
            <a:ext cx="133596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70000"/>
              </a:lnSpc>
              <a:buNone/>
            </a:pPr>
            <a:r>
              <a:rPr lang="fr-FR" sz="80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2;p21"/>
          <p:cNvSpPr/>
          <p:nvPr/>
        </p:nvSpPr>
        <p:spPr>
          <a:xfrm>
            <a:off x="2189880" y="343728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4" name="Google Shape;113;p21"/>
          <p:cNvPicPr/>
          <p:nvPr/>
        </p:nvPicPr>
        <p:blipFill>
          <a:blip r:embed="rId2"/>
          <a:srcRect l="10335" t="3591" r="38467" b="2908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22;p5"/>
          <p:cNvPicPr/>
          <p:nvPr/>
        </p:nvPicPr>
        <p:blipFill>
          <a:blip r:embed="rId2"/>
          <a:srcRect l="1030" t="3591" r="72640" b="2908"/>
          <a:stretch/>
        </p:blipFill>
        <p:spPr>
          <a:xfrm>
            <a:off x="173880" y="167040"/>
            <a:ext cx="191160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6440"/>
            <a:ext cx="4557960" cy="65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29;p6"/>
          <p:cNvPicPr/>
          <p:nvPr/>
        </p:nvPicPr>
        <p:blipFill>
          <a:blip r:embed="rId2"/>
          <a:srcRect l="1030" t="3591" r="92862" b="2908"/>
          <a:stretch/>
        </p:blipFill>
        <p:spPr>
          <a:xfrm>
            <a:off x="8523720" y="167040"/>
            <a:ext cx="442440" cy="48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30;p6"/>
          <p:cNvSpPr/>
          <p:nvPr/>
        </p:nvSpPr>
        <p:spPr>
          <a:xfrm>
            <a:off x="-2153520" y="-3996720"/>
            <a:ext cx="4763880" cy="4763880"/>
          </a:xfrm>
          <a:prstGeom prst="ellipse">
            <a:avLst/>
          </a:prstGeom>
          <a:noFill/>
          <a:ln w="9525">
            <a:solidFill>
              <a:srgbClr val="FFF5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329800" y="228600"/>
            <a:ext cx="358488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19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22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025912" y="2571750"/>
            <a:ext cx="6854282" cy="11745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Prajjaval Pandey</a:t>
            </a: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Anaheim"/>
                <a:ea typeface="Anaheim"/>
              </a:rPr>
              <a:t>RA2311003030542</a:t>
            </a:r>
          </a:p>
          <a:p>
            <a:pPr algn="ctr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CSE-CORE I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228600" y="181080"/>
            <a:ext cx="107604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Mind maps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1367883" y="1278673"/>
            <a:ext cx="6311590" cy="11745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6800" b="0" u="none" strike="noStrike" dirty="0">
                <a:solidFill>
                  <a:schemeClr val="dk1"/>
                </a:solidFill>
                <a:effectLst/>
                <a:uFillTx/>
                <a:latin typeface="Bricolage Grotesque Medium"/>
                <a:ea typeface="Geist"/>
              </a:rPr>
              <a:t>Decision </a:t>
            </a:r>
            <a:r>
              <a:rPr lang="en-US" sz="6800" b="1" u="none" strike="noStrike" dirty="0">
                <a:solidFill>
                  <a:schemeClr val="dk1"/>
                </a:solidFill>
                <a:effectLst/>
                <a:uFillTx/>
                <a:latin typeface="Bricolage Grotesque"/>
                <a:ea typeface="Geist"/>
              </a:rPr>
              <a:t>Trees </a:t>
            </a:r>
            <a:endParaRPr lang="fr-FR" sz="6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20;p31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81040" rIns="870823080" bIns="238104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629240" y="228600"/>
            <a:ext cx="390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Introduction 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619520" y="3209760"/>
            <a:ext cx="429552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Decision trees partition data into homogeneous groups using simple, rule-based splits for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classification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regression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tasks.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They offer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interpretability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and fast inference, and can be combined into ensembles for improved performance.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0" name="Google Shape;223;p31"/>
          <p:cNvPicPr/>
          <p:nvPr/>
        </p:nvPicPr>
        <p:blipFill>
          <a:blip r:embed="rId2"/>
          <a:stretch/>
        </p:blipFill>
        <p:spPr>
          <a:xfrm>
            <a:off x="0" y="0"/>
            <a:ext cx="42944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Decision Tree 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Basics 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3" name="image69df1d455c4a9" descr="image69df1d455c4ae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Definition &amp; </a:t>
            </a: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Purpose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A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decision tree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models decisions as a sequence of splits that map features to outcomes.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Used for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classification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regression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, trees translate complex relationships into transparent, actionable rules.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6" name="image69df1d4568344" descr="image69df1d4568349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ubTitle"/>
          </p:nvPr>
        </p:nvSpPr>
        <p:spPr>
          <a:xfrm>
            <a:off x="4695840" y="1752480"/>
            <a:ext cx="384768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Key elements: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root node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internal nodes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(decision splits),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leaf nodes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(predictions).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Splitting criteria (e.g.,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Gini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, information gain) and pruning control complexity and generalization.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Tree 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 Medium"/>
              </a:rPr>
              <a:t>Components 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Tree </a:t>
            </a: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Types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Classification trees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predict categorical outcomes;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regression trees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predict continuous values.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Variants: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binary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splits for simplicity,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multivariate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for multiple features,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oblique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for linear-combination splits, balancing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interpretability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and expressiveness.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Model Building 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&amp; 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Evaluation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3" name="image69df1d4573315" descr="image69df1d457331a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Splitting </a:t>
            </a: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Criteria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Common criteria: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Gini impurity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information gain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for classification,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variance reduction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for regression.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Choice affects split quality and tree depth; compare criteria via cross-validation to optimize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predictive performance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6" name="image69df1d457e25e" descr="image69df1d457e263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4695840" y="1752480"/>
            <a:ext cx="384768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Pre-pruning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halts growth early using depth or minimum samples;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post-pruning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trims a fully grown tree based on validation performance.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Use cost-complexity or reduced-error pruning to control overfitting and improve generalization.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Pruning 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1" u="none" strike="noStrike">
                <a:solidFill>
                  <a:schemeClr val="dk1"/>
                </a:solidFill>
                <a:effectLst/>
                <a:uFillTx/>
                <a:latin typeface="Bricolage Grotesque"/>
                <a:ea typeface="Bricolage Grotesque Medium"/>
              </a:rPr>
              <a:t>Methods 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7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</a:rPr>
              <a:t>Evaluation </a:t>
            </a: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Bricolage Grotesque"/>
              </a:rPr>
              <a:t>Metrics 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For classification use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accuracy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precision/recall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,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AUC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; for regression use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MSE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 or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MAE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</a:rPr>
              <a:t>Supplement metrics with confusion matrices and calibration analysis to ensure reliable, business-ready models.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695840" y="1752480"/>
            <a:ext cx="3847680" cy="163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Decision trees provide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transparent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decision logic and fast inference, suitable for interpretable analytics.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Apply appropriate splitting, pruning, and evaluation to balance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accuracy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naheim"/>
                <a:ea typeface="Anaheim"/>
              </a:rPr>
              <a:t> and generalization in production models.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7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Bricolage Grotesque Medium"/>
                <a:ea typeface="Bricolage Grotesque Medium"/>
              </a:rPr>
              <a:t>Conclusions 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74BD-61EB-6E54-0691-6EE718DF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970" y="1903140"/>
            <a:ext cx="5739161" cy="1286109"/>
          </a:xfrm>
        </p:spPr>
        <p:txBody>
          <a:bodyPr/>
          <a:lstStyle/>
          <a:p>
            <a:pPr algn="ctr"/>
            <a:r>
              <a:rPr lang="en" dirty="0">
                <a:solidFill>
                  <a:schemeClr val="dk1"/>
                </a:solidFill>
                <a:latin typeface="Bricolage Grotesque Medium"/>
                <a:ea typeface="Bricolage Grotesque Medium"/>
              </a:rPr>
              <a:t>THANK </a:t>
            </a:r>
            <a:r>
              <a:rPr lang="en" b="1" dirty="0">
                <a:solidFill>
                  <a:schemeClr val="dk1"/>
                </a:solidFill>
                <a:latin typeface="Bricolage Grotesque Medium"/>
                <a:ea typeface="Bricolage Grotesque Medium"/>
              </a:rPr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57169"/>
      </p:ext>
    </p:extLst>
  </p:cSld>
  <p:clrMapOvr>
    <a:masterClrMapping/>
  </p:clrMapOvr>
</p:sld>
</file>

<file path=ppt/theme/theme1.xml><?xml version="1.0" encoding="utf-8"?>
<a:theme xmlns:a="http://schemas.openxmlformats.org/drawingml/2006/main" name="Mind Maps Workshop by Slidesgo">
  <a:themeElements>
    <a:clrScheme name="Simple Light">
      <a:dk1>
        <a:srgbClr val="FFF5EF"/>
      </a:dk1>
      <a:lt1>
        <a:srgbClr val="132933"/>
      </a:lt1>
      <a:dk2>
        <a:srgbClr val="FFF5EF"/>
      </a:dk2>
      <a:lt2>
        <a:srgbClr val="FFF5E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5E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306</Words>
  <Application>Microsoft Office PowerPoint</Application>
  <PresentationFormat>On-screen Show (16:9)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Anaheim</vt:lpstr>
      <vt:lpstr>Arial</vt:lpstr>
      <vt:lpstr>Bricolage Grotesque</vt:lpstr>
      <vt:lpstr>Bricolage Grotesque Medium</vt:lpstr>
      <vt:lpstr>Calibri</vt:lpstr>
      <vt:lpstr>OpenSymbol</vt:lpstr>
      <vt:lpstr>Symbol</vt:lpstr>
      <vt:lpstr>Wingdings</vt:lpstr>
      <vt:lpstr>Mind Maps Workshop by Slidesgo</vt:lpstr>
      <vt:lpstr>Slidesgo Final Pages</vt:lpstr>
      <vt:lpstr>Decision Trees </vt:lpstr>
      <vt:lpstr>Introduction </vt:lpstr>
      <vt:lpstr>PowerPoint Presentation</vt:lpstr>
      <vt:lpstr>PowerPoint Presentation</vt:lpstr>
      <vt:lpstr>Tree  Components </vt:lpstr>
      <vt:lpstr>PowerPoint Presentation</vt:lpstr>
      <vt:lpstr>PowerPoint Presentation</vt:lpstr>
      <vt:lpstr>PowerPoint Presentation</vt:lpstr>
      <vt:lpstr>Pruning  Methods </vt:lpstr>
      <vt:lpstr>PowerPoint Presentation</vt:lpstr>
      <vt:lpstr>Conclusions 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jiya chaudhary</cp:lastModifiedBy>
  <cp:revision>1</cp:revision>
  <dcterms:modified xsi:type="dcterms:W3CDTF">2026-04-15T05:13:55Z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2026-04-15T05:08:20Z</dcterms:created>
  <dc:creator>Unknown Creator</dc:creator>
  <dc:description/>
  <dc:language>en-US</dc:language>
  <cp:lastModifiedBy>Unknown Creator</cp:lastModifiedBy>
  <dcterms:modified xsi:type="dcterms:W3CDTF">2026-04-15T05:08:20Z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