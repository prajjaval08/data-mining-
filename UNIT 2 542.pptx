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photo-1664455340023-214c33a9d0bd" ContentType="image/photo-1664455340023-214c33a9d0bd"/>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hoto-1664455340023-214c33a9d0bd"/><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8F1"/>
        </a:solidFill>
      </p:bgPr>
    </p:bg>
    <p:spTree>
      <p:nvGrpSpPr>
        <p:cNvPr id="1" name=""/>
        <p:cNvGrpSpPr/>
        <p:nvPr/>
      </p:nvGrpSpPr>
      <p:grpSpPr>
        <a:xfrm>
          <a:off x="0" y="0"/>
          <a:ext cx="0" cy="0"/>
          <a:chOff x="0" y="0"/>
          <a:chExt cx="0" cy="0"/>
        </a:xfrm>
      </p:grpSpPr>
      <p:sp>
        <p:nvSpPr>
          <p:cNvPr id="2" name="Shape 0"/>
          <p:cNvSpPr/>
          <p:nvPr/>
        </p:nvSpPr>
        <p:spPr>
          <a:xfrm>
            <a:off x="761981" y="761981"/>
            <a:ext cx="761981" cy="761981"/>
          </a:xfrm>
          <a:prstGeom prst="ellipse">
            <a:avLst/>
          </a:prstGeom>
          <a:solidFill>
            <a:srgbClr val="C74B91">
              <a:alpha val="12000"/>
            </a:srgbClr>
          </a:solidFill>
          <a:ln/>
        </p:spPr>
      </p:sp>
      <p:sp>
        <p:nvSpPr>
          <p:cNvPr id="3" name="Text 1"/>
          <p:cNvSpPr/>
          <p:nvPr/>
        </p:nvSpPr>
        <p:spPr>
          <a:xfrm>
            <a:off x="761981" y="1015975"/>
            <a:ext cx="10667733" cy="1015975"/>
          </a:xfrm>
          <a:prstGeom prst="rect">
            <a:avLst/>
          </a:prstGeom>
          <a:noFill/>
          <a:ln/>
        </p:spPr>
        <p:txBody>
          <a:bodyPr wrap="square" lIns="1016" tIns="1016" rIns="1016" bIns="1016" rtlCol="0" anchor="t"/>
          <a:lstStyle/>
          <a:p>
            <a:pPr algn="ctr" indent="0" marL="0">
              <a:lnSpc>
                <a:spcPct val="130000"/>
              </a:lnSpc>
              <a:buNone/>
            </a:pPr>
            <a:r>
              <a:rPr lang="en-US" sz="4000" b="1" dirty="0">
                <a:solidFill>
                  <a:srgbClr val="7C3AED"/>
                </a:solidFill>
                <a:latin typeface="Calibri" pitchFamily="34" charset="0"/>
                <a:ea typeface="Calibri" pitchFamily="34" charset="-122"/>
                <a:cs typeface="Calibri" pitchFamily="34" charset="-120"/>
              </a:rPr>
              <a:t>Introduction to Market Basket Analysis</a:t>
            </a:r>
            <a:pPr algn="ctr" indent="0" marL="0">
              <a:lnSpc>
                <a:spcPct val="130000"/>
              </a:lnSpc>
              <a:buNone/>
            </a:pPr>
            <a:r>
              <a:rPr lang="en-US" sz="4000" dirty="0">
                <a:solidFill>
                  <a:srgbClr val="7C3AED"/>
                </a:solidFill>
                <a:latin typeface="Calibri" pitchFamily="34" charset="0"/>
                <a:ea typeface="Calibri" pitchFamily="34" charset="-122"/>
                <a:cs typeface="Calibri" pitchFamily="34" charset="-120"/>
              </a:rPr>
              <a:t>
</a:t>
            </a:r>
            <a:endParaRPr lang="en-US" sz="4000" dirty="0"/>
          </a:p>
        </p:txBody>
      </p:sp>
      <p:sp>
        <p:nvSpPr>
          <p:cNvPr id="4" name="Text 2"/>
          <p:cNvSpPr/>
          <p:nvPr/>
        </p:nvSpPr>
        <p:spPr>
          <a:xfrm>
            <a:off x="761981" y="2158946"/>
            <a:ext cx="10667733" cy="457189"/>
          </a:xfrm>
          <a:prstGeom prst="rect">
            <a:avLst/>
          </a:prstGeom>
          <a:noFill/>
          <a:ln/>
        </p:spPr>
        <p:txBody>
          <a:bodyPr wrap="square" lIns="1016" tIns="1016" rIns="1016" bIns="1016" rtlCol="0" anchor="t"/>
          <a:lstStyle/>
          <a:p>
            <a:pPr algn="ctr" indent="0" marL="0">
              <a:lnSpc>
                <a:spcPct val="130000"/>
              </a:lnSpc>
              <a:buNone/>
            </a:pPr>
            <a:r>
              <a:rPr lang="en-US" sz="1600" i="1" dirty="0">
                <a:solidFill>
                  <a:srgbClr val="475569"/>
                </a:solidFill>
                <a:latin typeface="Calibri" pitchFamily="34" charset="0"/>
                <a:ea typeface="Calibri" pitchFamily="34" charset="-122"/>
                <a:cs typeface="Calibri" pitchFamily="34" charset="-120"/>
              </a:rPr>
              <a:t>A comprehensive guide for Beginner</a:t>
            </a:r>
            <a:pPr algn="ctr" indent="0" marL="0">
              <a:lnSpc>
                <a:spcPct val="130000"/>
              </a:lnSpc>
              <a:buNone/>
            </a:pPr>
            <a:r>
              <a:rPr lang="en-US" sz="1600" dirty="0">
                <a:solidFill>
                  <a:srgbClr val="475569"/>
                </a:solidFill>
                <a:latin typeface="Calibri" pitchFamily="34" charset="0"/>
                <a:ea typeface="Calibri" pitchFamily="34" charset="-122"/>
                <a:cs typeface="Calibri" pitchFamily="34" charset="-120"/>
              </a:rPr>
              <a:t>
</a:t>
            </a:r>
            <a:endParaRPr lang="en-US" sz="1600" dirty="0"/>
          </a:p>
        </p:txBody>
      </p:sp>
      <p:sp>
        <p:nvSpPr>
          <p:cNvPr id="5" name="Text 3"/>
          <p:cNvSpPr/>
          <p:nvPr/>
        </p:nvSpPr>
        <p:spPr>
          <a:xfrm>
            <a:off x="761981" y="2920927"/>
            <a:ext cx="10667733" cy="380990"/>
          </a:xfrm>
          <a:prstGeom prst="rect">
            <a:avLst/>
          </a:prstGeom>
          <a:noFill/>
          <a:ln/>
        </p:spPr>
        <p:txBody>
          <a:bodyPr wrap="square" lIns="1016" tIns="1016" rIns="1016" bIns="1016" rtlCol="0" anchor="t"/>
          <a:lstStyle/>
          <a:p>
            <a:pPr algn="ctr" indent="0" marL="0">
              <a:lnSpc>
                <a:spcPct val="130000"/>
              </a:lnSpc>
              <a:buNone/>
            </a:pPr>
            <a:r>
              <a:rPr lang="en-US" sz="1100" dirty="0">
                <a:solidFill>
                  <a:srgbClr val="94A3B8"/>
                </a:solidFill>
                <a:latin typeface="Calibri" pitchFamily="34" charset="0"/>
                <a:ea typeface="Calibri" pitchFamily="34" charset="-122"/>
                <a:cs typeface="Calibri" pitchFamily="34" charset="-120"/>
              </a:rPr>
              <a:t>PRESENTED BY</a:t>
            </a:r>
            <a:pPr algn="ctr" indent="0" marL="0">
              <a:lnSpc>
                <a:spcPct val="130000"/>
              </a:lnSpc>
              <a:buNone/>
            </a:pPr>
            <a:r>
              <a:rPr lang="en-US" sz="1100" dirty="0">
                <a:solidFill>
                  <a:srgbClr val="94A3B8"/>
                </a:solidFill>
                <a:latin typeface="Calibri" pitchFamily="34" charset="0"/>
                <a:ea typeface="Calibri" pitchFamily="34" charset="-122"/>
                <a:cs typeface="Calibri" pitchFamily="34" charset="-120"/>
              </a:rPr>
              <a:t>
</a:t>
            </a:r>
            <a:endParaRPr lang="en-US" sz="1100" dirty="0"/>
          </a:p>
        </p:txBody>
      </p:sp>
      <p:sp>
        <p:nvSpPr>
          <p:cNvPr id="6" name="Text 4"/>
          <p:cNvSpPr/>
          <p:nvPr/>
        </p:nvSpPr>
        <p:spPr>
          <a:xfrm>
            <a:off x="761981" y="3225719"/>
            <a:ext cx="11383994" cy="584185"/>
          </a:xfrm>
          <a:prstGeom prst="rect">
            <a:avLst/>
          </a:prstGeom>
          <a:noFill/>
          <a:ln/>
        </p:spPr>
        <p:txBody>
          <a:bodyPr wrap="square" lIns="1016" tIns="1016" rIns="1016" bIns="1016" rtlCol="0" anchor="t"/>
          <a:lstStyle/>
          <a:p>
            <a:pPr algn="ctr" indent="0" marL="0">
              <a:lnSpc>
                <a:spcPct val="130000"/>
              </a:lnSpc>
              <a:buNone/>
            </a:pPr>
            <a:r>
              <a:rPr lang="en-US" sz="2200" dirty="0">
                <a:solidFill>
                  <a:srgbClr val="334155"/>
                </a:solidFill>
                <a:latin typeface="Calibri" pitchFamily="34" charset="0"/>
                <a:ea typeface="Calibri" pitchFamily="34" charset="-122"/>
                <a:cs typeface="Calibri" pitchFamily="34" charset="-120"/>
              </a:rPr>
              <a:t>Shubham Rao</a:t>
            </a:r>
            <a:pPr algn="ctr" indent="0" marL="0">
              <a:lnSpc>
                <a:spcPct val="130000"/>
              </a:lnSpc>
              <a:buNone/>
            </a:pPr>
            <a:r>
              <a:rPr lang="en-US" sz="2200" dirty="0">
                <a:solidFill>
                  <a:srgbClr val="334155"/>
                </a:solidFill>
                <a:latin typeface="Calibri" pitchFamily="34" charset="0"/>
                <a:ea typeface="Calibri" pitchFamily="34" charset="-122"/>
                <a:cs typeface="Calibri" pitchFamily="34" charset="-120"/>
              </a:rPr>
              <a:t>
</a:t>
            </a:r>
            <a:endParaRPr lang="en-US" sz="2200" dirty="0"/>
          </a:p>
        </p:txBody>
      </p:sp>
      <p:sp>
        <p:nvSpPr>
          <p:cNvPr id="7" name="Text 5"/>
          <p:cNvSpPr/>
          <p:nvPr/>
        </p:nvSpPr>
        <p:spPr>
          <a:xfrm>
            <a:off x="761981" y="3809905"/>
            <a:ext cx="11383994" cy="507987"/>
          </a:xfrm>
          <a:prstGeom prst="rect">
            <a:avLst/>
          </a:prstGeom>
          <a:noFill/>
          <a:ln/>
        </p:spPr>
        <p:txBody>
          <a:bodyPr wrap="square" lIns="1016" tIns="1016" rIns="1016" bIns="1016" rtlCol="0" anchor="t"/>
          <a:lstStyle/>
          <a:p>
            <a:pPr algn="ctr" indent="0" marL="0">
              <a:lnSpc>
                <a:spcPct val="130000"/>
              </a:lnSpc>
              <a:buNone/>
            </a:pPr>
            <a:r>
              <a:rPr lang="en-US" sz="1800" dirty="0">
                <a:solidFill>
                  <a:srgbClr val="475569"/>
                </a:solidFill>
                <a:latin typeface="Calibri" pitchFamily="34" charset="0"/>
                <a:ea typeface="Calibri" pitchFamily="34" charset="-122"/>
                <a:cs typeface="Calibri" pitchFamily="34" charset="-120"/>
              </a:rPr>
              <a:t>RA2311003030579</a:t>
            </a:r>
            <a:pPr algn="ctr" indent="0" marL="0">
              <a:lnSpc>
                <a:spcPct val="130000"/>
              </a:lnSpc>
              <a:buNone/>
            </a:pPr>
            <a:r>
              <a:rPr lang="en-US" sz="1800" dirty="0">
                <a:solidFill>
                  <a:srgbClr val="475569"/>
                </a:solidFill>
                <a:latin typeface="Calibri" pitchFamily="34" charset="0"/>
                <a:ea typeface="Calibri" pitchFamily="34" charset="-122"/>
                <a:cs typeface="Calibri" pitchFamily="34" charset="-120"/>
              </a:rPr>
              <a:t>
</a:t>
            </a:r>
            <a:endParaRPr lang="en-US" sz="1800" dirty="0"/>
          </a:p>
        </p:txBody>
      </p:sp>
      <p:sp>
        <p:nvSpPr>
          <p:cNvPr id="8" name="Text 6"/>
          <p:cNvSpPr/>
          <p:nvPr/>
        </p:nvSpPr>
        <p:spPr>
          <a:xfrm>
            <a:off x="761981" y="4381390"/>
            <a:ext cx="10794730" cy="507987"/>
          </a:xfrm>
          <a:prstGeom prst="rect">
            <a:avLst/>
          </a:prstGeom>
          <a:noFill/>
          <a:ln/>
        </p:spPr>
        <p:txBody>
          <a:bodyPr wrap="square" lIns="1016" tIns="1016" rIns="1016" bIns="1016" rtlCol="0" anchor="t"/>
          <a:lstStyle/>
          <a:p>
            <a:pPr algn="ctr" indent="0" marL="0">
              <a:lnSpc>
                <a:spcPct val="130000"/>
              </a:lnSpc>
              <a:buNone/>
            </a:pPr>
            <a:r>
              <a:rPr lang="en-US" sz="1400" dirty="0">
                <a:solidFill>
                  <a:srgbClr val="64748B"/>
                </a:solidFill>
                <a:latin typeface="Calibri" pitchFamily="34" charset="0"/>
                <a:ea typeface="Calibri" pitchFamily="34" charset="-122"/>
                <a:cs typeface="Calibri" pitchFamily="34" charset="-120"/>
              </a:rPr>
              <a:t>
</a:t>
            </a:r>
            <a:endParaRPr lang="en-US" sz="1400" dirty="0"/>
          </a:p>
        </p:txBody>
      </p:sp>
      <p:pic>
        <p:nvPicPr>
          <p:cNvPr id="9" name="Image 0" descr="preencoded.png">    </p:cNvPr>
          <p:cNvPicPr>
            <a:picLocks noChangeAspect="1"/>
          </p:cNvPicPr>
          <p:nvPr/>
        </p:nvPicPr>
        <p:blipFill>
          <a:blip r:embed="rId1"/>
          <a:srcRect l="0" r="0" t="0" b="0"/>
          <a:stretch/>
        </p:blipFill>
        <p:spPr>
          <a:xfrm>
            <a:off x="0" y="0"/>
            <a:ext cx="9144000" cy="10159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8F1"/>
        </a:solidFill>
      </p:bgPr>
    </p:bg>
    <p:spTree>
      <p:nvGrpSpPr>
        <p:cNvPr id="1" name=""/>
        <p:cNvGrpSpPr/>
        <p:nvPr/>
      </p:nvGrpSpPr>
      <p:grpSpPr>
        <a:xfrm>
          <a:off x="0" y="0"/>
          <a:ext cx="0" cy="0"/>
          <a:chOff x="0" y="0"/>
          <a:chExt cx="0" cy="0"/>
        </a:xfrm>
      </p:grpSpPr>
      <p:pic>
        <p:nvPicPr>
          <p:cNvPr id="2" name="Image 0" descr="https://images.unsplash.com/photo-1664455340023-214c33a9d0bd?crop=entropy&amp;cs=tinysrgb&amp;fit=max&amp;fm=jpg&amp;ixid=M3w2Njc0MzZ8MHwxfHNlYXJjaHwxfHxzaG9wcGluZyUyMGNhcnR8ZW58MHx8fHwxNzcwMjc5NjIzfDA&amp;ixlib=rb-4.1.0&amp;q=80&amp;w=1080">    </p:cNvPr>
          <p:cNvPicPr>
            <a:picLocks noChangeAspect="1"/>
          </p:cNvPicPr>
          <p:nvPr/>
        </p:nvPicPr>
        <p:blipFill>
          <a:blip r:embed="rId1"/>
          <a:srcRect l="0" r="0" t="0" b="0"/>
          <a:stretch/>
        </p:blipFill>
        <p:spPr>
          <a:xfrm>
            <a:off x="0" y="0"/>
            <a:ext cx="5486263" cy="6812280"/>
          </a:xfrm>
          <a:prstGeom prst="rect">
            <a:avLst/>
          </a:prstGeom>
        </p:spPr>
      </p:pic>
      <p:sp>
        <p:nvSpPr>
          <p:cNvPr id="3" name="Text 0"/>
          <p:cNvSpPr/>
          <p:nvPr/>
        </p:nvSpPr>
        <p:spPr>
          <a:xfrm>
            <a:off x="6502237" y="1015975"/>
            <a:ext cx="4673483" cy="1523962"/>
          </a:xfrm>
          <a:prstGeom prst="rect">
            <a:avLst/>
          </a:prstGeom>
          <a:noFill/>
          <a:ln/>
        </p:spPr>
        <p:txBody>
          <a:bodyPr wrap="square" lIns="1016" tIns="1016" rIns="1016" bIns="1016" rtlCol="0" anchor="t"/>
          <a:lstStyle/>
          <a:p>
            <a:pPr algn="l" indent="0" marL="0">
              <a:lnSpc>
                <a:spcPct val="120000"/>
              </a:lnSpc>
              <a:buNone/>
            </a:pPr>
            <a:r>
              <a:rPr lang="en-US" sz="2900" b="1" dirty="0">
                <a:solidFill>
                  <a:srgbClr val="7C3AED"/>
                </a:solidFill>
                <a:latin typeface="Calibri" pitchFamily="34" charset="0"/>
                <a:ea typeface="Calibri" pitchFamily="34" charset="-122"/>
                <a:cs typeface="Calibri" pitchFamily="34" charset="-120"/>
              </a:rPr>
              <a:t>Introduction to Market Basket Analysis
</a:t>
            </a:r>
            <a:endParaRPr lang="en-US" sz="2900" dirty="0"/>
          </a:p>
        </p:txBody>
      </p:sp>
      <p:sp>
        <p:nvSpPr>
          <p:cNvPr id="4" name="Text 1"/>
          <p:cNvSpPr/>
          <p:nvPr/>
        </p:nvSpPr>
        <p:spPr>
          <a:xfrm>
            <a:off x="6502237" y="3047924"/>
            <a:ext cx="4673483" cy="3047924"/>
          </a:xfrm>
          <a:prstGeom prst="rect">
            <a:avLst/>
          </a:prstGeom>
          <a:noFill/>
          <a:ln/>
        </p:spPr>
        <p:txBody>
          <a:bodyPr wrap="square" lIns="1016" tIns="1016" rIns="1016" bIns="1016" rtlCol="0" anchor="t"/>
          <a:lstStyle/>
          <a:p>
            <a:pPr algn="l" indent="0" marL="0">
              <a:lnSpc>
                <a:spcPct val="150000"/>
              </a:lnSpc>
              <a:buNone/>
            </a:pPr>
            <a:r>
              <a:rPr lang="en-US" sz="1300" dirty="0">
                <a:solidFill>
                  <a:srgbClr val="475569"/>
                </a:solidFill>
                <a:latin typeface="Calibri" pitchFamily="34" charset="0"/>
                <a:ea typeface="Calibri" pitchFamily="34" charset="-122"/>
                <a:cs typeface="Calibri" pitchFamily="34" charset="-120"/>
              </a:rPr>
              <a:t>Market Basket Analysis helps retailers understand customer purchasing behavior by identifying product associations. This technique reveals patterns that can enhance sales strategies and improve inventory management, ultimately driving profitability and customer satisfaction.
</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8F1"/>
        </a:solidFill>
      </p:bgPr>
    </p:bg>
    <p:spTree>
      <p:nvGrpSpPr>
        <p:cNvPr id="1" name=""/>
        <p:cNvGrpSpPr/>
        <p:nvPr/>
      </p:nvGrpSpPr>
      <p:grpSpPr>
        <a:xfrm>
          <a:off x="0" y="0"/>
          <a:ext cx="0" cy="0"/>
          <a:chOff x="0" y="0"/>
          <a:chExt cx="0" cy="0"/>
        </a:xfrm>
      </p:grpSpPr>
      <p:sp>
        <p:nvSpPr>
          <p:cNvPr id="2" name="Text 0"/>
          <p:cNvSpPr/>
          <p:nvPr/>
        </p:nvSpPr>
        <p:spPr>
          <a:xfrm>
            <a:off x="1015975" y="507987"/>
            <a:ext cx="10159746" cy="761981"/>
          </a:xfrm>
          <a:prstGeom prst="rect">
            <a:avLst/>
          </a:prstGeom>
          <a:noFill/>
          <a:ln/>
        </p:spPr>
        <p:txBody>
          <a:bodyPr wrap="square" lIns="1016" tIns="1016" rIns="1016" bIns="1016" rtlCol="0" anchor="t"/>
          <a:lstStyle/>
          <a:p>
            <a:pPr algn="l" indent="0" marL="0">
              <a:lnSpc>
                <a:spcPct val="120000"/>
              </a:lnSpc>
              <a:buNone/>
            </a:pPr>
            <a:r>
              <a:rPr lang="en-US" sz="2900" b="1" dirty="0">
                <a:solidFill>
                  <a:srgbClr val="7C3AED"/>
                </a:solidFill>
                <a:latin typeface="Calibri" pitchFamily="34" charset="0"/>
                <a:ea typeface="Calibri" pitchFamily="34" charset="-122"/>
                <a:cs typeface="Calibri" pitchFamily="34" charset="-120"/>
              </a:rPr>
              <a:t>What is Market Basket Analysis?
</a:t>
            </a:r>
            <a:endParaRPr lang="en-US" sz="2900" dirty="0"/>
          </a:p>
        </p:txBody>
      </p:sp>
      <p:sp>
        <p:nvSpPr>
          <p:cNvPr id="3" name="Text 1"/>
          <p:cNvSpPr/>
          <p:nvPr/>
        </p:nvSpPr>
        <p:spPr>
          <a:xfrm>
            <a:off x="1015975" y="1747476"/>
            <a:ext cx="203195" cy="380990"/>
          </a:xfrm>
          <a:prstGeom prst="rect">
            <a:avLst/>
          </a:prstGeom>
          <a:noFill/>
          <a:ln/>
        </p:spPr>
        <p:txBody>
          <a:bodyPr wrap="square" lIns="0" tIns="0" rIns="0" bIns="0" rtlCol="0" anchor="t"/>
          <a:lstStyle/>
          <a:p>
            <a:pPr algn="l" indent="0" marL="0">
              <a:lnSpc>
                <a:spcPct val="130000"/>
              </a:lnSpc>
              <a:buNone/>
            </a:pPr>
            <a:r>
              <a:rPr lang="en-US" sz="1400" b="1" dirty="0">
                <a:solidFill>
                  <a:srgbClr val="E88C6F"/>
                </a:solidFill>
                <a:latin typeface="Calibri" pitchFamily="34" charset="0"/>
                <a:ea typeface="Calibri" pitchFamily="34" charset="-122"/>
                <a:cs typeface="Calibri" pitchFamily="34" charset="-120"/>
              </a:rPr>
              <a:t>•
</a:t>
            </a:r>
            <a:endParaRPr lang="en-US" sz="1400" dirty="0"/>
          </a:p>
        </p:txBody>
      </p:sp>
      <p:sp>
        <p:nvSpPr>
          <p:cNvPr id="4" name="Text 2"/>
          <p:cNvSpPr/>
          <p:nvPr/>
        </p:nvSpPr>
        <p:spPr>
          <a:xfrm>
            <a:off x="1333467" y="1696678"/>
            <a:ext cx="9842254" cy="380990"/>
          </a:xfrm>
          <a:prstGeom prst="rect">
            <a:avLst/>
          </a:prstGeom>
          <a:noFill/>
          <a:ln/>
        </p:spPr>
        <p:txBody>
          <a:bodyPr wrap="square" lIns="0" tIns="0" rIns="0" bIns="0" rtlCol="0" anchor="t"/>
          <a:lstStyle/>
          <a:p>
            <a:pPr algn="l" indent="0" marL="0">
              <a:lnSpc>
                <a:spcPct val="120000"/>
              </a:lnSpc>
              <a:buNone/>
            </a:pPr>
            <a:r>
              <a:rPr lang="en-US" sz="1400" b="1" dirty="0">
                <a:solidFill>
                  <a:srgbClr val="0F172A"/>
                </a:solidFill>
                <a:latin typeface="Calibri" pitchFamily="34" charset="0"/>
                <a:ea typeface="Calibri" pitchFamily="34" charset="-122"/>
                <a:cs typeface="Calibri" pitchFamily="34" charset="-120"/>
              </a:rPr>
              <a:t>Analyzes Purchase Patterns
</a:t>
            </a:r>
            <a:endParaRPr lang="en-US" sz="1400" dirty="0"/>
          </a:p>
        </p:txBody>
      </p:sp>
      <p:sp>
        <p:nvSpPr>
          <p:cNvPr id="5" name="Text 3"/>
          <p:cNvSpPr/>
          <p:nvPr/>
        </p:nvSpPr>
        <p:spPr>
          <a:xfrm>
            <a:off x="1333467" y="2064968"/>
            <a:ext cx="9842254" cy="800080"/>
          </a:xfrm>
          <a:prstGeom prst="rect">
            <a:avLst/>
          </a:prstGeom>
          <a:noFill/>
          <a:ln/>
        </p:spPr>
        <p:txBody>
          <a:bodyPr wrap="square" lIns="0" tIns="0" rIns="0" bIns="0" rtlCol="0" anchor="t"/>
          <a:lstStyle/>
          <a:p>
            <a:pPr algn="l" indent="0" marL="0">
              <a:lnSpc>
                <a:spcPct val="150000"/>
              </a:lnSpc>
              <a:buNone/>
            </a:pPr>
            <a:r>
              <a:rPr lang="en-US" sz="1300" dirty="0">
                <a:solidFill>
                  <a:srgbClr val="475569"/>
                </a:solidFill>
                <a:latin typeface="Calibri" pitchFamily="34" charset="0"/>
                <a:ea typeface="Calibri" pitchFamily="34" charset="-122"/>
                <a:cs typeface="Calibri" pitchFamily="34" charset="-120"/>
              </a:rPr>
              <a:t>Market Basket Analysis examines transaction data to identify common purchasing behaviors among customers.
</a:t>
            </a:r>
            <a:endParaRPr lang="en-US" sz="1300" dirty="0"/>
          </a:p>
        </p:txBody>
      </p:sp>
      <p:sp>
        <p:nvSpPr>
          <p:cNvPr id="6" name="Text 4"/>
          <p:cNvSpPr/>
          <p:nvPr/>
        </p:nvSpPr>
        <p:spPr>
          <a:xfrm>
            <a:off x="1015975" y="2738052"/>
            <a:ext cx="203195" cy="380990"/>
          </a:xfrm>
          <a:prstGeom prst="rect">
            <a:avLst/>
          </a:prstGeom>
          <a:noFill/>
          <a:ln/>
        </p:spPr>
        <p:txBody>
          <a:bodyPr wrap="square" lIns="0" tIns="0" rIns="0" bIns="0" rtlCol="0" anchor="t"/>
          <a:lstStyle/>
          <a:p>
            <a:pPr algn="l" indent="0" marL="0">
              <a:lnSpc>
                <a:spcPct val="130000"/>
              </a:lnSpc>
              <a:buNone/>
            </a:pPr>
            <a:r>
              <a:rPr lang="en-US" sz="1400" b="1" dirty="0">
                <a:solidFill>
                  <a:srgbClr val="E88C6F"/>
                </a:solidFill>
                <a:latin typeface="Calibri" pitchFamily="34" charset="0"/>
                <a:ea typeface="Calibri" pitchFamily="34" charset="-122"/>
                <a:cs typeface="Calibri" pitchFamily="34" charset="-120"/>
              </a:rPr>
              <a:t>•
</a:t>
            </a:r>
            <a:endParaRPr lang="en-US" sz="1400" dirty="0"/>
          </a:p>
        </p:txBody>
      </p:sp>
      <p:sp>
        <p:nvSpPr>
          <p:cNvPr id="7" name="Text 5"/>
          <p:cNvSpPr/>
          <p:nvPr/>
        </p:nvSpPr>
        <p:spPr>
          <a:xfrm>
            <a:off x="1333467" y="2687253"/>
            <a:ext cx="9842254" cy="380990"/>
          </a:xfrm>
          <a:prstGeom prst="rect">
            <a:avLst/>
          </a:prstGeom>
          <a:noFill/>
          <a:ln/>
        </p:spPr>
        <p:txBody>
          <a:bodyPr wrap="square" lIns="0" tIns="0" rIns="0" bIns="0" rtlCol="0" anchor="t"/>
          <a:lstStyle/>
          <a:p>
            <a:pPr algn="l" indent="0" marL="0">
              <a:lnSpc>
                <a:spcPct val="120000"/>
              </a:lnSpc>
              <a:buNone/>
            </a:pPr>
            <a:r>
              <a:rPr lang="en-US" sz="1400" b="1" dirty="0">
                <a:solidFill>
                  <a:srgbClr val="0F172A"/>
                </a:solidFill>
                <a:latin typeface="Calibri" pitchFamily="34" charset="0"/>
                <a:ea typeface="Calibri" pitchFamily="34" charset="-122"/>
                <a:cs typeface="Calibri" pitchFamily="34" charset="-120"/>
              </a:rPr>
              <a:t>Identifies Product Associations
</a:t>
            </a:r>
            <a:endParaRPr lang="en-US" sz="1400" dirty="0"/>
          </a:p>
        </p:txBody>
      </p:sp>
      <p:sp>
        <p:nvSpPr>
          <p:cNvPr id="8" name="Text 6"/>
          <p:cNvSpPr/>
          <p:nvPr/>
        </p:nvSpPr>
        <p:spPr>
          <a:xfrm>
            <a:off x="1333467" y="3055544"/>
            <a:ext cx="9842254" cy="800080"/>
          </a:xfrm>
          <a:prstGeom prst="rect">
            <a:avLst/>
          </a:prstGeom>
          <a:noFill/>
          <a:ln/>
        </p:spPr>
        <p:txBody>
          <a:bodyPr wrap="square" lIns="0" tIns="0" rIns="0" bIns="0" rtlCol="0" anchor="t"/>
          <a:lstStyle/>
          <a:p>
            <a:pPr algn="l" indent="0" marL="0">
              <a:lnSpc>
                <a:spcPct val="150000"/>
              </a:lnSpc>
              <a:buNone/>
            </a:pPr>
            <a:r>
              <a:rPr lang="en-US" sz="1300" dirty="0">
                <a:solidFill>
                  <a:srgbClr val="475569"/>
                </a:solidFill>
                <a:latin typeface="Calibri" pitchFamily="34" charset="0"/>
                <a:ea typeface="Calibri" pitchFamily="34" charset="-122"/>
                <a:cs typeface="Calibri" pitchFamily="34" charset="-120"/>
              </a:rPr>
              <a:t>It reveals which products are frequently bought together, helping retailers understand customer preferences.
</a:t>
            </a:r>
            <a:endParaRPr lang="en-US" sz="1300" dirty="0"/>
          </a:p>
        </p:txBody>
      </p:sp>
      <p:sp>
        <p:nvSpPr>
          <p:cNvPr id="9" name="Text 7"/>
          <p:cNvSpPr/>
          <p:nvPr/>
        </p:nvSpPr>
        <p:spPr>
          <a:xfrm>
            <a:off x="1015975" y="3728627"/>
            <a:ext cx="203195" cy="380990"/>
          </a:xfrm>
          <a:prstGeom prst="rect">
            <a:avLst/>
          </a:prstGeom>
          <a:noFill/>
          <a:ln/>
        </p:spPr>
        <p:txBody>
          <a:bodyPr wrap="square" lIns="0" tIns="0" rIns="0" bIns="0" rtlCol="0" anchor="t"/>
          <a:lstStyle/>
          <a:p>
            <a:pPr algn="l" indent="0" marL="0">
              <a:lnSpc>
                <a:spcPct val="130000"/>
              </a:lnSpc>
              <a:buNone/>
            </a:pPr>
            <a:r>
              <a:rPr lang="en-US" sz="1400" b="1" dirty="0">
                <a:solidFill>
                  <a:srgbClr val="E88C6F"/>
                </a:solidFill>
                <a:latin typeface="Calibri" pitchFamily="34" charset="0"/>
                <a:ea typeface="Calibri" pitchFamily="34" charset="-122"/>
                <a:cs typeface="Calibri" pitchFamily="34" charset="-120"/>
              </a:rPr>
              <a:t>•
</a:t>
            </a:r>
            <a:endParaRPr lang="en-US" sz="1400" dirty="0"/>
          </a:p>
        </p:txBody>
      </p:sp>
      <p:sp>
        <p:nvSpPr>
          <p:cNvPr id="10" name="Text 8"/>
          <p:cNvSpPr/>
          <p:nvPr/>
        </p:nvSpPr>
        <p:spPr>
          <a:xfrm>
            <a:off x="1333467" y="3677828"/>
            <a:ext cx="9842254" cy="380990"/>
          </a:xfrm>
          <a:prstGeom prst="rect">
            <a:avLst/>
          </a:prstGeom>
          <a:noFill/>
          <a:ln/>
        </p:spPr>
        <p:txBody>
          <a:bodyPr wrap="square" lIns="0" tIns="0" rIns="0" bIns="0" rtlCol="0" anchor="t"/>
          <a:lstStyle/>
          <a:p>
            <a:pPr algn="l" indent="0" marL="0">
              <a:lnSpc>
                <a:spcPct val="120000"/>
              </a:lnSpc>
              <a:buNone/>
            </a:pPr>
            <a:r>
              <a:rPr lang="en-US" sz="1400" b="1" dirty="0">
                <a:solidFill>
                  <a:srgbClr val="0F172A"/>
                </a:solidFill>
                <a:latin typeface="Calibri" pitchFamily="34" charset="0"/>
                <a:ea typeface="Calibri" pitchFamily="34" charset="-122"/>
                <a:cs typeface="Calibri" pitchFamily="34" charset="-120"/>
              </a:rPr>
              <a:t>Supports Targeted Marketing
</a:t>
            </a:r>
            <a:endParaRPr lang="en-US" sz="1400" dirty="0"/>
          </a:p>
        </p:txBody>
      </p:sp>
      <p:sp>
        <p:nvSpPr>
          <p:cNvPr id="11" name="Text 9"/>
          <p:cNvSpPr/>
          <p:nvPr/>
        </p:nvSpPr>
        <p:spPr>
          <a:xfrm>
            <a:off x="1333467" y="4046119"/>
            <a:ext cx="9842254" cy="800080"/>
          </a:xfrm>
          <a:prstGeom prst="rect">
            <a:avLst/>
          </a:prstGeom>
          <a:noFill/>
          <a:ln/>
        </p:spPr>
        <p:txBody>
          <a:bodyPr wrap="square" lIns="0" tIns="0" rIns="0" bIns="0" rtlCol="0" anchor="t"/>
          <a:lstStyle/>
          <a:p>
            <a:pPr algn="l" indent="0" marL="0">
              <a:lnSpc>
                <a:spcPct val="150000"/>
              </a:lnSpc>
              <a:buNone/>
            </a:pPr>
            <a:r>
              <a:rPr lang="en-US" sz="1300" dirty="0">
                <a:solidFill>
                  <a:srgbClr val="475569"/>
                </a:solidFill>
                <a:latin typeface="Calibri" pitchFamily="34" charset="0"/>
                <a:ea typeface="Calibri" pitchFamily="34" charset="-122"/>
                <a:cs typeface="Calibri" pitchFamily="34" charset="-120"/>
              </a:rPr>
              <a:t>Insights from analysis enable businesses to create personalized promotions, increasing sales and customer loyalty.
</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8F1"/>
        </a:solidFill>
      </p:bgPr>
    </p:bg>
    <p:spTree>
      <p:nvGrpSpPr>
        <p:cNvPr id="1" name=""/>
        <p:cNvGrpSpPr/>
        <p:nvPr/>
      </p:nvGrpSpPr>
      <p:grpSpPr>
        <a:xfrm>
          <a:off x="0" y="0"/>
          <a:ext cx="0" cy="0"/>
          <a:chOff x="0" y="0"/>
          <a:chExt cx="0" cy="0"/>
        </a:xfrm>
      </p:grpSpPr>
      <p:sp>
        <p:nvSpPr>
          <p:cNvPr id="2" name="Text 0"/>
          <p:cNvSpPr/>
          <p:nvPr/>
        </p:nvSpPr>
        <p:spPr>
          <a:xfrm>
            <a:off x="1015975" y="507987"/>
            <a:ext cx="10159746" cy="761981"/>
          </a:xfrm>
          <a:prstGeom prst="rect">
            <a:avLst/>
          </a:prstGeom>
          <a:noFill/>
          <a:ln/>
        </p:spPr>
        <p:txBody>
          <a:bodyPr wrap="square" lIns="1016" tIns="1016" rIns="1016" bIns="1016" rtlCol="0" anchor="t"/>
          <a:lstStyle/>
          <a:p>
            <a:pPr algn="l" indent="0" marL="0">
              <a:lnSpc>
                <a:spcPct val="120000"/>
              </a:lnSpc>
              <a:buNone/>
            </a:pPr>
            <a:r>
              <a:rPr lang="en-US" sz="2900" b="1" dirty="0">
                <a:solidFill>
                  <a:srgbClr val="7C3AED"/>
                </a:solidFill>
                <a:latin typeface="Calibri" pitchFamily="34" charset="0"/>
                <a:ea typeface="Calibri" pitchFamily="34" charset="-122"/>
                <a:cs typeface="Calibri" pitchFamily="34" charset="-120"/>
              </a:rPr>
              <a:t>How to Perform Market Basket Analysis
</a:t>
            </a:r>
            <a:endParaRPr lang="en-US" sz="2900" dirty="0"/>
          </a:p>
        </p:txBody>
      </p:sp>
      <p:sp>
        <p:nvSpPr>
          <p:cNvPr id="3" name="Text 1"/>
          <p:cNvSpPr/>
          <p:nvPr/>
        </p:nvSpPr>
        <p:spPr>
          <a:xfrm>
            <a:off x="1015975" y="1696678"/>
            <a:ext cx="10159746" cy="380990"/>
          </a:xfrm>
          <a:prstGeom prst="rect">
            <a:avLst/>
          </a:prstGeom>
          <a:noFill/>
          <a:ln/>
        </p:spPr>
        <p:txBody>
          <a:bodyPr wrap="square" lIns="1016" tIns="1016" rIns="1016" bIns="1016" rtlCol="0" anchor="t"/>
          <a:lstStyle/>
          <a:p>
            <a:pPr algn="l" indent="0" marL="0">
              <a:lnSpc>
                <a:spcPct val="120000"/>
              </a:lnSpc>
              <a:buNone/>
            </a:pPr>
            <a:r>
              <a:rPr lang="en-US" sz="1400" b="1" dirty="0">
                <a:solidFill>
                  <a:srgbClr val="0F172A"/>
                </a:solidFill>
                <a:latin typeface="Calibri" pitchFamily="34" charset="0"/>
                <a:ea typeface="Calibri" pitchFamily="34" charset="-122"/>
                <a:cs typeface="Calibri" pitchFamily="34" charset="-120"/>
              </a:rPr>
              <a:t>1. Collect Transaction Data
</a:t>
            </a:r>
            <a:endParaRPr lang="en-US" sz="1400" dirty="0"/>
          </a:p>
        </p:txBody>
      </p:sp>
      <p:sp>
        <p:nvSpPr>
          <p:cNvPr id="4" name="Text 2"/>
          <p:cNvSpPr/>
          <p:nvPr/>
        </p:nvSpPr>
        <p:spPr>
          <a:xfrm>
            <a:off x="1015975" y="2077668"/>
            <a:ext cx="10159746" cy="800080"/>
          </a:xfrm>
          <a:prstGeom prst="rect">
            <a:avLst/>
          </a:prstGeom>
          <a:noFill/>
          <a:ln/>
        </p:spPr>
        <p:txBody>
          <a:bodyPr wrap="square" lIns="1016" tIns="1016" rIns="1016" bIns="1016" rtlCol="0" anchor="t"/>
          <a:lstStyle/>
          <a:p>
            <a:pPr algn="l" indent="0" marL="0">
              <a:lnSpc>
                <a:spcPct val="150000"/>
              </a:lnSpc>
              <a:buNone/>
            </a:pPr>
            <a:r>
              <a:rPr lang="en-US" sz="1300" dirty="0">
                <a:solidFill>
                  <a:srgbClr val="475569"/>
                </a:solidFill>
                <a:latin typeface="Calibri" pitchFamily="34" charset="0"/>
                <a:ea typeface="Calibri" pitchFamily="34" charset="-122"/>
                <a:cs typeface="Calibri" pitchFamily="34" charset="-120"/>
              </a:rPr>
              <a:t>Gather data from sales transactions, ensuring it includes details such as items purchased, quantities, and timestamps.
</a:t>
            </a:r>
            <a:endParaRPr lang="en-US" sz="1300" dirty="0"/>
          </a:p>
        </p:txBody>
      </p:sp>
      <p:sp>
        <p:nvSpPr>
          <p:cNvPr id="5" name="Text 3"/>
          <p:cNvSpPr/>
          <p:nvPr/>
        </p:nvSpPr>
        <p:spPr>
          <a:xfrm>
            <a:off x="1015975" y="2966646"/>
            <a:ext cx="10159746" cy="380990"/>
          </a:xfrm>
          <a:prstGeom prst="rect">
            <a:avLst/>
          </a:prstGeom>
          <a:noFill/>
          <a:ln/>
        </p:spPr>
        <p:txBody>
          <a:bodyPr wrap="square" lIns="1016" tIns="1016" rIns="1016" bIns="1016" rtlCol="0" anchor="t"/>
          <a:lstStyle/>
          <a:p>
            <a:pPr algn="l" indent="0" marL="0">
              <a:lnSpc>
                <a:spcPct val="120000"/>
              </a:lnSpc>
              <a:buNone/>
            </a:pPr>
            <a:r>
              <a:rPr lang="en-US" sz="1400" b="1" dirty="0">
                <a:solidFill>
                  <a:srgbClr val="0F172A"/>
                </a:solidFill>
                <a:latin typeface="Calibri" pitchFamily="34" charset="0"/>
                <a:ea typeface="Calibri" pitchFamily="34" charset="-122"/>
                <a:cs typeface="Calibri" pitchFamily="34" charset="-120"/>
              </a:rPr>
              <a:t>2. Preprocess Data for Analysis
</a:t>
            </a:r>
            <a:endParaRPr lang="en-US" sz="1400" dirty="0"/>
          </a:p>
        </p:txBody>
      </p:sp>
      <p:sp>
        <p:nvSpPr>
          <p:cNvPr id="6" name="Text 4"/>
          <p:cNvSpPr/>
          <p:nvPr/>
        </p:nvSpPr>
        <p:spPr>
          <a:xfrm>
            <a:off x="1015975" y="3347636"/>
            <a:ext cx="10159746" cy="800080"/>
          </a:xfrm>
          <a:prstGeom prst="rect">
            <a:avLst/>
          </a:prstGeom>
          <a:noFill/>
          <a:ln/>
        </p:spPr>
        <p:txBody>
          <a:bodyPr wrap="square" lIns="1016" tIns="1016" rIns="1016" bIns="1016" rtlCol="0" anchor="t"/>
          <a:lstStyle/>
          <a:p>
            <a:pPr algn="l" indent="0" marL="0">
              <a:lnSpc>
                <a:spcPct val="150000"/>
              </a:lnSpc>
              <a:buNone/>
            </a:pPr>
            <a:r>
              <a:rPr lang="en-US" sz="1300" dirty="0">
                <a:solidFill>
                  <a:srgbClr val="475569"/>
                </a:solidFill>
                <a:latin typeface="Calibri" pitchFamily="34" charset="0"/>
                <a:ea typeface="Calibri" pitchFamily="34" charset="-122"/>
                <a:cs typeface="Calibri" pitchFamily="34" charset="-120"/>
              </a:rPr>
              <a:t>Clean and format the data by removing duplicates, handling missing values, and structuring it into a suitable format for analysis.
</a:t>
            </a:r>
            <a:endParaRPr lang="en-US" sz="1300" dirty="0"/>
          </a:p>
        </p:txBody>
      </p:sp>
      <p:sp>
        <p:nvSpPr>
          <p:cNvPr id="7" name="Text 5"/>
          <p:cNvSpPr/>
          <p:nvPr/>
        </p:nvSpPr>
        <p:spPr>
          <a:xfrm>
            <a:off x="1015975" y="4236614"/>
            <a:ext cx="10159746" cy="380990"/>
          </a:xfrm>
          <a:prstGeom prst="rect">
            <a:avLst/>
          </a:prstGeom>
          <a:noFill/>
          <a:ln/>
        </p:spPr>
        <p:txBody>
          <a:bodyPr wrap="square" lIns="1016" tIns="1016" rIns="1016" bIns="1016" rtlCol="0" anchor="t"/>
          <a:lstStyle/>
          <a:p>
            <a:pPr algn="l" indent="0" marL="0">
              <a:lnSpc>
                <a:spcPct val="120000"/>
              </a:lnSpc>
              <a:buNone/>
            </a:pPr>
            <a:r>
              <a:rPr lang="en-US" sz="1400" b="1" dirty="0">
                <a:solidFill>
                  <a:srgbClr val="0F172A"/>
                </a:solidFill>
                <a:latin typeface="Calibri" pitchFamily="34" charset="0"/>
                <a:ea typeface="Calibri" pitchFamily="34" charset="-122"/>
                <a:cs typeface="Calibri" pitchFamily="34" charset="-120"/>
              </a:rPr>
              <a:t>3. Apply Association Rule Mining
</a:t>
            </a:r>
            <a:endParaRPr lang="en-US" sz="1400" dirty="0"/>
          </a:p>
        </p:txBody>
      </p:sp>
      <p:sp>
        <p:nvSpPr>
          <p:cNvPr id="8" name="Text 6"/>
          <p:cNvSpPr/>
          <p:nvPr/>
        </p:nvSpPr>
        <p:spPr>
          <a:xfrm>
            <a:off x="1015975" y="4617605"/>
            <a:ext cx="10159746" cy="800080"/>
          </a:xfrm>
          <a:prstGeom prst="rect">
            <a:avLst/>
          </a:prstGeom>
          <a:noFill/>
          <a:ln/>
        </p:spPr>
        <p:txBody>
          <a:bodyPr wrap="square" lIns="1016" tIns="1016" rIns="1016" bIns="1016" rtlCol="0" anchor="t"/>
          <a:lstStyle/>
          <a:p>
            <a:pPr algn="l" indent="0" marL="0">
              <a:lnSpc>
                <a:spcPct val="150000"/>
              </a:lnSpc>
              <a:buNone/>
            </a:pPr>
            <a:r>
              <a:rPr lang="en-US" sz="1300" dirty="0">
                <a:solidFill>
                  <a:srgbClr val="475569"/>
                </a:solidFill>
                <a:latin typeface="Calibri" pitchFamily="34" charset="0"/>
                <a:ea typeface="Calibri" pitchFamily="34" charset="-122"/>
                <a:cs typeface="Calibri" pitchFamily="34" charset="-120"/>
              </a:rPr>
              <a:t>Utilize algorithms like Apriori or FP-Growth to identify patterns and relationships between items in the transaction data.
</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8F1"/>
        </a:solidFill>
      </p:bgPr>
    </p:bg>
    <p:spTree>
      <p:nvGrpSpPr>
        <p:cNvPr id="1" name=""/>
        <p:cNvGrpSpPr/>
        <p:nvPr/>
      </p:nvGrpSpPr>
      <p:grpSpPr>
        <a:xfrm>
          <a:off x="0" y="0"/>
          <a:ext cx="0" cy="0"/>
          <a:chOff x="0" y="0"/>
          <a:chExt cx="0" cy="0"/>
        </a:xfrm>
      </p:grpSpPr>
      <p:sp>
        <p:nvSpPr>
          <p:cNvPr id="2" name="Text 0"/>
          <p:cNvSpPr/>
          <p:nvPr/>
        </p:nvSpPr>
        <p:spPr>
          <a:xfrm>
            <a:off x="1015975" y="761981"/>
            <a:ext cx="10159746" cy="660383"/>
          </a:xfrm>
          <a:prstGeom prst="rect">
            <a:avLst/>
          </a:prstGeom>
          <a:noFill/>
          <a:ln/>
        </p:spPr>
        <p:txBody>
          <a:bodyPr wrap="square" lIns="1016" tIns="1016" rIns="1016" bIns="1016" rtlCol="0" anchor="t"/>
          <a:lstStyle/>
          <a:p>
            <a:pPr algn="l" indent="0" marL="0">
              <a:lnSpc>
                <a:spcPct val="120000"/>
              </a:lnSpc>
              <a:buNone/>
            </a:pPr>
            <a:r>
              <a:rPr lang="en-US" sz="2900" b="1" dirty="0">
                <a:solidFill>
                  <a:srgbClr val="7C3AED"/>
                </a:solidFill>
                <a:latin typeface="Calibri" pitchFamily="34" charset="0"/>
                <a:ea typeface="Calibri" pitchFamily="34" charset="-122"/>
                <a:cs typeface="Calibri" pitchFamily="34" charset="-120"/>
              </a:rPr>
              <a:t>Workflow of Market Basket Analysis
</a:t>
            </a:r>
            <a:endParaRPr lang="en-US" sz="2900" dirty="0"/>
          </a:p>
        </p:txBody>
      </p:sp>
      <p:pic>
        <p:nvPicPr>
          <p:cNvPr id="3" name="Image 0" descr="preencoded.png">    </p:cNvPr>
          <p:cNvPicPr>
            <a:picLocks noChangeAspect="1"/>
          </p:cNvPicPr>
          <p:nvPr/>
        </p:nvPicPr>
        <p:blipFill>
          <a:blip r:embed="rId1"/>
          <a:srcRect l="0" r="0" t="0" b="0"/>
          <a:stretch/>
        </p:blipFill>
        <p:spPr>
          <a:xfrm>
            <a:off x="1523962" y="1981150"/>
            <a:ext cx="9143771" cy="365750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8F1"/>
        </a:solidFill>
      </p:bgPr>
    </p:bg>
    <p:spTree>
      <p:nvGrpSpPr>
        <p:cNvPr id="1" name=""/>
        <p:cNvGrpSpPr/>
        <p:nvPr/>
      </p:nvGrpSpPr>
      <p:grpSpPr>
        <a:xfrm>
          <a:off x="0" y="0"/>
          <a:ext cx="0" cy="0"/>
          <a:chOff x="0" y="0"/>
          <a:chExt cx="0" cy="0"/>
        </a:xfrm>
      </p:grpSpPr>
      <p:sp>
        <p:nvSpPr>
          <p:cNvPr id="2" name="Text 0"/>
          <p:cNvSpPr/>
          <p:nvPr/>
        </p:nvSpPr>
        <p:spPr>
          <a:xfrm>
            <a:off x="1015975" y="507987"/>
            <a:ext cx="10159746" cy="761981"/>
          </a:xfrm>
          <a:prstGeom prst="rect">
            <a:avLst/>
          </a:prstGeom>
          <a:noFill/>
          <a:ln/>
        </p:spPr>
        <p:txBody>
          <a:bodyPr wrap="square" lIns="1016" tIns="1016" rIns="1016" bIns="1016" rtlCol="0" anchor="t"/>
          <a:lstStyle/>
          <a:p>
            <a:pPr algn="l" indent="0" marL="0">
              <a:lnSpc>
                <a:spcPct val="130000"/>
              </a:lnSpc>
              <a:buNone/>
            </a:pPr>
            <a:r>
              <a:rPr lang="en-US" sz="2900" dirty="0">
                <a:solidFill>
                  <a:srgbClr val="7C3AED"/>
                </a:solidFill>
                <a:latin typeface="Calibri" pitchFamily="34" charset="0"/>
                <a:ea typeface="Calibri" pitchFamily="34" charset="-122"/>
                <a:cs typeface="Calibri" pitchFamily="34" charset="-120"/>
              </a:rPr>
              <a:t>Transformative Impact of Market Basket Analysis
</a:t>
            </a:r>
            <a:endParaRPr lang="en-US" sz="2900" dirty="0"/>
          </a:p>
        </p:txBody>
      </p:sp>
      <p:sp>
        <p:nvSpPr>
          <p:cNvPr id="3" name="Text 1"/>
          <p:cNvSpPr/>
          <p:nvPr/>
        </p:nvSpPr>
        <p:spPr>
          <a:xfrm>
            <a:off x="1015975" y="1650959"/>
            <a:ext cx="3047924" cy="1015975"/>
          </a:xfrm>
          <a:prstGeom prst="rect">
            <a:avLst/>
          </a:prstGeom>
          <a:noFill/>
          <a:ln/>
        </p:spPr>
        <p:txBody>
          <a:bodyPr wrap="square" lIns="1016" tIns="1016" rIns="1016" bIns="1016" rtlCol="0" anchor="t"/>
          <a:lstStyle/>
          <a:p>
            <a:pPr algn="ctr" indent="0" marL="0">
              <a:lnSpc>
                <a:spcPct val="130000"/>
              </a:lnSpc>
              <a:buNone/>
            </a:pPr>
            <a:r>
              <a:rPr lang="en-US" sz="4300" b="1" dirty="0">
                <a:solidFill>
                  <a:srgbClr val="0F172A"/>
                </a:solidFill>
                <a:latin typeface="Calibri" pitchFamily="34" charset="0"/>
                <a:ea typeface="Calibri" pitchFamily="34" charset="-122"/>
                <a:cs typeface="Calibri" pitchFamily="34" charset="-120"/>
              </a:rPr>
              <a:t>20-30%
</a:t>
            </a:r>
            <a:endParaRPr lang="en-US" sz="4300" dirty="0"/>
          </a:p>
        </p:txBody>
      </p:sp>
      <p:sp>
        <p:nvSpPr>
          <p:cNvPr id="4" name="Text 2"/>
          <p:cNvSpPr/>
          <p:nvPr/>
        </p:nvSpPr>
        <p:spPr>
          <a:xfrm>
            <a:off x="1015975" y="2730432"/>
            <a:ext cx="3047924" cy="380990"/>
          </a:xfrm>
          <a:prstGeom prst="rect">
            <a:avLst/>
          </a:prstGeom>
          <a:noFill/>
          <a:ln/>
        </p:spPr>
        <p:txBody>
          <a:bodyPr wrap="square" lIns="1016" tIns="1016" rIns="1016" bIns="1016" rtlCol="0" anchor="t"/>
          <a:lstStyle/>
          <a:p>
            <a:pPr algn="ctr" indent="0" marL="0">
              <a:lnSpc>
                <a:spcPct val="130000"/>
              </a:lnSpc>
              <a:buNone/>
            </a:pPr>
            <a:r>
              <a:rPr lang="en-US" sz="1600" dirty="0">
                <a:solidFill>
                  <a:srgbClr val="7C3AED"/>
                </a:solidFill>
                <a:latin typeface="Calibri" pitchFamily="34" charset="0"/>
                <a:ea typeface="Calibri" pitchFamily="34" charset="-122"/>
                <a:cs typeface="Calibri" pitchFamily="34" charset="-120"/>
              </a:rPr>
              <a:t>Increase in Sales
</a:t>
            </a:r>
            <a:endParaRPr lang="en-US" sz="1600" dirty="0"/>
          </a:p>
        </p:txBody>
      </p:sp>
      <p:sp>
        <p:nvSpPr>
          <p:cNvPr id="5" name="Text 3"/>
          <p:cNvSpPr/>
          <p:nvPr/>
        </p:nvSpPr>
        <p:spPr>
          <a:xfrm>
            <a:off x="1015975" y="3174921"/>
            <a:ext cx="3047924" cy="571486"/>
          </a:xfrm>
          <a:prstGeom prst="rect">
            <a:avLst/>
          </a:prstGeom>
          <a:noFill/>
          <a:ln/>
        </p:spPr>
        <p:txBody>
          <a:bodyPr wrap="square" lIns="1016" tIns="1016" rIns="1016" bIns="1016" rtlCol="0" anchor="t"/>
          <a:lstStyle/>
          <a:p>
            <a:pPr algn="ctr" indent="0" marL="0">
              <a:lnSpc>
                <a:spcPct val="130000"/>
              </a:lnSpc>
              <a:buNone/>
            </a:pPr>
            <a:r>
              <a:rPr lang="en-US" sz="1300" dirty="0">
                <a:solidFill>
                  <a:srgbClr val="334155"/>
                </a:solidFill>
                <a:latin typeface="Calibri" pitchFamily="34" charset="0"/>
                <a:ea typeface="Calibri" pitchFamily="34" charset="-122"/>
                <a:cs typeface="Calibri" pitchFamily="34" charset="-120"/>
              </a:rPr>
              <a:t>Achieved through targeted product recommendations
</a:t>
            </a:r>
            <a:endParaRPr lang="en-US" sz="1300" dirty="0"/>
          </a:p>
        </p:txBody>
      </p:sp>
      <p:sp>
        <p:nvSpPr>
          <p:cNvPr id="6" name="Text 4"/>
          <p:cNvSpPr/>
          <p:nvPr/>
        </p:nvSpPr>
        <p:spPr>
          <a:xfrm>
            <a:off x="4571886" y="1650959"/>
            <a:ext cx="3047924" cy="1015975"/>
          </a:xfrm>
          <a:prstGeom prst="rect">
            <a:avLst/>
          </a:prstGeom>
          <a:noFill/>
          <a:ln/>
        </p:spPr>
        <p:txBody>
          <a:bodyPr wrap="square" lIns="1016" tIns="1016" rIns="1016" bIns="1016" rtlCol="0" anchor="t"/>
          <a:lstStyle/>
          <a:p>
            <a:pPr algn="ctr" indent="0" marL="0">
              <a:lnSpc>
                <a:spcPct val="130000"/>
              </a:lnSpc>
              <a:buNone/>
            </a:pPr>
            <a:r>
              <a:rPr lang="en-US" sz="4300" b="1" dirty="0">
                <a:solidFill>
                  <a:srgbClr val="0F172A"/>
                </a:solidFill>
                <a:latin typeface="Calibri" pitchFamily="34" charset="0"/>
                <a:ea typeface="Calibri" pitchFamily="34" charset="-122"/>
                <a:cs typeface="Calibri" pitchFamily="34" charset="-120"/>
              </a:rPr>
              <a:t>15%
</a:t>
            </a:r>
            <a:endParaRPr lang="en-US" sz="4300" dirty="0"/>
          </a:p>
        </p:txBody>
      </p:sp>
      <p:sp>
        <p:nvSpPr>
          <p:cNvPr id="7" name="Text 5"/>
          <p:cNvSpPr/>
          <p:nvPr/>
        </p:nvSpPr>
        <p:spPr>
          <a:xfrm>
            <a:off x="4571886" y="2730432"/>
            <a:ext cx="3047924" cy="380990"/>
          </a:xfrm>
          <a:prstGeom prst="rect">
            <a:avLst/>
          </a:prstGeom>
          <a:noFill/>
          <a:ln/>
        </p:spPr>
        <p:txBody>
          <a:bodyPr wrap="square" lIns="1016" tIns="1016" rIns="1016" bIns="1016" rtlCol="0" anchor="t"/>
          <a:lstStyle/>
          <a:p>
            <a:pPr algn="ctr" indent="0" marL="0">
              <a:lnSpc>
                <a:spcPct val="130000"/>
              </a:lnSpc>
              <a:buNone/>
            </a:pPr>
            <a:r>
              <a:rPr lang="en-US" sz="1600" dirty="0">
                <a:solidFill>
                  <a:srgbClr val="7C3AED"/>
                </a:solidFill>
                <a:latin typeface="Calibri" pitchFamily="34" charset="0"/>
                <a:ea typeface="Calibri" pitchFamily="34" charset="-122"/>
                <a:cs typeface="Calibri" pitchFamily="34" charset="-120"/>
              </a:rPr>
              <a:t>Improved Customer Retention
</a:t>
            </a:r>
            <a:endParaRPr lang="en-US" sz="1600" dirty="0"/>
          </a:p>
        </p:txBody>
      </p:sp>
      <p:sp>
        <p:nvSpPr>
          <p:cNvPr id="8" name="Text 6"/>
          <p:cNvSpPr/>
          <p:nvPr/>
        </p:nvSpPr>
        <p:spPr>
          <a:xfrm>
            <a:off x="4571886" y="3174921"/>
            <a:ext cx="3047924" cy="571486"/>
          </a:xfrm>
          <a:prstGeom prst="rect">
            <a:avLst/>
          </a:prstGeom>
          <a:noFill/>
          <a:ln/>
        </p:spPr>
        <p:txBody>
          <a:bodyPr wrap="square" lIns="1016" tIns="1016" rIns="1016" bIns="1016" rtlCol="0" anchor="t"/>
          <a:lstStyle/>
          <a:p>
            <a:pPr algn="ctr" indent="0" marL="0">
              <a:lnSpc>
                <a:spcPct val="130000"/>
              </a:lnSpc>
              <a:buNone/>
            </a:pPr>
            <a:r>
              <a:rPr lang="en-US" sz="1300" dirty="0">
                <a:solidFill>
                  <a:srgbClr val="334155"/>
                </a:solidFill>
                <a:latin typeface="Calibri" pitchFamily="34" charset="0"/>
                <a:ea typeface="Calibri" pitchFamily="34" charset="-122"/>
                <a:cs typeface="Calibri" pitchFamily="34" charset="-120"/>
              </a:rPr>
              <a:t>Resulting from personalized shopping experiences
</a:t>
            </a:r>
            <a:endParaRPr lang="en-US" sz="1300" dirty="0"/>
          </a:p>
        </p:txBody>
      </p:sp>
      <p:sp>
        <p:nvSpPr>
          <p:cNvPr id="9" name="Text 7"/>
          <p:cNvSpPr/>
          <p:nvPr/>
        </p:nvSpPr>
        <p:spPr>
          <a:xfrm>
            <a:off x="8127797" y="1650959"/>
            <a:ext cx="3047924" cy="1015975"/>
          </a:xfrm>
          <a:prstGeom prst="rect">
            <a:avLst/>
          </a:prstGeom>
          <a:noFill/>
          <a:ln/>
        </p:spPr>
        <p:txBody>
          <a:bodyPr wrap="square" lIns="1016" tIns="1016" rIns="1016" bIns="1016" rtlCol="0" anchor="t"/>
          <a:lstStyle/>
          <a:p>
            <a:pPr algn="ctr" indent="0" marL="0">
              <a:lnSpc>
                <a:spcPct val="130000"/>
              </a:lnSpc>
              <a:buNone/>
            </a:pPr>
            <a:r>
              <a:rPr lang="en-US" sz="4300" b="1" dirty="0">
                <a:solidFill>
                  <a:srgbClr val="0F172A"/>
                </a:solidFill>
                <a:latin typeface="Calibri" pitchFamily="34" charset="0"/>
                <a:ea typeface="Calibri" pitchFamily="34" charset="-122"/>
                <a:cs typeface="Calibri" pitchFamily="34" charset="-120"/>
              </a:rPr>
              <a:t>5x
</a:t>
            </a:r>
            <a:endParaRPr lang="en-US" sz="4300" dirty="0"/>
          </a:p>
        </p:txBody>
      </p:sp>
      <p:sp>
        <p:nvSpPr>
          <p:cNvPr id="10" name="Text 8"/>
          <p:cNvSpPr/>
          <p:nvPr/>
        </p:nvSpPr>
        <p:spPr>
          <a:xfrm>
            <a:off x="8127797" y="2730432"/>
            <a:ext cx="3047924" cy="380990"/>
          </a:xfrm>
          <a:prstGeom prst="rect">
            <a:avLst/>
          </a:prstGeom>
          <a:noFill/>
          <a:ln/>
        </p:spPr>
        <p:txBody>
          <a:bodyPr wrap="square" lIns="1016" tIns="1016" rIns="1016" bIns="1016" rtlCol="0" anchor="t"/>
          <a:lstStyle/>
          <a:p>
            <a:pPr algn="ctr" indent="0" marL="0">
              <a:lnSpc>
                <a:spcPct val="130000"/>
              </a:lnSpc>
              <a:buNone/>
            </a:pPr>
            <a:r>
              <a:rPr lang="en-US" sz="1600" dirty="0">
                <a:solidFill>
                  <a:srgbClr val="7C3AED"/>
                </a:solidFill>
                <a:latin typeface="Calibri" pitchFamily="34" charset="0"/>
                <a:ea typeface="Calibri" pitchFamily="34" charset="-122"/>
                <a:cs typeface="Calibri" pitchFamily="34" charset="-120"/>
              </a:rPr>
              <a:t>Enhanced Cross-Selling Opportunities
</a:t>
            </a:r>
            <a:endParaRPr lang="en-US" sz="1600" dirty="0"/>
          </a:p>
        </p:txBody>
      </p:sp>
      <p:sp>
        <p:nvSpPr>
          <p:cNvPr id="11" name="Text 9"/>
          <p:cNvSpPr/>
          <p:nvPr/>
        </p:nvSpPr>
        <p:spPr>
          <a:xfrm>
            <a:off x="8127797" y="3174921"/>
            <a:ext cx="3047924" cy="571486"/>
          </a:xfrm>
          <a:prstGeom prst="rect">
            <a:avLst/>
          </a:prstGeom>
          <a:noFill/>
          <a:ln/>
        </p:spPr>
        <p:txBody>
          <a:bodyPr wrap="square" lIns="1016" tIns="1016" rIns="1016" bIns="1016" rtlCol="0" anchor="t"/>
          <a:lstStyle/>
          <a:p>
            <a:pPr algn="ctr" indent="0" marL="0">
              <a:lnSpc>
                <a:spcPct val="130000"/>
              </a:lnSpc>
              <a:buNone/>
            </a:pPr>
            <a:r>
              <a:rPr lang="en-US" sz="1300" dirty="0">
                <a:solidFill>
                  <a:srgbClr val="334155"/>
                </a:solidFill>
                <a:latin typeface="Calibri" pitchFamily="34" charset="0"/>
                <a:ea typeface="Calibri" pitchFamily="34" charset="-122"/>
                <a:cs typeface="Calibri" pitchFamily="34" charset="-120"/>
              </a:rPr>
              <a:t>Leveraging data-driven insights for upselling
</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8F1"/>
        </a:solidFill>
      </p:bgPr>
    </p:bg>
    <p:spTree>
      <p:nvGrpSpPr>
        <p:cNvPr id="1" name=""/>
        <p:cNvGrpSpPr/>
        <p:nvPr/>
      </p:nvGrpSpPr>
      <p:grpSpPr>
        <a:xfrm>
          <a:off x="0" y="0"/>
          <a:ext cx="0" cy="0"/>
          <a:chOff x="0" y="0"/>
          <a:chExt cx="0" cy="0"/>
        </a:xfrm>
      </p:grpSpPr>
      <p:sp>
        <p:nvSpPr>
          <p:cNvPr id="2" name="Text 0"/>
          <p:cNvSpPr/>
          <p:nvPr/>
        </p:nvSpPr>
        <p:spPr>
          <a:xfrm>
            <a:off x="1015975" y="507987"/>
            <a:ext cx="10159746" cy="761981"/>
          </a:xfrm>
          <a:prstGeom prst="rect">
            <a:avLst/>
          </a:prstGeom>
          <a:noFill/>
          <a:ln/>
        </p:spPr>
        <p:txBody>
          <a:bodyPr wrap="square" lIns="1016" tIns="1016" rIns="1016" bIns="1016" rtlCol="0" anchor="t"/>
          <a:lstStyle/>
          <a:p>
            <a:pPr algn="l" indent="0" marL="0">
              <a:lnSpc>
                <a:spcPct val="130000"/>
              </a:lnSpc>
              <a:buNone/>
            </a:pPr>
            <a:r>
              <a:rPr lang="en-US" sz="2900" dirty="0">
                <a:solidFill>
                  <a:srgbClr val="7C3AED"/>
                </a:solidFill>
                <a:latin typeface="Calibri" pitchFamily="34" charset="0"/>
                <a:ea typeface="Calibri" pitchFamily="34" charset="-122"/>
                <a:cs typeface="Calibri" pitchFamily="34" charset="-120"/>
              </a:rPr>
              <a:t>Frequently Asked Questions
</a:t>
            </a:r>
            <a:endParaRPr lang="en-US" sz="2900" dirty="0"/>
          </a:p>
        </p:txBody>
      </p:sp>
      <p:sp>
        <p:nvSpPr>
          <p:cNvPr id="3" name="Text 1"/>
          <p:cNvSpPr/>
          <p:nvPr/>
        </p:nvSpPr>
        <p:spPr>
          <a:xfrm>
            <a:off x="1015975" y="1523962"/>
            <a:ext cx="10159746" cy="528307"/>
          </a:xfrm>
          <a:prstGeom prst="rect">
            <a:avLst/>
          </a:prstGeom>
          <a:noFill/>
          <a:ln/>
        </p:spPr>
        <p:txBody>
          <a:bodyPr wrap="square" lIns="1016" tIns="1016" rIns="1016" bIns="1016" rtlCol="0" anchor="t"/>
          <a:lstStyle/>
          <a:p>
            <a:pPr algn="l" indent="0" marL="0">
              <a:lnSpc>
                <a:spcPct val="130000"/>
              </a:lnSpc>
              <a:buNone/>
            </a:pPr>
            <a:r>
              <a:rPr lang="en-US" sz="1400" dirty="0">
                <a:solidFill>
                  <a:srgbClr val="0F172A"/>
                </a:solidFill>
                <a:latin typeface="Calibri" pitchFamily="34" charset="0"/>
                <a:ea typeface="Calibri" pitchFamily="34" charset="-122"/>
                <a:cs typeface="Calibri" pitchFamily="34" charset="-120"/>
              </a:rPr>
              <a:t>Q: What tools can I use for market basket analysis?
</a:t>
            </a:r>
            <a:endParaRPr lang="en-US" sz="1400" dirty="0"/>
          </a:p>
        </p:txBody>
      </p:sp>
      <p:sp>
        <p:nvSpPr>
          <p:cNvPr id="4" name="Text 2"/>
          <p:cNvSpPr/>
          <p:nvPr/>
        </p:nvSpPr>
        <p:spPr>
          <a:xfrm>
            <a:off x="1269968" y="1904952"/>
            <a:ext cx="9905752" cy="924537"/>
          </a:xfrm>
          <a:prstGeom prst="rect">
            <a:avLst/>
          </a:prstGeom>
          <a:noFill/>
          <a:ln/>
        </p:spPr>
        <p:txBody>
          <a:bodyPr wrap="square" lIns="1016" tIns="1016" rIns="1016" bIns="1016" rtlCol="0" anchor="t"/>
          <a:lstStyle/>
          <a:p>
            <a:pPr algn="l" indent="0" marL="0">
              <a:lnSpc>
                <a:spcPct val="130000"/>
              </a:lnSpc>
              <a:buNone/>
            </a:pPr>
            <a:r>
              <a:rPr lang="en-US" sz="1300" dirty="0">
                <a:solidFill>
                  <a:srgbClr val="475569"/>
                </a:solidFill>
                <a:latin typeface="Calibri" pitchFamily="34" charset="0"/>
                <a:ea typeface="Calibri" pitchFamily="34" charset="-122"/>
                <a:cs typeface="Calibri" pitchFamily="34" charset="-120"/>
              </a:rPr>
              <a:t>A: Popular tools include R, Python (with libraries like pandas and mlxtend), and specialized software like RapidMiner or Weka, which offer user-friendly interfaces for beginners.
</a:t>
            </a:r>
            <a:endParaRPr lang="en-US" sz="1300" dirty="0"/>
          </a:p>
        </p:txBody>
      </p:sp>
      <p:sp>
        <p:nvSpPr>
          <p:cNvPr id="5" name="Text 3"/>
          <p:cNvSpPr/>
          <p:nvPr/>
        </p:nvSpPr>
        <p:spPr>
          <a:xfrm>
            <a:off x="1015975" y="2698683"/>
            <a:ext cx="10159746" cy="380990"/>
          </a:xfrm>
          <a:prstGeom prst="rect">
            <a:avLst/>
          </a:prstGeom>
          <a:noFill/>
          <a:ln/>
        </p:spPr>
        <p:txBody>
          <a:bodyPr wrap="square" lIns="1016" tIns="1016" rIns="1016" bIns="1016" rtlCol="0" anchor="t"/>
          <a:lstStyle/>
          <a:p>
            <a:pPr algn="l" indent="0" marL="0">
              <a:lnSpc>
                <a:spcPct val="130000"/>
              </a:lnSpc>
              <a:buNone/>
            </a:pPr>
            <a:r>
              <a:rPr lang="en-US" sz="1400" dirty="0">
                <a:solidFill>
                  <a:srgbClr val="0F172A"/>
                </a:solidFill>
                <a:latin typeface="Calibri" pitchFamily="34" charset="0"/>
                <a:ea typeface="Calibri" pitchFamily="34" charset="-122"/>
                <a:cs typeface="Calibri" pitchFamily="34" charset="-120"/>
              </a:rPr>
              <a:t>Q: How do I interpret the results of my analysis?
</a:t>
            </a:r>
            <a:endParaRPr lang="en-US" sz="1400" dirty="0"/>
          </a:p>
        </p:txBody>
      </p:sp>
      <p:sp>
        <p:nvSpPr>
          <p:cNvPr id="6" name="Text 4"/>
          <p:cNvSpPr/>
          <p:nvPr/>
        </p:nvSpPr>
        <p:spPr>
          <a:xfrm>
            <a:off x="1269968" y="3079673"/>
            <a:ext cx="9905752" cy="924537"/>
          </a:xfrm>
          <a:prstGeom prst="rect">
            <a:avLst/>
          </a:prstGeom>
          <a:noFill/>
          <a:ln/>
        </p:spPr>
        <p:txBody>
          <a:bodyPr wrap="square" lIns="1016" tIns="1016" rIns="1016" bIns="1016" rtlCol="0" anchor="t"/>
          <a:lstStyle/>
          <a:p>
            <a:pPr algn="l" indent="0" marL="0">
              <a:lnSpc>
                <a:spcPct val="130000"/>
              </a:lnSpc>
              <a:buNone/>
            </a:pPr>
            <a:r>
              <a:rPr lang="en-US" sz="1300" dirty="0">
                <a:solidFill>
                  <a:srgbClr val="475569"/>
                </a:solidFill>
                <a:latin typeface="Calibri" pitchFamily="34" charset="0"/>
                <a:ea typeface="Calibri" pitchFamily="34" charset="-122"/>
                <a:cs typeface="Calibri" pitchFamily="34" charset="-120"/>
              </a:rPr>
              <a:t>A: Look for association rules with high support and confidence values; these indicate strong relationships between items that can inform marketing strategies.
</a:t>
            </a:r>
            <a:endParaRPr lang="en-US" sz="1300" dirty="0"/>
          </a:p>
        </p:txBody>
      </p:sp>
      <p:sp>
        <p:nvSpPr>
          <p:cNvPr id="7" name="Text 5"/>
          <p:cNvSpPr/>
          <p:nvPr/>
        </p:nvSpPr>
        <p:spPr>
          <a:xfrm>
            <a:off x="1015975" y="3873403"/>
            <a:ext cx="10159746" cy="528307"/>
          </a:xfrm>
          <a:prstGeom prst="rect">
            <a:avLst/>
          </a:prstGeom>
          <a:noFill/>
          <a:ln/>
        </p:spPr>
        <p:txBody>
          <a:bodyPr wrap="square" lIns="1016" tIns="1016" rIns="1016" bIns="1016" rtlCol="0" anchor="t"/>
          <a:lstStyle/>
          <a:p>
            <a:pPr algn="l" indent="0" marL="0">
              <a:lnSpc>
                <a:spcPct val="130000"/>
              </a:lnSpc>
              <a:buNone/>
            </a:pPr>
            <a:r>
              <a:rPr lang="en-US" sz="1400" dirty="0">
                <a:solidFill>
                  <a:srgbClr val="0F172A"/>
                </a:solidFill>
                <a:latin typeface="Calibri" pitchFamily="34" charset="0"/>
                <a:ea typeface="Calibri" pitchFamily="34" charset="-122"/>
                <a:cs typeface="Calibri" pitchFamily="34" charset="-120"/>
              </a:rPr>
              <a:t>Q: What data is needed for effective market basket analysis?
</a:t>
            </a:r>
            <a:endParaRPr lang="en-US" sz="1400" dirty="0"/>
          </a:p>
        </p:txBody>
      </p:sp>
      <p:sp>
        <p:nvSpPr>
          <p:cNvPr id="8" name="Text 6"/>
          <p:cNvSpPr/>
          <p:nvPr/>
        </p:nvSpPr>
        <p:spPr>
          <a:xfrm>
            <a:off x="1269968" y="4254394"/>
            <a:ext cx="9905752" cy="693403"/>
          </a:xfrm>
          <a:prstGeom prst="rect">
            <a:avLst/>
          </a:prstGeom>
          <a:noFill/>
          <a:ln/>
        </p:spPr>
        <p:txBody>
          <a:bodyPr wrap="square" lIns="1016" tIns="1016" rIns="1016" bIns="1016" rtlCol="0" anchor="t"/>
          <a:lstStyle/>
          <a:p>
            <a:pPr algn="l" indent="0" marL="0">
              <a:lnSpc>
                <a:spcPct val="130000"/>
              </a:lnSpc>
              <a:buNone/>
            </a:pPr>
            <a:r>
              <a:rPr lang="en-US" sz="1300" dirty="0">
                <a:solidFill>
                  <a:srgbClr val="475569"/>
                </a:solidFill>
                <a:latin typeface="Calibri" pitchFamily="34" charset="0"/>
                <a:ea typeface="Calibri" pitchFamily="34" charset="-122"/>
                <a:cs typeface="Calibri" pitchFamily="34" charset="-120"/>
              </a:rPr>
              <a:t>A: You need transaction data that includes item identifiers and transaction IDs, ideally in a format that captures multiple items per transaction.
</a:t>
            </a:r>
            <a:endParaRPr lang="en-US" sz="1300" dirty="0"/>
          </a:p>
        </p:txBody>
      </p:sp>
      <p:sp>
        <p:nvSpPr>
          <p:cNvPr id="9" name="Text 7"/>
          <p:cNvSpPr/>
          <p:nvPr/>
        </p:nvSpPr>
        <p:spPr>
          <a:xfrm>
            <a:off x="1015975" y="5048124"/>
            <a:ext cx="10159746" cy="528307"/>
          </a:xfrm>
          <a:prstGeom prst="rect">
            <a:avLst/>
          </a:prstGeom>
          <a:noFill/>
          <a:ln/>
        </p:spPr>
        <p:txBody>
          <a:bodyPr wrap="square" lIns="1016" tIns="1016" rIns="1016" bIns="1016" rtlCol="0" anchor="t"/>
          <a:lstStyle/>
          <a:p>
            <a:pPr algn="l" indent="0" marL="0">
              <a:lnSpc>
                <a:spcPct val="130000"/>
              </a:lnSpc>
              <a:buNone/>
            </a:pPr>
            <a:r>
              <a:rPr lang="en-US" sz="1400" dirty="0">
                <a:solidFill>
                  <a:srgbClr val="0F172A"/>
                </a:solidFill>
                <a:latin typeface="Calibri" pitchFamily="34" charset="0"/>
                <a:ea typeface="Calibri" pitchFamily="34" charset="-122"/>
                <a:cs typeface="Calibri" pitchFamily="34" charset="-120"/>
              </a:rPr>
              <a:t>Q: Can I perform market basket analysis with limited data?
</a:t>
            </a:r>
            <a:endParaRPr lang="en-US" sz="1400" dirty="0"/>
          </a:p>
        </p:txBody>
      </p:sp>
      <p:sp>
        <p:nvSpPr>
          <p:cNvPr id="10" name="Text 8"/>
          <p:cNvSpPr/>
          <p:nvPr/>
        </p:nvSpPr>
        <p:spPr>
          <a:xfrm>
            <a:off x="1269968" y="5429114"/>
            <a:ext cx="9905752" cy="924537"/>
          </a:xfrm>
          <a:prstGeom prst="rect">
            <a:avLst/>
          </a:prstGeom>
          <a:noFill/>
          <a:ln/>
        </p:spPr>
        <p:txBody>
          <a:bodyPr wrap="square" lIns="1016" tIns="1016" rIns="1016" bIns="1016" rtlCol="0" anchor="t"/>
          <a:lstStyle/>
          <a:p>
            <a:pPr algn="l" indent="0" marL="0">
              <a:lnSpc>
                <a:spcPct val="130000"/>
              </a:lnSpc>
              <a:buNone/>
            </a:pPr>
            <a:r>
              <a:rPr lang="en-US" sz="1300" dirty="0">
                <a:solidFill>
                  <a:srgbClr val="475569"/>
                </a:solidFill>
                <a:latin typeface="Calibri" pitchFamily="34" charset="0"/>
                <a:ea typeface="Calibri" pitchFamily="34" charset="-122"/>
                <a:cs typeface="Calibri" pitchFamily="34" charset="-120"/>
              </a:rPr>
              <a:t>A: While more data generally leads to better insights, you can still derive valuable patterns from smaller datasets; just be cautious about the reliability of your results.
</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8F1"/>
        </a:solidFill>
      </p:bgPr>
    </p:bg>
    <p:spTree>
      <p:nvGrpSpPr>
        <p:cNvPr id="1" name=""/>
        <p:cNvGrpSpPr/>
        <p:nvPr/>
      </p:nvGrpSpPr>
      <p:grpSpPr>
        <a:xfrm>
          <a:off x="0" y="0"/>
          <a:ext cx="0" cy="0"/>
          <a:chOff x="0" y="0"/>
          <a:chExt cx="0" cy="0"/>
        </a:xfrm>
      </p:grpSpPr>
      <p:sp>
        <p:nvSpPr>
          <p:cNvPr id="2" name="Text 0"/>
          <p:cNvSpPr/>
          <p:nvPr/>
        </p:nvSpPr>
        <p:spPr>
          <a:xfrm>
            <a:off x="1523962" y="1777956"/>
            <a:ext cx="9143771" cy="1269968"/>
          </a:xfrm>
          <a:prstGeom prst="rect">
            <a:avLst/>
          </a:prstGeom>
          <a:noFill/>
          <a:ln/>
        </p:spPr>
        <p:txBody>
          <a:bodyPr wrap="square" lIns="1016" tIns="1016" rIns="1016" bIns="1016" rtlCol="0" anchor="t"/>
          <a:lstStyle/>
          <a:p>
            <a:pPr algn="ctr" indent="0" marL="0">
              <a:lnSpc>
                <a:spcPct val="120000"/>
              </a:lnSpc>
              <a:buNone/>
            </a:pPr>
            <a:r>
              <a:rPr lang="en-US" sz="2900" b="1" dirty="0">
                <a:solidFill>
                  <a:srgbClr val="7C3AED"/>
                </a:solidFill>
                <a:latin typeface="Calibri" pitchFamily="34" charset="0"/>
                <a:ea typeface="Calibri" pitchFamily="34" charset="-122"/>
                <a:cs typeface="Calibri" pitchFamily="34" charset="-120"/>
              </a:rPr>
              <a:t>Conclusion
</a:t>
            </a:r>
            <a:endParaRPr lang="en-US" sz="2900" dirty="0"/>
          </a:p>
        </p:txBody>
      </p:sp>
      <p:sp>
        <p:nvSpPr>
          <p:cNvPr id="3" name="Text 1"/>
          <p:cNvSpPr/>
          <p:nvPr/>
        </p:nvSpPr>
        <p:spPr>
          <a:xfrm>
            <a:off x="1523962" y="3428914"/>
            <a:ext cx="9143771" cy="1866853"/>
          </a:xfrm>
          <a:prstGeom prst="rect">
            <a:avLst/>
          </a:prstGeom>
          <a:noFill/>
          <a:ln/>
        </p:spPr>
        <p:txBody>
          <a:bodyPr wrap="square" lIns="1016" tIns="1016" rIns="1016" bIns="1016" rtlCol="0" anchor="t"/>
          <a:lstStyle/>
          <a:p>
            <a:pPr algn="ctr" indent="0" marL="0">
              <a:lnSpc>
                <a:spcPct val="150000"/>
              </a:lnSpc>
              <a:buNone/>
            </a:pPr>
            <a:r>
              <a:rPr lang="en-US" sz="1300" dirty="0">
                <a:solidFill>
                  <a:srgbClr val="475569"/>
                </a:solidFill>
                <a:latin typeface="Calibri" pitchFamily="34" charset="0"/>
                <a:ea typeface="Calibri" pitchFamily="34" charset="-122"/>
                <a:cs typeface="Calibri" pitchFamily="34" charset="-120"/>
              </a:rPr>
              <a:t>Market basket analysis reveals customer purchasing patterns, enabling targeted marketing strategies. Key takeaways include understanding product affinities, enhancing inventory management, and improving customer experience. Embrace these insights to drive sales and foster customer loyalty in your business.
</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2026-02-05T08:21:29Z</dcterms:created>
  <dcterms:modified xsi:type="dcterms:W3CDTF">2026-02-05T08:21:29Z</dcterms:modified>
</cp:coreProperties>
</file>