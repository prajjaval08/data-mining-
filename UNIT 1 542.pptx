
<file path=[Content_Types].xml><?xml version="1.0" encoding="utf-8"?>
<Types xmlns="http://schemas.openxmlformats.org/package/2006/content-types">
  <Default Extension="photo-1686061594183-8c864f508b00" ContentType="image/photo-1686061594183-8c864f508b00"/>
  <Default Extension="photo-1765502318157-61d9bb6579e0" ContentType="image/photo-1765502318157-61d9bb6579e0"/>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Department Budget Allocation</c:v>
                </c:pt>
              </c:strCache>
            </c:strRef>
          </c:tx>
          <c:spPr>
            <a:solidFill>
              <a:srgbClr val="3B82F6"/>
            </a:solidFill>
            <a:effectLst/>
          </c:spPr>
          <c:invertIfNegative val="0"/>
          <c:dPt>
            <c:idx val="0"/>
            <c:invertIfNegative val="0"/>
            <c:bubble3D val="0"/>
            <c:extLst>
              <c:ext xmlns:c16="http://schemas.microsoft.com/office/drawing/2014/chart" uri="{C3380CC4-5D6E-409C-BE32-E72D297353CC}">
                <c16:uniqueId val="{00000001-9133-4CDE-88A9-0D5A39EB096E}"/>
              </c:ext>
            </c:extLst>
          </c:dPt>
          <c:dPt>
            <c:idx val="1"/>
            <c:invertIfNegative val="0"/>
            <c:bubble3D val="0"/>
            <c:spPr>
              <a:solidFill>
                <a:srgbClr val="10B981"/>
              </a:solidFill>
              <a:effectLst/>
            </c:spPr>
            <c:extLst>
              <c:ext xmlns:c16="http://schemas.microsoft.com/office/drawing/2014/chart" uri="{C3380CC4-5D6E-409C-BE32-E72D297353CC}">
                <c16:uniqueId val="{00000003-9133-4CDE-88A9-0D5A39EB096E}"/>
              </c:ext>
            </c:extLst>
          </c:dPt>
          <c:dPt>
            <c:idx val="2"/>
            <c:invertIfNegative val="0"/>
            <c:bubble3D val="0"/>
            <c:spPr>
              <a:solidFill>
                <a:srgbClr val="F59E0B"/>
              </a:solidFill>
              <a:effectLst/>
            </c:spPr>
            <c:extLst>
              <c:ext xmlns:c16="http://schemas.microsoft.com/office/drawing/2014/chart" uri="{C3380CC4-5D6E-409C-BE32-E72D297353CC}">
                <c16:uniqueId val="{00000005-9133-4CDE-88A9-0D5A39EB096E}"/>
              </c:ext>
            </c:extLst>
          </c:dPt>
          <c:dPt>
            <c:idx val="3"/>
            <c:invertIfNegative val="0"/>
            <c:bubble3D val="0"/>
            <c:spPr>
              <a:solidFill>
                <a:srgbClr val="EF4444"/>
              </a:solidFill>
              <a:effectLst/>
            </c:spPr>
            <c:extLst>
              <c:ext xmlns:c16="http://schemas.microsoft.com/office/drawing/2014/chart" uri="{C3380CC4-5D6E-409C-BE32-E72D297353CC}">
                <c16:uniqueId val="{00000007-9133-4CDE-88A9-0D5A39EB096E}"/>
              </c:ext>
            </c:extLst>
          </c:dPt>
          <c:dLbls>
            <c:numFmt formatCode="#,##0" sourceLinked="0"/>
            <c:spPr>
              <a:noFill/>
              <a:ln>
                <a:noFill/>
              </a:ln>
              <a:effectLst/>
            </c:spPr>
            <c:txPr>
              <a:bodyPr/>
              <a:lstStyle/>
              <a:p>
                <a:pPr>
                  <a:defRPr sz="1000" b="0" i="0" u="none" strike="noStrike">
                    <a:solidFill>
                      <a:srgbClr val="0F172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Sales</c:v>
                </c:pt>
                <c:pt idx="1">
                  <c:v>Marketing</c:v>
                </c:pt>
                <c:pt idx="2">
                  <c:v>R&amp;D</c:v>
                </c:pt>
                <c:pt idx="3">
                  <c:v>Customer Service</c:v>
                </c:pt>
              </c:strCache>
            </c:strRef>
          </c:cat>
          <c:val>
            <c:numRef>
              <c:f>Sheet1!$B$2:$B$5</c:f>
              <c:numCache>
                <c:formatCode>General</c:formatCode>
                <c:ptCount val="4"/>
                <c:pt idx="0">
                  <c:v>30000</c:v>
                </c:pt>
                <c:pt idx="1">
                  <c:v>20000</c:v>
                </c:pt>
                <c:pt idx="2">
                  <c:v>15000</c:v>
                </c:pt>
                <c:pt idx="3">
                  <c:v>10000</c:v>
                </c:pt>
              </c:numCache>
            </c:numRef>
          </c:val>
          <c:extLst>
            <c:ext xmlns:c16="http://schemas.microsoft.com/office/drawing/2014/chart" uri="{C3380CC4-5D6E-409C-BE32-E72D297353CC}">
              <c16:uniqueId val="{00000008-9133-4CDE-88A9-0D5A39EB096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100">
              <a:solidFill>
                <a:srgbClr val="0F172A"/>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5929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hoto-1686061594183-8c864f508b00"/><Relationship Id="rId4" Type="http://schemas.openxmlformats.org/officeDocument/2006/relationships/image" Target="../media/image8.png"/><Relationship Id="rId9"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2.photo-1765502318157-61d9bb6579e0"/><Relationship Id="rId5" Type="http://schemas.openxmlformats.org/officeDocument/2006/relationships/image" Target="../media/image31.png"/><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0.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svg"/><Relationship Id="rId12"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85943" y="1269968"/>
            <a:ext cx="304792" cy="304792"/>
          </a:xfrm>
          <a:prstGeom prst="rect">
            <a:avLst/>
          </a:prstGeom>
        </p:spPr>
      </p:pic>
      <p:pic>
        <p:nvPicPr>
          <p:cNvPr id="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175721" y="5333867"/>
            <a:ext cx="406390" cy="406390"/>
          </a:xfrm>
          <a:prstGeom prst="rect">
            <a:avLst/>
          </a:prstGeom>
        </p:spPr>
      </p:pic>
      <p:pic>
        <p:nvPicPr>
          <p:cNvPr id="4" name="Image 2" descr="preencoded.png"/>
          <p:cNvPicPr>
            <a:picLocks noChangeAspect="1"/>
          </p:cNvPicPr>
          <p:nvPr/>
        </p:nvPicPr>
        <p:blipFill>
          <a:blip r:embed="rId7"/>
          <a:stretch>
            <a:fillRect/>
          </a:stretch>
        </p:blipFill>
        <p:spPr>
          <a:xfrm>
            <a:off x="380990" y="5714857"/>
            <a:ext cx="1269968" cy="761981"/>
          </a:xfrm>
          <a:prstGeom prst="rect">
            <a:avLst/>
          </a:prstGeom>
        </p:spPr>
      </p:pic>
      <p:pic>
        <p:nvPicPr>
          <p:cNvPr id="5" name="Image 3" descr="preencoded.png"/>
          <p:cNvPicPr>
            <a:picLocks noChangeAspect="1"/>
          </p:cNvPicPr>
          <p:nvPr/>
        </p:nvPicPr>
        <p:blipFill>
          <a:blip r:embed="rId7"/>
          <a:stretch>
            <a:fillRect/>
          </a:stretch>
        </p:blipFill>
        <p:spPr>
          <a:xfrm>
            <a:off x="10540736" y="5714857"/>
            <a:ext cx="1269968" cy="761981"/>
          </a:xfrm>
          <a:prstGeom prst="rect">
            <a:avLst/>
          </a:prstGeom>
        </p:spPr>
      </p:pic>
      <p:sp>
        <p:nvSpPr>
          <p:cNvPr id="6" name="Text 0"/>
          <p:cNvSpPr/>
          <p:nvPr/>
        </p:nvSpPr>
        <p:spPr>
          <a:xfrm>
            <a:off x="761981" y="1015975"/>
            <a:ext cx="10667733" cy="1015975"/>
          </a:xfrm>
          <a:prstGeom prst="rect">
            <a:avLst/>
          </a:prstGeom>
          <a:noFill/>
          <a:ln/>
        </p:spPr>
        <p:txBody>
          <a:bodyPr wrap="square" lIns="1016" tIns="1016" rIns="1016" bIns="1016" rtlCol="0" anchor="t"/>
          <a:lstStyle/>
          <a:p>
            <a:pPr marL="0" indent="0" algn="ctr">
              <a:lnSpc>
                <a:spcPct val="130000"/>
              </a:lnSpc>
              <a:buNone/>
            </a:pPr>
            <a:r>
              <a:rPr lang="en-US" sz="3800" b="1" dirty="0">
                <a:solidFill>
                  <a:srgbClr val="0F172A"/>
                </a:solidFill>
                <a:latin typeface="Calibri" pitchFamily="34" charset="0"/>
                <a:ea typeface="Calibri" pitchFamily="34" charset="-122"/>
                <a:cs typeface="Calibri" pitchFamily="34" charset="-120"/>
              </a:rPr>
              <a:t>Introduction to Data Analysis</a:t>
            </a:r>
            <a:r>
              <a:rPr lang="en-US" sz="3800" dirty="0">
                <a:solidFill>
                  <a:srgbClr val="0F172A"/>
                </a:solidFill>
                <a:latin typeface="Calibri" pitchFamily="34" charset="0"/>
                <a:ea typeface="Calibri" pitchFamily="34" charset="-122"/>
                <a:cs typeface="Calibri" pitchFamily="34" charset="-120"/>
              </a:rPr>
              <a:t>
</a:t>
            </a:r>
            <a:endParaRPr lang="en-US" sz="3800" dirty="0"/>
          </a:p>
        </p:txBody>
      </p:sp>
      <p:sp>
        <p:nvSpPr>
          <p:cNvPr id="7" name="Text 1"/>
          <p:cNvSpPr/>
          <p:nvPr/>
        </p:nvSpPr>
        <p:spPr>
          <a:xfrm>
            <a:off x="761981" y="2920927"/>
            <a:ext cx="10667733" cy="380990"/>
          </a:xfrm>
          <a:prstGeom prst="rect">
            <a:avLst/>
          </a:prstGeom>
          <a:noFill/>
          <a:ln/>
        </p:spPr>
        <p:txBody>
          <a:bodyPr wrap="square" lIns="1016" tIns="1016" rIns="1016" bIns="1016" rtlCol="0" anchor="t"/>
          <a:lstStyle/>
          <a:p>
            <a:pPr marL="0" indent="0" algn="ctr">
              <a:lnSpc>
                <a:spcPct val="130000"/>
              </a:lnSpc>
              <a:buNone/>
            </a:pPr>
            <a:r>
              <a:rPr lang="en-US" sz="1100" dirty="0">
                <a:solidFill>
                  <a:srgbClr val="94A3B8"/>
                </a:solidFill>
                <a:latin typeface="Calibri" pitchFamily="34" charset="0"/>
                <a:ea typeface="Calibri" pitchFamily="34" charset="-122"/>
                <a:cs typeface="Calibri" pitchFamily="34" charset="-120"/>
              </a:rPr>
              <a:t>PRESENTED BY
</a:t>
            </a:r>
            <a:endParaRPr lang="en-US" sz="1100" dirty="0"/>
          </a:p>
        </p:txBody>
      </p:sp>
      <p:sp>
        <p:nvSpPr>
          <p:cNvPr id="8" name="Text 2"/>
          <p:cNvSpPr/>
          <p:nvPr/>
        </p:nvSpPr>
        <p:spPr>
          <a:xfrm>
            <a:off x="761981" y="3225719"/>
            <a:ext cx="11383994" cy="2031948"/>
          </a:xfrm>
          <a:prstGeom prst="rect">
            <a:avLst/>
          </a:prstGeom>
          <a:noFill/>
          <a:ln/>
        </p:spPr>
        <p:txBody>
          <a:bodyPr wrap="square" lIns="1016" tIns="1016" rIns="1016" bIns="1016" rtlCol="0" anchor="t"/>
          <a:lstStyle/>
          <a:p>
            <a:pPr marL="0" indent="0" algn="ctr">
              <a:lnSpc>
                <a:spcPct val="130000"/>
              </a:lnSpc>
              <a:buNone/>
            </a:pPr>
            <a:r>
              <a:rPr lang="en-US" sz="2200" dirty="0">
                <a:solidFill>
                  <a:srgbClr val="0F172A"/>
                </a:solidFill>
                <a:latin typeface="Calibri" pitchFamily="34" charset="0"/>
                <a:ea typeface="Calibri" pitchFamily="34" charset="-122"/>
                <a:cs typeface="Calibri" pitchFamily="34" charset="-120"/>
              </a:rPr>
              <a:t>Prajjaval Pandey</a:t>
            </a:r>
          </a:p>
          <a:p>
            <a:pPr marL="0" indent="0" algn="ctr">
              <a:lnSpc>
                <a:spcPct val="130000"/>
              </a:lnSpc>
              <a:buNone/>
            </a:pPr>
            <a:r>
              <a:rPr lang="en-US" sz="2200" dirty="0">
                <a:solidFill>
                  <a:srgbClr val="0F172A"/>
                </a:solidFill>
                <a:latin typeface="Calibri" pitchFamily="34" charset="0"/>
                <a:ea typeface="Calibri" pitchFamily="34" charset="-122"/>
                <a:cs typeface="Calibri" pitchFamily="34" charset="-120"/>
              </a:rPr>
              <a:t>RA2311003030542</a:t>
            </a:r>
          </a:p>
          <a:p>
            <a:pPr marL="0" indent="0" algn="ctr">
              <a:lnSpc>
                <a:spcPct val="130000"/>
              </a:lnSpc>
              <a:buNone/>
            </a:pPr>
            <a:r>
              <a:rPr lang="en-US" sz="2200" dirty="0">
                <a:solidFill>
                  <a:srgbClr val="0F172A"/>
                </a:solidFill>
                <a:latin typeface="Calibri" pitchFamily="34" charset="0"/>
                <a:ea typeface="Calibri" pitchFamily="34" charset="-122"/>
                <a:cs typeface="Calibri" pitchFamily="34" charset="-120"/>
              </a:rPr>
              <a:t>CSE CORE -I</a:t>
            </a:r>
          </a:p>
          <a:p>
            <a:pPr marL="0" indent="0" algn="ctr">
              <a:lnSpc>
                <a:spcPct val="130000"/>
              </a:lnSpc>
              <a:buNone/>
            </a:pPr>
            <a:r>
              <a:rPr lang="en-US" sz="2200" dirty="0">
                <a:solidFill>
                  <a:srgbClr val="0F172A"/>
                </a:solidFill>
                <a:latin typeface="Calibri" pitchFamily="34" charset="0"/>
                <a:ea typeface="Calibri" pitchFamily="34" charset="-122"/>
                <a:cs typeface="Calibri" pitchFamily="34" charset="-120"/>
              </a:rPr>
              <a:t>
</a:t>
            </a:r>
            <a:endParaRPr lang="en-US" sz="2200" dirty="0"/>
          </a:p>
        </p:txBody>
      </p:sp>
      <p:sp>
        <p:nvSpPr>
          <p:cNvPr id="9" name="Text 3"/>
          <p:cNvSpPr/>
          <p:nvPr/>
        </p:nvSpPr>
        <p:spPr>
          <a:xfrm>
            <a:off x="761981" y="3809905"/>
            <a:ext cx="11383994" cy="507987"/>
          </a:xfrm>
          <a:prstGeom prst="rect">
            <a:avLst/>
          </a:prstGeom>
          <a:noFill/>
          <a:ln/>
        </p:spPr>
        <p:txBody>
          <a:bodyPr wrap="square" lIns="1016" tIns="1016" rIns="1016" bIns="1016" rtlCol="0" anchor="t"/>
          <a:lstStyle/>
          <a:p>
            <a:pPr marL="0" indent="0" algn="ctr">
              <a:lnSpc>
                <a:spcPct val="130000"/>
              </a:lnSpc>
              <a:buNone/>
            </a:pPr>
            <a:r>
              <a:rPr lang="en-US" sz="1800" dirty="0">
                <a:solidFill>
                  <a:srgbClr val="3B82F6"/>
                </a:solidFill>
                <a:latin typeface="Calibri" pitchFamily="34" charset="0"/>
                <a:ea typeface="Calibri" pitchFamily="34" charset="-122"/>
                <a:cs typeface="Calibri" pitchFamily="34" charset="-120"/>
              </a:rPr>
              <a:t>
</a:t>
            </a:r>
            <a:endParaRPr lang="en-US" sz="1800" dirty="0"/>
          </a:p>
        </p:txBody>
      </p:sp>
      <p:sp>
        <p:nvSpPr>
          <p:cNvPr id="10" name="Text 4"/>
          <p:cNvSpPr/>
          <p:nvPr/>
        </p:nvSpPr>
        <p:spPr>
          <a:xfrm>
            <a:off x="761981" y="4381390"/>
            <a:ext cx="11048724" cy="507987"/>
          </a:xfrm>
          <a:prstGeom prst="rect">
            <a:avLst/>
          </a:prstGeom>
          <a:noFill/>
          <a:ln/>
        </p:spPr>
        <p:txBody>
          <a:bodyPr wrap="square" lIns="1016" tIns="1016" rIns="1016" bIns="1016" rtlCol="0" anchor="t"/>
          <a:lstStyle/>
          <a:p>
            <a:pPr marL="0" indent="0" algn="ctr">
              <a:lnSpc>
                <a:spcPct val="130000"/>
              </a:lnSpc>
              <a:buNone/>
            </a:pPr>
            <a:r>
              <a:rPr lang="en-US" sz="1400" dirty="0">
                <a:solidFill>
                  <a:srgbClr val="64748B"/>
                </a:solidFill>
                <a:latin typeface="Calibri" pitchFamily="34" charset="0"/>
                <a:ea typeface="Calibri" pitchFamily="34" charset="-122"/>
                <a:cs typeface="Calibri" pitchFamily="34" charset="-120"/>
              </a:rPr>
              <a:t>
</a:t>
            </a:r>
            <a:endParaRPr lang="en-US" sz="1400" dirty="0"/>
          </a:p>
        </p:txBody>
      </p:sp>
      <p:pic>
        <p:nvPicPr>
          <p:cNvPr id="11" name="Image 4" descr="preencoded.png"/>
          <p:cNvPicPr>
            <a:picLocks noChangeAspect="1"/>
          </p:cNvPicPr>
          <p:nvPr/>
        </p:nvPicPr>
        <p:blipFill>
          <a:blip r:embed="rId8"/>
          <a:stretch>
            <a:fillRect/>
          </a:stretch>
        </p:blipFill>
        <p:spPr>
          <a:xfrm>
            <a:off x="0" y="0"/>
            <a:ext cx="12145975" cy="10159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000800" y="634984"/>
            <a:ext cx="3555911" cy="5587860"/>
          </a:xfrm>
          <a:prstGeom prst="rect">
            <a:avLst/>
          </a:prstGeom>
        </p:spPr>
      </p:pic>
      <p:pic>
        <p:nvPicPr>
          <p:cNvPr id="3" name="Image 1" descr="preencoded.png"/>
          <p:cNvPicPr>
            <a:picLocks noChangeAspect="1"/>
          </p:cNvPicPr>
          <p:nvPr/>
        </p:nvPicPr>
        <p:blipFill>
          <a:blip r:embed="rId4"/>
          <a:stretch>
            <a:fillRect/>
          </a:stretch>
        </p:blipFill>
        <p:spPr>
          <a:xfrm>
            <a:off x="4876678" y="190495"/>
            <a:ext cx="1904952" cy="1904952"/>
          </a:xfrm>
          <a:prstGeom prst="rect">
            <a:avLst/>
          </a:prstGeom>
        </p:spPr>
      </p:pic>
      <p:pic>
        <p:nvPicPr>
          <p:cNvPr id="4" name="Image 2" descr="preencoded.png"/>
          <p:cNvPicPr>
            <a:picLocks noChangeAspect="1"/>
          </p:cNvPicPr>
          <p:nvPr/>
        </p:nvPicPr>
        <p:blipFill>
          <a:blip r:embed="rId3"/>
          <a:stretch>
            <a:fillRect/>
          </a:stretch>
        </p:blipFill>
        <p:spPr>
          <a:xfrm>
            <a:off x="8000800" y="634984"/>
            <a:ext cx="3555911" cy="5587860"/>
          </a:xfrm>
          <a:prstGeom prst="rect">
            <a:avLst/>
          </a:prstGeom>
        </p:spPr>
      </p:pic>
      <p:pic>
        <p:nvPicPr>
          <p:cNvPr id="5" name="Image 3" descr="preencoded.png"/>
          <p:cNvPicPr>
            <a:picLocks noChangeAspect="1"/>
          </p:cNvPicPr>
          <p:nvPr/>
        </p:nvPicPr>
        <p:blipFill>
          <a:blip r:embed="rId4"/>
          <a:stretch>
            <a:fillRect/>
          </a:stretch>
        </p:blipFill>
        <p:spPr>
          <a:xfrm>
            <a:off x="4876678" y="190495"/>
            <a:ext cx="1904952" cy="1904952"/>
          </a:xfrm>
          <a:prstGeom prst="rect">
            <a:avLst/>
          </a:prstGeom>
        </p:spPr>
      </p:pic>
      <p:pic>
        <p:nvPicPr>
          <p:cNvPr id="6"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84905" y="5841854"/>
            <a:ext cx="761981" cy="761981"/>
          </a:xfrm>
          <a:prstGeom prst="rect">
            <a:avLst/>
          </a:prstGeom>
        </p:spPr>
      </p:pic>
      <p:pic>
        <p:nvPicPr>
          <p:cNvPr id="7" name="Image 5"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667733" y="126997"/>
            <a:ext cx="1478242" cy="1523962"/>
          </a:xfrm>
          <a:prstGeom prst="rect">
            <a:avLst/>
          </a:prstGeom>
        </p:spPr>
      </p:pic>
      <p:pic>
        <p:nvPicPr>
          <p:cNvPr id="8" name="Image 6"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84905" y="5841854"/>
            <a:ext cx="761981" cy="761981"/>
          </a:xfrm>
          <a:prstGeom prst="rect">
            <a:avLst/>
          </a:prstGeom>
        </p:spPr>
      </p:pic>
      <p:pic>
        <p:nvPicPr>
          <p:cNvPr id="9" name="Image 7"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667733" y="126997"/>
            <a:ext cx="1478242" cy="1523962"/>
          </a:xfrm>
          <a:prstGeom prst="rect">
            <a:avLst/>
          </a:prstGeom>
        </p:spPr>
      </p:pic>
      <p:pic>
        <p:nvPicPr>
          <p:cNvPr id="10" name="Image 8" descr="preencoded.png"/>
          <p:cNvPicPr>
            <a:picLocks noChangeAspect="1"/>
          </p:cNvPicPr>
          <p:nvPr/>
        </p:nvPicPr>
        <p:blipFill>
          <a:blip r:embed="rId9"/>
          <a:stretch>
            <a:fillRect/>
          </a:stretch>
        </p:blipFill>
        <p:spPr>
          <a:xfrm>
            <a:off x="0" y="6730832"/>
            <a:ext cx="5079873" cy="81448"/>
          </a:xfrm>
          <a:prstGeom prst="rect">
            <a:avLst/>
          </a:prstGeom>
        </p:spPr>
      </p:pic>
      <p:pic>
        <p:nvPicPr>
          <p:cNvPr id="11" name="Image 9" descr="preencoded.png"/>
          <p:cNvPicPr>
            <a:picLocks noChangeAspect="1"/>
          </p:cNvPicPr>
          <p:nvPr/>
        </p:nvPicPr>
        <p:blipFill>
          <a:blip r:embed="rId9"/>
          <a:stretch>
            <a:fillRect/>
          </a:stretch>
        </p:blipFill>
        <p:spPr>
          <a:xfrm>
            <a:off x="0" y="6730832"/>
            <a:ext cx="5079873" cy="81448"/>
          </a:xfrm>
          <a:prstGeom prst="rect">
            <a:avLst/>
          </a:prstGeom>
        </p:spPr>
      </p:pic>
      <p:pic>
        <p:nvPicPr>
          <p:cNvPr id="12" name="Image 10" descr="https://images.unsplash.com/photo-1686061594183-8c864f508b00?crop=entropy&amp;cs=tinysrgb&amp;fit=max&amp;fm=jpg&amp;ixid=M3w2Njc0MzZ8MHwxfHNlYXJjaHwxfHxkYXRhX2FuYWx5c2lzfGVufDB8fHx8MTc2OTAwMjE0MHww&amp;ixlib=rb-4.1.0&amp;q=80&amp;w=1080"/>
          <p:cNvPicPr>
            <a:picLocks noChangeAspect="1"/>
          </p:cNvPicPr>
          <p:nvPr/>
        </p:nvPicPr>
        <p:blipFill>
          <a:blip r:embed="rId10"/>
          <a:srcRect/>
          <a:stretch/>
        </p:blipFill>
        <p:spPr>
          <a:xfrm>
            <a:off x="8127797" y="761981"/>
            <a:ext cx="3301917" cy="5333867"/>
          </a:xfrm>
          <a:prstGeom prst="rect">
            <a:avLst/>
          </a:prstGeom>
        </p:spPr>
      </p:pic>
      <p:pic>
        <p:nvPicPr>
          <p:cNvPr id="13" name="Image 11" descr="preencoded.png"/>
          <p:cNvPicPr>
            <a:picLocks noChangeAspect="1"/>
          </p:cNvPicPr>
          <p:nvPr/>
        </p:nvPicPr>
        <p:blipFill>
          <a:blip r:embed="rId11"/>
          <a:stretch>
            <a:fillRect/>
          </a:stretch>
        </p:blipFill>
        <p:spPr>
          <a:xfrm>
            <a:off x="292093" y="304792"/>
            <a:ext cx="812780" cy="812780"/>
          </a:xfrm>
          <a:prstGeom prst="rect">
            <a:avLst/>
          </a:prstGeom>
        </p:spPr>
      </p:pic>
      <p:pic>
        <p:nvPicPr>
          <p:cNvPr id="14" name="Image 12" descr="preencoded.png"/>
          <p:cNvPicPr>
            <a:picLocks noChangeAspect="1"/>
          </p:cNvPicPr>
          <p:nvPr/>
        </p:nvPicPr>
        <p:blipFill>
          <a:blip r:embed="rId11"/>
          <a:stretch>
            <a:fillRect/>
          </a:stretch>
        </p:blipFill>
        <p:spPr>
          <a:xfrm>
            <a:off x="292093" y="304792"/>
            <a:ext cx="812780" cy="812780"/>
          </a:xfrm>
          <a:prstGeom prst="rect">
            <a:avLst/>
          </a:prstGeom>
        </p:spPr>
      </p:pic>
      <p:pic>
        <p:nvPicPr>
          <p:cNvPr id="15" name="Image 13" descr="preencoded.png"/>
          <p:cNvPicPr>
            <a:picLocks noChangeAspect="1"/>
          </p:cNvPicPr>
          <p:nvPr/>
        </p:nvPicPr>
        <p:blipFill>
          <a:blip r:embed="rId12"/>
          <a:stretch>
            <a:fillRect/>
          </a:stretch>
        </p:blipFill>
        <p:spPr>
          <a:xfrm>
            <a:off x="0" y="0"/>
            <a:ext cx="12145975" cy="101597"/>
          </a:xfrm>
          <a:prstGeom prst="rect">
            <a:avLst/>
          </a:prstGeom>
        </p:spPr>
      </p:pic>
      <p:pic>
        <p:nvPicPr>
          <p:cNvPr id="16" name="Image 14" descr="preencoded.png"/>
          <p:cNvPicPr>
            <a:picLocks noChangeAspect="1"/>
          </p:cNvPicPr>
          <p:nvPr/>
        </p:nvPicPr>
        <p:blipFill>
          <a:blip r:embed="rId12"/>
          <a:stretch>
            <a:fillRect/>
          </a:stretch>
        </p:blipFill>
        <p:spPr>
          <a:xfrm>
            <a:off x="0" y="0"/>
            <a:ext cx="12145975" cy="101597"/>
          </a:xfrm>
          <a:prstGeom prst="rect">
            <a:avLst/>
          </a:prstGeom>
        </p:spPr>
      </p:pic>
      <p:sp>
        <p:nvSpPr>
          <p:cNvPr id="17" name="Text 0"/>
          <p:cNvSpPr/>
          <p:nvPr/>
        </p:nvSpPr>
        <p:spPr>
          <a:xfrm>
            <a:off x="355591" y="1422364"/>
            <a:ext cx="7111822" cy="1777956"/>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F172A"/>
                </a:solidFill>
                <a:latin typeface="Calibri" pitchFamily="34" charset="0"/>
                <a:ea typeface="Calibri" pitchFamily="34" charset="-122"/>
                <a:cs typeface="Calibri" pitchFamily="34" charset="-120"/>
              </a:rPr>
              <a:t>Introduction to Data Analysis
</a:t>
            </a:r>
            <a:endParaRPr lang="en-US" sz="2900" dirty="0"/>
          </a:p>
        </p:txBody>
      </p:sp>
      <p:sp>
        <p:nvSpPr>
          <p:cNvPr id="18" name="Text 1"/>
          <p:cNvSpPr/>
          <p:nvPr/>
        </p:nvSpPr>
        <p:spPr>
          <a:xfrm>
            <a:off x="330192" y="2628834"/>
            <a:ext cx="6603835" cy="2933627"/>
          </a:xfrm>
          <a:prstGeom prst="rect">
            <a:avLst/>
          </a:prstGeom>
          <a:noFill/>
          <a:ln/>
        </p:spPr>
        <p:txBody>
          <a:bodyPr wrap="square" lIns="1016" tIns="1016" rIns="1016" bIns="1016" rtlCol="0" anchor="t"/>
          <a:lstStyle/>
          <a:p>
            <a:pPr marL="0" indent="0" algn="l">
              <a:lnSpc>
                <a:spcPct val="150000"/>
              </a:lnSpc>
              <a:buNone/>
            </a:pPr>
            <a:r>
              <a:rPr lang="en-US" sz="1300" dirty="0">
                <a:solidFill>
                  <a:srgbClr val="64748B"/>
                </a:solidFill>
                <a:latin typeface="Calibri" pitchFamily="34" charset="0"/>
                <a:ea typeface="Calibri" pitchFamily="34" charset="-122"/>
                <a:cs typeface="Calibri" pitchFamily="34" charset="-120"/>
              </a:rPr>
              <a:t>Data analysis is a systematic approach to interpreting complex datasets, enabling organizations to make informed decisions. By leveraging statistical techniques and tools, businesses can uncover trends, patterns, and insights that drive strategic initiatives. In 2023, 90% of companies reported improved decision-making through data analysis, highlighting its critical role in today’s data-driven landscape. This presentation will explore various aspects of data analysis, from types of data to visualization techniques.
</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1269968"/>
            <a:ext cx="3256197" cy="4444889"/>
          </a:xfrm>
          <a:prstGeom prst="rect">
            <a:avLst/>
          </a:prstGeom>
        </p:spPr>
      </p:pic>
      <p:pic>
        <p:nvPicPr>
          <p:cNvPr id="3" name="Image 1" descr="preencoded.png"/>
          <p:cNvPicPr>
            <a:picLocks noChangeAspect="1"/>
          </p:cNvPicPr>
          <p:nvPr/>
        </p:nvPicPr>
        <p:blipFill>
          <a:blip r:embed="rId3"/>
          <a:stretch>
            <a:fillRect/>
          </a:stretch>
        </p:blipFill>
        <p:spPr>
          <a:xfrm>
            <a:off x="8889778" y="-1269968"/>
            <a:ext cx="3256197" cy="4444889"/>
          </a:xfrm>
          <a:prstGeom prst="rect">
            <a:avLst/>
          </a:prstGeom>
        </p:spPr>
      </p:pic>
      <p:pic>
        <p:nvPicPr>
          <p:cNvPr id="4" name="Image 2"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5" name="Image 3"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6" name="Image 4" descr="preencoded.png"/>
          <p:cNvPicPr>
            <a:picLocks noChangeAspect="1"/>
          </p:cNvPicPr>
          <p:nvPr/>
        </p:nvPicPr>
        <p:blipFill>
          <a:blip r:embed="rId5"/>
          <a:stretch>
            <a:fillRect/>
          </a:stretch>
        </p:blipFill>
        <p:spPr>
          <a:xfrm>
            <a:off x="0" y="1269968"/>
            <a:ext cx="63498" cy="4444889"/>
          </a:xfrm>
          <a:prstGeom prst="rect">
            <a:avLst/>
          </a:prstGeom>
        </p:spPr>
      </p:pic>
      <p:pic>
        <p:nvPicPr>
          <p:cNvPr id="7" name="Image 5" descr="preencoded.png"/>
          <p:cNvPicPr>
            <a:picLocks noChangeAspect="1"/>
          </p:cNvPicPr>
          <p:nvPr/>
        </p:nvPicPr>
        <p:blipFill>
          <a:blip r:embed="rId5"/>
          <a:stretch>
            <a:fillRect/>
          </a:stretch>
        </p:blipFill>
        <p:spPr>
          <a:xfrm>
            <a:off x="0" y="1269968"/>
            <a:ext cx="63498" cy="4444889"/>
          </a:xfrm>
          <a:prstGeom prst="rect">
            <a:avLst/>
          </a:prstGeom>
        </p:spPr>
      </p:pic>
      <p:pic>
        <p:nvPicPr>
          <p:cNvPr id="8" name="Image 6" descr="preencoded.png"/>
          <p:cNvPicPr>
            <a:picLocks noChangeAspect="1"/>
          </p:cNvPicPr>
          <p:nvPr/>
        </p:nvPicPr>
        <p:blipFill>
          <a:blip r:embed="rId6"/>
          <a:stretch>
            <a:fillRect/>
          </a:stretch>
        </p:blipFill>
        <p:spPr>
          <a:xfrm>
            <a:off x="10413740" y="6286343"/>
            <a:ext cx="1269968" cy="431789"/>
          </a:xfrm>
          <a:prstGeom prst="rect">
            <a:avLst/>
          </a:prstGeom>
        </p:spPr>
      </p:pic>
      <p:pic>
        <p:nvPicPr>
          <p:cNvPr id="9" name="Image 7" descr="preencoded.png"/>
          <p:cNvPicPr>
            <a:picLocks noChangeAspect="1"/>
          </p:cNvPicPr>
          <p:nvPr/>
        </p:nvPicPr>
        <p:blipFill>
          <a:blip r:embed="rId7"/>
          <a:stretch>
            <a:fillRect/>
          </a:stretch>
        </p:blipFill>
        <p:spPr>
          <a:xfrm>
            <a:off x="0" y="0"/>
            <a:ext cx="12145975" cy="76198"/>
          </a:xfrm>
          <a:prstGeom prst="rect">
            <a:avLst/>
          </a:prstGeom>
        </p:spPr>
      </p:pic>
      <p:pic>
        <p:nvPicPr>
          <p:cNvPr id="10" name="Image 8" descr="preencoded.png"/>
          <p:cNvPicPr>
            <a:picLocks noChangeAspect="1"/>
          </p:cNvPicPr>
          <p:nvPr/>
        </p:nvPicPr>
        <p:blipFill>
          <a:blip r:embed="rId7"/>
          <a:stretch>
            <a:fillRect/>
          </a:stretch>
        </p:blipFill>
        <p:spPr>
          <a:xfrm>
            <a:off x="0" y="0"/>
            <a:ext cx="12145975" cy="76198"/>
          </a:xfrm>
          <a:prstGeom prst="rect">
            <a:avLst/>
          </a:prstGeom>
        </p:spPr>
      </p:pic>
      <p:sp>
        <p:nvSpPr>
          <p:cNvPr id="11" name="Text 0"/>
          <p:cNvSpPr/>
          <p:nvPr/>
        </p:nvSpPr>
        <p:spPr>
          <a:xfrm>
            <a:off x="761981" y="507987"/>
            <a:ext cx="10667733" cy="76198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F172A"/>
                </a:solidFill>
                <a:latin typeface="Calibri" pitchFamily="34" charset="0"/>
                <a:ea typeface="Calibri" pitchFamily="34" charset="-122"/>
                <a:cs typeface="Calibri" pitchFamily="34" charset="-120"/>
              </a:rPr>
              <a:t>Purpose of Data Analysis
</a:t>
            </a:r>
            <a:endParaRPr lang="en-US" sz="2900" dirty="0"/>
          </a:p>
        </p:txBody>
      </p:sp>
      <p:sp>
        <p:nvSpPr>
          <p:cNvPr id="12" name="Text 1"/>
          <p:cNvSpPr/>
          <p:nvPr/>
        </p:nvSpPr>
        <p:spPr>
          <a:xfrm>
            <a:off x="761981" y="1849074"/>
            <a:ext cx="203195" cy="380990"/>
          </a:xfrm>
          <a:prstGeom prst="rect">
            <a:avLst/>
          </a:prstGeom>
          <a:noFill/>
          <a:ln/>
        </p:spPr>
        <p:txBody>
          <a:bodyPr wrap="square" lIns="0" tIns="0" rIns="0" bIns="0" rtlCol="0" anchor="t"/>
          <a:lstStyle/>
          <a:p>
            <a:pPr marL="0" indent="0" algn="l">
              <a:lnSpc>
                <a:spcPct val="130000"/>
              </a:lnSpc>
              <a:buNone/>
            </a:pPr>
            <a:r>
              <a:rPr lang="en-US" sz="1400" b="1" dirty="0">
                <a:solidFill>
                  <a:srgbClr val="3B82F6"/>
                </a:solidFill>
                <a:latin typeface="Calibri" pitchFamily="34" charset="0"/>
                <a:ea typeface="Calibri" pitchFamily="34" charset="-122"/>
                <a:cs typeface="Calibri" pitchFamily="34" charset="-120"/>
              </a:rPr>
              <a:t>•
</a:t>
            </a:r>
            <a:endParaRPr lang="en-US" sz="1400" dirty="0"/>
          </a:p>
        </p:txBody>
      </p:sp>
      <p:sp>
        <p:nvSpPr>
          <p:cNvPr id="13" name="Text 2"/>
          <p:cNvSpPr/>
          <p:nvPr/>
        </p:nvSpPr>
        <p:spPr>
          <a:xfrm>
            <a:off x="1079473" y="1798275"/>
            <a:ext cx="10350241" cy="380990"/>
          </a:xfrm>
          <a:prstGeom prst="rect">
            <a:avLst/>
          </a:prstGeom>
          <a:noFill/>
          <a:ln/>
        </p:spPr>
        <p:txBody>
          <a:bodyPr wrap="square" lIns="0" tIns="0" rIns="0" bIns="0" rtlCol="0" anchor="t"/>
          <a:lstStyle/>
          <a:p>
            <a:pPr marL="0" indent="0" algn="l">
              <a:lnSpc>
                <a:spcPct val="120000"/>
              </a:lnSpc>
              <a:buNone/>
            </a:pPr>
            <a:r>
              <a:rPr lang="en-US" sz="1400" b="1" dirty="0">
                <a:solidFill>
                  <a:srgbClr val="0F172A"/>
                </a:solidFill>
                <a:latin typeface="Calibri" pitchFamily="34" charset="0"/>
                <a:ea typeface="Calibri" pitchFamily="34" charset="-122"/>
                <a:cs typeface="Calibri" pitchFamily="34" charset="-120"/>
              </a:rPr>
              <a:t>Informed Decision-Making
</a:t>
            </a:r>
            <a:endParaRPr lang="en-US" sz="1400" dirty="0"/>
          </a:p>
        </p:txBody>
      </p:sp>
      <p:sp>
        <p:nvSpPr>
          <p:cNvPr id="14" name="Text 3"/>
          <p:cNvSpPr/>
          <p:nvPr/>
        </p:nvSpPr>
        <p:spPr>
          <a:xfrm>
            <a:off x="1079473" y="2166566"/>
            <a:ext cx="10350241" cy="1066773"/>
          </a:xfrm>
          <a:prstGeom prst="rect">
            <a:avLst/>
          </a:prstGeom>
          <a:noFill/>
          <a:ln/>
        </p:spPr>
        <p:txBody>
          <a:bodyPr wrap="square" lIns="0" tIns="0" rIns="0" bIns="0" rtlCol="0" anchor="t"/>
          <a:lstStyle/>
          <a:p>
            <a:pPr marL="0" indent="0" algn="l">
              <a:lnSpc>
                <a:spcPct val="150000"/>
              </a:lnSpc>
              <a:buNone/>
            </a:pPr>
            <a:r>
              <a:rPr lang="en-US" sz="1300" dirty="0">
                <a:solidFill>
                  <a:srgbClr val="64748B"/>
                </a:solidFill>
                <a:latin typeface="Calibri" pitchFamily="34" charset="0"/>
                <a:ea typeface="Calibri" pitchFamily="34" charset="-122"/>
                <a:cs typeface="Calibri" pitchFamily="34" charset="-120"/>
              </a:rPr>
              <a:t>Data analysis empowers organizations to make informed decisions, leveraging evidence-based insights that enhance strategic planning and operational effectiveness.
</a:t>
            </a:r>
            <a:endParaRPr lang="en-US" sz="1300" dirty="0"/>
          </a:p>
        </p:txBody>
      </p:sp>
      <p:sp>
        <p:nvSpPr>
          <p:cNvPr id="15" name="Text 4"/>
          <p:cNvSpPr/>
          <p:nvPr/>
        </p:nvSpPr>
        <p:spPr>
          <a:xfrm>
            <a:off x="761981" y="2974266"/>
            <a:ext cx="203195" cy="380990"/>
          </a:xfrm>
          <a:prstGeom prst="rect">
            <a:avLst/>
          </a:prstGeom>
          <a:noFill/>
          <a:ln/>
        </p:spPr>
        <p:txBody>
          <a:bodyPr wrap="square" lIns="0" tIns="0" rIns="0" bIns="0" rtlCol="0" anchor="t"/>
          <a:lstStyle/>
          <a:p>
            <a:pPr marL="0" indent="0" algn="l">
              <a:lnSpc>
                <a:spcPct val="130000"/>
              </a:lnSpc>
              <a:buNone/>
            </a:pPr>
            <a:r>
              <a:rPr lang="en-US" sz="1400" b="1" dirty="0">
                <a:solidFill>
                  <a:srgbClr val="3B82F6"/>
                </a:solidFill>
                <a:latin typeface="Calibri" pitchFamily="34" charset="0"/>
                <a:ea typeface="Calibri" pitchFamily="34" charset="-122"/>
                <a:cs typeface="Calibri" pitchFamily="34" charset="-120"/>
              </a:rPr>
              <a:t>•
</a:t>
            </a:r>
            <a:endParaRPr lang="en-US" sz="1400" dirty="0"/>
          </a:p>
        </p:txBody>
      </p:sp>
      <p:sp>
        <p:nvSpPr>
          <p:cNvPr id="16" name="Text 5"/>
          <p:cNvSpPr/>
          <p:nvPr/>
        </p:nvSpPr>
        <p:spPr>
          <a:xfrm>
            <a:off x="1079473" y="2923467"/>
            <a:ext cx="10350241" cy="380990"/>
          </a:xfrm>
          <a:prstGeom prst="rect">
            <a:avLst/>
          </a:prstGeom>
          <a:noFill/>
          <a:ln/>
        </p:spPr>
        <p:txBody>
          <a:bodyPr wrap="square" lIns="0" tIns="0" rIns="0" bIns="0" rtlCol="0" anchor="t"/>
          <a:lstStyle/>
          <a:p>
            <a:pPr marL="0" indent="0" algn="l">
              <a:lnSpc>
                <a:spcPct val="120000"/>
              </a:lnSpc>
              <a:buNone/>
            </a:pPr>
            <a:r>
              <a:rPr lang="en-US" sz="1400" b="1" dirty="0">
                <a:solidFill>
                  <a:srgbClr val="0F172A"/>
                </a:solidFill>
                <a:latin typeface="Calibri" pitchFamily="34" charset="0"/>
                <a:ea typeface="Calibri" pitchFamily="34" charset="-122"/>
                <a:cs typeface="Calibri" pitchFamily="34" charset="-120"/>
              </a:rPr>
              <a:t>Identifying Trends
</a:t>
            </a:r>
            <a:endParaRPr lang="en-US" sz="1400" dirty="0"/>
          </a:p>
        </p:txBody>
      </p:sp>
      <p:sp>
        <p:nvSpPr>
          <p:cNvPr id="17" name="Text 6"/>
          <p:cNvSpPr/>
          <p:nvPr/>
        </p:nvSpPr>
        <p:spPr>
          <a:xfrm>
            <a:off x="1079473" y="3291758"/>
            <a:ext cx="10350241" cy="1066773"/>
          </a:xfrm>
          <a:prstGeom prst="rect">
            <a:avLst/>
          </a:prstGeom>
          <a:noFill/>
          <a:ln/>
        </p:spPr>
        <p:txBody>
          <a:bodyPr wrap="square" lIns="0" tIns="0" rIns="0" bIns="0" rtlCol="0" anchor="t"/>
          <a:lstStyle/>
          <a:p>
            <a:pPr marL="0" indent="0" algn="l">
              <a:lnSpc>
                <a:spcPct val="150000"/>
              </a:lnSpc>
              <a:buNone/>
            </a:pPr>
            <a:r>
              <a:rPr lang="en-US" sz="1300" dirty="0">
                <a:solidFill>
                  <a:srgbClr val="64748B"/>
                </a:solidFill>
                <a:latin typeface="Calibri" pitchFamily="34" charset="0"/>
                <a:ea typeface="Calibri" pitchFamily="34" charset="-122"/>
                <a:cs typeface="Calibri" pitchFamily="34" charset="-120"/>
              </a:rPr>
              <a:t>Through data analysis, businesses can identify trends and patterns, enabling them to adapt strategies and improve market positioning based on real-time insights.
</a:t>
            </a:r>
            <a:endParaRPr lang="en-US" sz="1300" dirty="0"/>
          </a:p>
        </p:txBody>
      </p:sp>
      <p:sp>
        <p:nvSpPr>
          <p:cNvPr id="18" name="Text 7"/>
          <p:cNvSpPr/>
          <p:nvPr/>
        </p:nvSpPr>
        <p:spPr>
          <a:xfrm>
            <a:off x="761981" y="4099458"/>
            <a:ext cx="203195" cy="380990"/>
          </a:xfrm>
          <a:prstGeom prst="rect">
            <a:avLst/>
          </a:prstGeom>
          <a:noFill/>
          <a:ln/>
        </p:spPr>
        <p:txBody>
          <a:bodyPr wrap="square" lIns="0" tIns="0" rIns="0" bIns="0" rtlCol="0" anchor="t"/>
          <a:lstStyle/>
          <a:p>
            <a:pPr marL="0" indent="0" algn="l">
              <a:lnSpc>
                <a:spcPct val="130000"/>
              </a:lnSpc>
              <a:buNone/>
            </a:pPr>
            <a:r>
              <a:rPr lang="en-US" sz="1400" b="1" dirty="0">
                <a:solidFill>
                  <a:srgbClr val="3B82F6"/>
                </a:solidFill>
                <a:latin typeface="Calibri" pitchFamily="34" charset="0"/>
                <a:ea typeface="Calibri" pitchFamily="34" charset="-122"/>
                <a:cs typeface="Calibri" pitchFamily="34" charset="-120"/>
              </a:rPr>
              <a:t>•
</a:t>
            </a:r>
            <a:endParaRPr lang="en-US" sz="1400" dirty="0"/>
          </a:p>
        </p:txBody>
      </p:sp>
      <p:sp>
        <p:nvSpPr>
          <p:cNvPr id="19" name="Text 8"/>
          <p:cNvSpPr/>
          <p:nvPr/>
        </p:nvSpPr>
        <p:spPr>
          <a:xfrm>
            <a:off x="1079473" y="4048659"/>
            <a:ext cx="10350241" cy="380990"/>
          </a:xfrm>
          <a:prstGeom prst="rect">
            <a:avLst/>
          </a:prstGeom>
          <a:noFill/>
          <a:ln/>
        </p:spPr>
        <p:txBody>
          <a:bodyPr wrap="square" lIns="0" tIns="0" rIns="0" bIns="0" rtlCol="0" anchor="t"/>
          <a:lstStyle/>
          <a:p>
            <a:pPr marL="0" indent="0" algn="l">
              <a:lnSpc>
                <a:spcPct val="120000"/>
              </a:lnSpc>
              <a:buNone/>
            </a:pPr>
            <a:r>
              <a:rPr lang="en-US" sz="1400" b="1" dirty="0">
                <a:solidFill>
                  <a:srgbClr val="0F172A"/>
                </a:solidFill>
                <a:latin typeface="Calibri" pitchFamily="34" charset="0"/>
                <a:ea typeface="Calibri" pitchFamily="34" charset="-122"/>
                <a:cs typeface="Calibri" pitchFamily="34" charset="-120"/>
              </a:rPr>
              <a:t>Enhancing Efficiency
</a:t>
            </a:r>
            <a:endParaRPr lang="en-US" sz="1400" dirty="0"/>
          </a:p>
        </p:txBody>
      </p:sp>
      <p:sp>
        <p:nvSpPr>
          <p:cNvPr id="20" name="Text 9"/>
          <p:cNvSpPr/>
          <p:nvPr/>
        </p:nvSpPr>
        <p:spPr>
          <a:xfrm>
            <a:off x="1079473" y="4416950"/>
            <a:ext cx="10350241" cy="1066773"/>
          </a:xfrm>
          <a:prstGeom prst="rect">
            <a:avLst/>
          </a:prstGeom>
          <a:noFill/>
          <a:ln/>
        </p:spPr>
        <p:txBody>
          <a:bodyPr wrap="square" lIns="0" tIns="0" rIns="0" bIns="0" rtlCol="0" anchor="t"/>
          <a:lstStyle/>
          <a:p>
            <a:pPr marL="0" indent="0" algn="l">
              <a:lnSpc>
                <a:spcPct val="150000"/>
              </a:lnSpc>
              <a:buNone/>
            </a:pPr>
            <a:r>
              <a:rPr lang="en-US" sz="1300" dirty="0">
                <a:solidFill>
                  <a:srgbClr val="64748B"/>
                </a:solidFill>
                <a:latin typeface="Calibri" pitchFamily="34" charset="0"/>
                <a:ea typeface="Calibri" pitchFamily="34" charset="-122"/>
                <a:cs typeface="Calibri" pitchFamily="34" charset="-120"/>
              </a:rPr>
              <a:t>Data-driven insights can significantly enhance operational efficiency, with companies reporting up to a 20% increase in productivity through effective data utilization.
</a:t>
            </a:r>
            <a:endParaRPr lang="en-US" sz="1300" dirty="0"/>
          </a:p>
        </p:txBody>
      </p:sp>
      <p:sp>
        <p:nvSpPr>
          <p:cNvPr id="21" name="Text 10"/>
          <p:cNvSpPr/>
          <p:nvPr/>
        </p:nvSpPr>
        <p:spPr>
          <a:xfrm>
            <a:off x="761981" y="5224649"/>
            <a:ext cx="203195" cy="380990"/>
          </a:xfrm>
          <a:prstGeom prst="rect">
            <a:avLst/>
          </a:prstGeom>
          <a:noFill/>
          <a:ln/>
        </p:spPr>
        <p:txBody>
          <a:bodyPr wrap="square" lIns="0" tIns="0" rIns="0" bIns="0" rtlCol="0" anchor="t"/>
          <a:lstStyle/>
          <a:p>
            <a:pPr marL="0" indent="0" algn="l">
              <a:lnSpc>
                <a:spcPct val="130000"/>
              </a:lnSpc>
              <a:buNone/>
            </a:pPr>
            <a:r>
              <a:rPr lang="en-US" sz="1400" b="1" dirty="0">
                <a:solidFill>
                  <a:srgbClr val="3B82F6"/>
                </a:solidFill>
                <a:latin typeface="Calibri" pitchFamily="34" charset="0"/>
                <a:ea typeface="Calibri" pitchFamily="34" charset="-122"/>
                <a:cs typeface="Calibri" pitchFamily="34" charset="-120"/>
              </a:rPr>
              <a:t>•
</a:t>
            </a:r>
            <a:endParaRPr lang="en-US" sz="1400" dirty="0"/>
          </a:p>
        </p:txBody>
      </p:sp>
      <p:sp>
        <p:nvSpPr>
          <p:cNvPr id="22" name="Text 11"/>
          <p:cNvSpPr/>
          <p:nvPr/>
        </p:nvSpPr>
        <p:spPr>
          <a:xfrm>
            <a:off x="1079473" y="5173851"/>
            <a:ext cx="10350241" cy="380990"/>
          </a:xfrm>
          <a:prstGeom prst="rect">
            <a:avLst/>
          </a:prstGeom>
          <a:noFill/>
          <a:ln/>
        </p:spPr>
        <p:txBody>
          <a:bodyPr wrap="square" lIns="0" tIns="0" rIns="0" bIns="0" rtlCol="0" anchor="t"/>
          <a:lstStyle/>
          <a:p>
            <a:pPr marL="0" indent="0" algn="l">
              <a:lnSpc>
                <a:spcPct val="120000"/>
              </a:lnSpc>
              <a:buNone/>
            </a:pPr>
            <a:r>
              <a:rPr lang="en-US" sz="1400" b="1" dirty="0">
                <a:solidFill>
                  <a:srgbClr val="0F172A"/>
                </a:solidFill>
                <a:latin typeface="Calibri" pitchFamily="34" charset="0"/>
                <a:ea typeface="Calibri" pitchFamily="34" charset="-122"/>
                <a:cs typeface="Calibri" pitchFamily="34" charset="-120"/>
              </a:rPr>
              <a:t>Competitive Advantage
</a:t>
            </a:r>
            <a:endParaRPr lang="en-US" sz="1400" dirty="0"/>
          </a:p>
        </p:txBody>
      </p:sp>
      <p:sp>
        <p:nvSpPr>
          <p:cNvPr id="23" name="Text 12"/>
          <p:cNvSpPr/>
          <p:nvPr/>
        </p:nvSpPr>
        <p:spPr>
          <a:xfrm>
            <a:off x="1079473" y="5542141"/>
            <a:ext cx="10350241" cy="1066773"/>
          </a:xfrm>
          <a:prstGeom prst="rect">
            <a:avLst/>
          </a:prstGeom>
          <a:noFill/>
          <a:ln/>
        </p:spPr>
        <p:txBody>
          <a:bodyPr wrap="square" lIns="0" tIns="0" rIns="0" bIns="0" rtlCol="0" anchor="t"/>
          <a:lstStyle/>
          <a:p>
            <a:pPr marL="0" indent="0" algn="l">
              <a:lnSpc>
                <a:spcPct val="150000"/>
              </a:lnSpc>
              <a:buNone/>
            </a:pPr>
            <a:r>
              <a:rPr lang="en-US" sz="1300" dirty="0">
                <a:solidFill>
                  <a:srgbClr val="64748B"/>
                </a:solidFill>
                <a:latin typeface="Calibri" pitchFamily="34" charset="0"/>
                <a:ea typeface="Calibri" pitchFamily="34" charset="-122"/>
                <a:cs typeface="Calibri" pitchFamily="34" charset="-120"/>
              </a:rPr>
              <a:t>Understanding and leveraging data is crucial for gaining a competitive advantage, as organizations that utilize data effectively outperform their competitors by 5-6%.
</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1269968"/>
            <a:ext cx="3256197" cy="4444889"/>
          </a:xfrm>
          <a:prstGeom prst="rect">
            <a:avLst/>
          </a:prstGeom>
        </p:spPr>
      </p:pic>
      <p:pic>
        <p:nvPicPr>
          <p:cNvPr id="3" name="Image 1" descr="preencoded.png"/>
          <p:cNvPicPr>
            <a:picLocks noChangeAspect="1"/>
          </p:cNvPicPr>
          <p:nvPr/>
        </p:nvPicPr>
        <p:blipFill>
          <a:blip r:embed="rId3"/>
          <a:stretch>
            <a:fillRect/>
          </a:stretch>
        </p:blipFill>
        <p:spPr>
          <a:xfrm>
            <a:off x="8889778" y="-1269968"/>
            <a:ext cx="3256197" cy="4444889"/>
          </a:xfrm>
          <a:prstGeom prst="rect">
            <a:avLst/>
          </a:prstGeom>
        </p:spPr>
      </p:pic>
      <p:pic>
        <p:nvPicPr>
          <p:cNvPr id="4" name="Image 2"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5" name="Image 3"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6" name="Image 4" descr="preencoded.png"/>
          <p:cNvPicPr>
            <a:picLocks noChangeAspect="1"/>
          </p:cNvPicPr>
          <p:nvPr/>
        </p:nvPicPr>
        <p:blipFill>
          <a:blip r:embed="rId5"/>
          <a:stretch>
            <a:fillRect/>
          </a:stretch>
        </p:blipFill>
        <p:spPr>
          <a:xfrm>
            <a:off x="0" y="1269968"/>
            <a:ext cx="63498" cy="4444889"/>
          </a:xfrm>
          <a:prstGeom prst="rect">
            <a:avLst/>
          </a:prstGeom>
        </p:spPr>
      </p:pic>
      <p:pic>
        <p:nvPicPr>
          <p:cNvPr id="7" name="Image 5" descr="preencoded.png"/>
          <p:cNvPicPr>
            <a:picLocks noChangeAspect="1"/>
          </p:cNvPicPr>
          <p:nvPr/>
        </p:nvPicPr>
        <p:blipFill>
          <a:blip r:embed="rId5"/>
          <a:stretch>
            <a:fillRect/>
          </a:stretch>
        </p:blipFill>
        <p:spPr>
          <a:xfrm>
            <a:off x="0" y="1269968"/>
            <a:ext cx="63498" cy="4444889"/>
          </a:xfrm>
          <a:prstGeom prst="rect">
            <a:avLst/>
          </a:prstGeom>
        </p:spPr>
      </p:pic>
      <p:pic>
        <p:nvPicPr>
          <p:cNvPr id="8" name="Image 6" descr="preencoded.png"/>
          <p:cNvPicPr>
            <a:picLocks noChangeAspect="1"/>
          </p:cNvPicPr>
          <p:nvPr/>
        </p:nvPicPr>
        <p:blipFill>
          <a:blip r:embed="rId6"/>
          <a:stretch>
            <a:fillRect/>
          </a:stretch>
        </p:blipFill>
        <p:spPr>
          <a:xfrm>
            <a:off x="10413740" y="6286343"/>
            <a:ext cx="1269968" cy="431789"/>
          </a:xfrm>
          <a:prstGeom prst="rect">
            <a:avLst/>
          </a:prstGeom>
        </p:spPr>
      </p:pic>
      <p:pic>
        <p:nvPicPr>
          <p:cNvPr id="9" name="Image 7" descr="preencoded.png"/>
          <p:cNvPicPr>
            <a:picLocks noChangeAspect="1"/>
          </p:cNvPicPr>
          <p:nvPr/>
        </p:nvPicPr>
        <p:blipFill>
          <a:blip r:embed="rId7"/>
          <a:stretch>
            <a:fillRect/>
          </a:stretch>
        </p:blipFill>
        <p:spPr>
          <a:xfrm>
            <a:off x="0" y="0"/>
            <a:ext cx="12145975" cy="76198"/>
          </a:xfrm>
          <a:prstGeom prst="rect">
            <a:avLst/>
          </a:prstGeom>
        </p:spPr>
      </p:pic>
      <p:pic>
        <p:nvPicPr>
          <p:cNvPr id="10" name="Image 8" descr="preencoded.png"/>
          <p:cNvPicPr>
            <a:picLocks noChangeAspect="1"/>
          </p:cNvPicPr>
          <p:nvPr/>
        </p:nvPicPr>
        <p:blipFill>
          <a:blip r:embed="rId7"/>
          <a:stretch>
            <a:fillRect/>
          </a:stretch>
        </p:blipFill>
        <p:spPr>
          <a:xfrm>
            <a:off x="0" y="0"/>
            <a:ext cx="12145975" cy="76198"/>
          </a:xfrm>
          <a:prstGeom prst="rect">
            <a:avLst/>
          </a:prstGeom>
        </p:spPr>
      </p:pic>
      <p:sp>
        <p:nvSpPr>
          <p:cNvPr id="11" name="Text 0"/>
          <p:cNvSpPr/>
          <p:nvPr/>
        </p:nvSpPr>
        <p:spPr>
          <a:xfrm>
            <a:off x="761981" y="507987"/>
            <a:ext cx="10667733" cy="76198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F172A"/>
                </a:solidFill>
                <a:latin typeface="Calibri" pitchFamily="34" charset="0"/>
                <a:ea typeface="Calibri" pitchFamily="34" charset="-122"/>
                <a:cs typeface="Calibri" pitchFamily="34" charset="-120"/>
              </a:rPr>
              <a:t>Types of Data in Data Mining
</a:t>
            </a:r>
            <a:endParaRPr lang="en-US" sz="2900" dirty="0"/>
          </a:p>
        </p:txBody>
      </p:sp>
      <p:sp>
        <p:nvSpPr>
          <p:cNvPr id="12" name="Shape 1"/>
          <p:cNvSpPr/>
          <p:nvPr/>
        </p:nvSpPr>
        <p:spPr>
          <a:xfrm>
            <a:off x="1587460" y="1523962"/>
            <a:ext cx="38099" cy="3619538"/>
          </a:xfrm>
          <a:prstGeom prst="rect">
            <a:avLst/>
          </a:prstGeom>
          <a:solidFill>
            <a:srgbClr val="8B5CF6"/>
          </a:solidFill>
          <a:ln/>
        </p:spPr>
      </p:sp>
      <p:pic>
        <p:nvPicPr>
          <p:cNvPr id="13" name="Image 9" descr="preencoded.png"/>
          <p:cNvPicPr>
            <a:picLocks noChangeAspect="1"/>
          </p:cNvPicPr>
          <p:nvPr/>
        </p:nvPicPr>
        <p:blipFill>
          <a:blip r:embed="rId8"/>
          <a:srcRect/>
          <a:stretch/>
        </p:blipFill>
        <p:spPr>
          <a:xfrm>
            <a:off x="1396965" y="1320767"/>
            <a:ext cx="406390" cy="406390"/>
          </a:xfrm>
          <a:prstGeom prst="rect">
            <a:avLst/>
          </a:prstGeom>
        </p:spPr>
      </p:pic>
      <p:sp>
        <p:nvSpPr>
          <p:cNvPr id="14" name="Text 2"/>
          <p:cNvSpPr/>
          <p:nvPr/>
        </p:nvSpPr>
        <p:spPr>
          <a:xfrm>
            <a:off x="1396965" y="1320767"/>
            <a:ext cx="406390" cy="406390"/>
          </a:xfrm>
          <a:prstGeom prst="rect">
            <a:avLst/>
          </a:prstGeom>
          <a:noFill/>
          <a:ln/>
        </p:spPr>
        <p:txBody>
          <a:bodyPr wrap="square" lIns="1016" tIns="1016" rIns="1016" bIns="1016" rtlCol="0" anchor="t"/>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5" name="Text 3"/>
          <p:cNvSpPr/>
          <p:nvPr/>
        </p:nvSpPr>
        <p:spPr>
          <a:xfrm>
            <a:off x="2108147" y="1269968"/>
            <a:ext cx="8051599" cy="609585"/>
          </a:xfrm>
          <a:prstGeom prst="rect">
            <a:avLst/>
          </a:prstGeom>
          <a:noFill/>
          <a:ln/>
        </p:spPr>
        <p:txBody>
          <a:bodyPr wrap="square" lIns="0" tIns="0" rIns="0" bIns="0" rtlCol="0" anchor="t"/>
          <a:lstStyle/>
          <a:p>
            <a:pPr marL="0" indent="0" algn="l">
              <a:lnSpc>
                <a:spcPct val="130000"/>
              </a:lnSpc>
              <a:buNone/>
            </a:pPr>
            <a:r>
              <a:rPr lang="en-US" sz="1400" b="1" dirty="0">
                <a:solidFill>
                  <a:srgbClr val="0F172A"/>
                </a:solidFill>
                <a:latin typeface="Calibri" pitchFamily="34" charset="0"/>
                <a:ea typeface="Calibri" pitchFamily="34" charset="-122"/>
                <a:cs typeface="Calibri" pitchFamily="34" charset="-120"/>
              </a:rPr>
              <a:t>Quantitative Data
</a:t>
            </a:r>
            <a:endParaRPr lang="en-US" sz="1400" dirty="0"/>
          </a:p>
        </p:txBody>
      </p:sp>
      <p:sp>
        <p:nvSpPr>
          <p:cNvPr id="16" name="Text 4"/>
          <p:cNvSpPr/>
          <p:nvPr/>
        </p:nvSpPr>
        <p:spPr>
          <a:xfrm>
            <a:off x="2108147" y="1625559"/>
            <a:ext cx="8051599" cy="1015975"/>
          </a:xfrm>
          <a:prstGeom prst="rect">
            <a:avLst/>
          </a:prstGeom>
          <a:noFill/>
          <a:ln/>
        </p:spPr>
        <p:txBody>
          <a:bodyPr wrap="square" lIns="0" tIns="0" rIns="0" bIns="0" rtlCol="0" anchor="t"/>
          <a:lstStyle/>
          <a:p>
            <a:pPr marL="0" indent="0" algn="l">
              <a:lnSpc>
                <a:spcPct val="130000"/>
              </a:lnSpc>
              <a:buNone/>
            </a:pPr>
            <a:r>
              <a:rPr lang="en-US" sz="1300" dirty="0">
                <a:solidFill>
                  <a:srgbClr val="64748B"/>
                </a:solidFill>
                <a:latin typeface="Calibri" pitchFamily="34" charset="0"/>
                <a:ea typeface="Calibri" pitchFamily="34" charset="-122"/>
                <a:cs typeface="Calibri" pitchFamily="34" charset="-120"/>
              </a:rPr>
              <a:t>Quantitative data consists of numerical values that can be measured, such as sales figures, temperature readings, or population statistics, enabling precise analysis.
</a:t>
            </a:r>
            <a:endParaRPr lang="en-US" sz="1300" dirty="0"/>
          </a:p>
        </p:txBody>
      </p:sp>
      <p:pic>
        <p:nvPicPr>
          <p:cNvPr id="17" name="Image 10" descr="preencoded.png"/>
          <p:cNvPicPr>
            <a:picLocks noChangeAspect="1"/>
          </p:cNvPicPr>
          <p:nvPr/>
        </p:nvPicPr>
        <p:blipFill>
          <a:blip r:embed="rId8"/>
          <a:srcRect/>
          <a:stretch/>
        </p:blipFill>
        <p:spPr>
          <a:xfrm>
            <a:off x="1396965" y="2590735"/>
            <a:ext cx="406390" cy="406390"/>
          </a:xfrm>
          <a:prstGeom prst="rect">
            <a:avLst/>
          </a:prstGeom>
        </p:spPr>
      </p:pic>
      <p:sp>
        <p:nvSpPr>
          <p:cNvPr id="18" name="Text 5"/>
          <p:cNvSpPr/>
          <p:nvPr/>
        </p:nvSpPr>
        <p:spPr>
          <a:xfrm>
            <a:off x="1396965" y="2590735"/>
            <a:ext cx="406390" cy="406390"/>
          </a:xfrm>
          <a:prstGeom prst="rect">
            <a:avLst/>
          </a:prstGeom>
          <a:noFill/>
          <a:ln/>
        </p:spPr>
        <p:txBody>
          <a:bodyPr wrap="square" lIns="1016" tIns="1016" rIns="1016" bIns="1016" rtlCol="0" anchor="t"/>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9" name="Text 6"/>
          <p:cNvSpPr/>
          <p:nvPr/>
        </p:nvSpPr>
        <p:spPr>
          <a:xfrm>
            <a:off x="2108147" y="2539937"/>
            <a:ext cx="8051599" cy="609585"/>
          </a:xfrm>
          <a:prstGeom prst="rect">
            <a:avLst/>
          </a:prstGeom>
          <a:noFill/>
          <a:ln/>
        </p:spPr>
        <p:txBody>
          <a:bodyPr wrap="square" lIns="0" tIns="0" rIns="0" bIns="0" rtlCol="0" anchor="t"/>
          <a:lstStyle/>
          <a:p>
            <a:pPr marL="0" indent="0" algn="l">
              <a:lnSpc>
                <a:spcPct val="130000"/>
              </a:lnSpc>
              <a:buNone/>
            </a:pPr>
            <a:r>
              <a:rPr lang="en-US" sz="1400" b="1" dirty="0">
                <a:solidFill>
                  <a:srgbClr val="0F172A"/>
                </a:solidFill>
                <a:latin typeface="Calibri" pitchFamily="34" charset="0"/>
                <a:ea typeface="Calibri" pitchFamily="34" charset="-122"/>
                <a:cs typeface="Calibri" pitchFamily="34" charset="-120"/>
              </a:rPr>
              <a:t>Qualitative Data
</a:t>
            </a:r>
            <a:endParaRPr lang="en-US" sz="1400" dirty="0"/>
          </a:p>
        </p:txBody>
      </p:sp>
      <p:sp>
        <p:nvSpPr>
          <p:cNvPr id="20" name="Text 7"/>
          <p:cNvSpPr/>
          <p:nvPr/>
        </p:nvSpPr>
        <p:spPr>
          <a:xfrm>
            <a:off x="2108147" y="2895528"/>
            <a:ext cx="8051599" cy="1015975"/>
          </a:xfrm>
          <a:prstGeom prst="rect">
            <a:avLst/>
          </a:prstGeom>
          <a:noFill/>
          <a:ln/>
        </p:spPr>
        <p:txBody>
          <a:bodyPr wrap="square" lIns="0" tIns="0" rIns="0" bIns="0" rtlCol="0" anchor="t"/>
          <a:lstStyle/>
          <a:p>
            <a:pPr marL="0" indent="0" algn="l">
              <a:lnSpc>
                <a:spcPct val="130000"/>
              </a:lnSpc>
              <a:buNone/>
            </a:pPr>
            <a:r>
              <a:rPr lang="en-US" sz="1300" dirty="0">
                <a:solidFill>
                  <a:srgbClr val="64748B"/>
                </a:solidFill>
                <a:latin typeface="Calibri" pitchFamily="34" charset="0"/>
                <a:ea typeface="Calibri" pitchFamily="34" charset="-122"/>
                <a:cs typeface="Calibri" pitchFamily="34" charset="-120"/>
              </a:rPr>
              <a:t>Qualitative data includes descriptive attributes and characteristics, such as customer feedback or product reviews, providing insights into user experiences and preferences.
</a:t>
            </a:r>
            <a:endParaRPr lang="en-US" sz="1300" dirty="0"/>
          </a:p>
        </p:txBody>
      </p:sp>
      <p:pic>
        <p:nvPicPr>
          <p:cNvPr id="21" name="Image 11" descr="preencoded.png"/>
          <p:cNvPicPr>
            <a:picLocks noChangeAspect="1"/>
          </p:cNvPicPr>
          <p:nvPr/>
        </p:nvPicPr>
        <p:blipFill>
          <a:blip r:embed="rId8"/>
          <a:srcRect/>
          <a:stretch/>
        </p:blipFill>
        <p:spPr>
          <a:xfrm>
            <a:off x="1396965" y="3860703"/>
            <a:ext cx="406390" cy="406390"/>
          </a:xfrm>
          <a:prstGeom prst="rect">
            <a:avLst/>
          </a:prstGeom>
        </p:spPr>
      </p:pic>
      <p:sp>
        <p:nvSpPr>
          <p:cNvPr id="22" name="Text 8"/>
          <p:cNvSpPr/>
          <p:nvPr/>
        </p:nvSpPr>
        <p:spPr>
          <a:xfrm>
            <a:off x="1396965" y="3860703"/>
            <a:ext cx="406390" cy="406390"/>
          </a:xfrm>
          <a:prstGeom prst="rect">
            <a:avLst/>
          </a:prstGeom>
          <a:noFill/>
          <a:ln/>
        </p:spPr>
        <p:txBody>
          <a:bodyPr wrap="square" lIns="1016" tIns="1016" rIns="1016" bIns="1016" rtlCol="0" anchor="t"/>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3" name="Text 9"/>
          <p:cNvSpPr/>
          <p:nvPr/>
        </p:nvSpPr>
        <p:spPr>
          <a:xfrm>
            <a:off x="2108147" y="3809905"/>
            <a:ext cx="8051599" cy="609585"/>
          </a:xfrm>
          <a:prstGeom prst="rect">
            <a:avLst/>
          </a:prstGeom>
          <a:noFill/>
          <a:ln/>
        </p:spPr>
        <p:txBody>
          <a:bodyPr wrap="square" lIns="0" tIns="0" rIns="0" bIns="0" rtlCol="0" anchor="t"/>
          <a:lstStyle/>
          <a:p>
            <a:pPr marL="0" indent="0" algn="l">
              <a:lnSpc>
                <a:spcPct val="130000"/>
              </a:lnSpc>
              <a:buNone/>
            </a:pPr>
            <a:r>
              <a:rPr lang="en-US" sz="1400" b="1" dirty="0">
                <a:solidFill>
                  <a:srgbClr val="0F172A"/>
                </a:solidFill>
                <a:latin typeface="Calibri" pitchFamily="34" charset="0"/>
                <a:ea typeface="Calibri" pitchFamily="34" charset="-122"/>
                <a:cs typeface="Calibri" pitchFamily="34" charset="-120"/>
              </a:rPr>
              <a:t>Patterns in Data Mining
</a:t>
            </a:r>
            <a:endParaRPr lang="en-US" sz="1400" dirty="0"/>
          </a:p>
        </p:txBody>
      </p:sp>
      <p:sp>
        <p:nvSpPr>
          <p:cNvPr id="24" name="Text 10"/>
          <p:cNvSpPr/>
          <p:nvPr/>
        </p:nvSpPr>
        <p:spPr>
          <a:xfrm>
            <a:off x="2108147" y="4165496"/>
            <a:ext cx="8051599" cy="1015975"/>
          </a:xfrm>
          <a:prstGeom prst="rect">
            <a:avLst/>
          </a:prstGeom>
          <a:noFill/>
          <a:ln/>
        </p:spPr>
        <p:txBody>
          <a:bodyPr wrap="square" lIns="0" tIns="0" rIns="0" bIns="0" rtlCol="0" anchor="t"/>
          <a:lstStyle/>
          <a:p>
            <a:pPr marL="0" indent="0" algn="l">
              <a:lnSpc>
                <a:spcPct val="130000"/>
              </a:lnSpc>
              <a:buNone/>
            </a:pPr>
            <a:r>
              <a:rPr lang="en-US" sz="1300" dirty="0">
                <a:solidFill>
                  <a:srgbClr val="64748B"/>
                </a:solidFill>
                <a:latin typeface="Calibri" pitchFamily="34" charset="0"/>
                <a:ea typeface="Calibri" pitchFamily="34" charset="-122"/>
                <a:cs typeface="Calibri" pitchFamily="34" charset="-120"/>
              </a:rPr>
              <a:t>Data mining uncovers patterns like correlations and anomalies, which can reveal hidden relationships, trends, and insights that drive strategic decision-making.
</a:t>
            </a:r>
            <a:endParaRPr lang="en-US" sz="1300" dirty="0"/>
          </a:p>
        </p:txBody>
      </p:sp>
      <p:pic>
        <p:nvPicPr>
          <p:cNvPr id="25" name="Image 12" descr="preencoded.png"/>
          <p:cNvPicPr>
            <a:picLocks noChangeAspect="1"/>
          </p:cNvPicPr>
          <p:nvPr/>
        </p:nvPicPr>
        <p:blipFill>
          <a:blip r:embed="rId9"/>
          <a:srcRect/>
          <a:stretch/>
        </p:blipFill>
        <p:spPr>
          <a:xfrm>
            <a:off x="1396965" y="5130672"/>
            <a:ext cx="406390" cy="12828"/>
          </a:xfrm>
          <a:prstGeom prst="rect">
            <a:avLst/>
          </a:prstGeom>
        </p:spPr>
      </p:pic>
      <p:sp>
        <p:nvSpPr>
          <p:cNvPr id="26" name="Text 11"/>
          <p:cNvSpPr/>
          <p:nvPr/>
        </p:nvSpPr>
        <p:spPr>
          <a:xfrm>
            <a:off x="1396965" y="5130672"/>
            <a:ext cx="406390" cy="406390"/>
          </a:xfrm>
          <a:prstGeom prst="rect">
            <a:avLst/>
          </a:prstGeom>
          <a:noFill/>
          <a:ln/>
        </p:spPr>
        <p:txBody>
          <a:bodyPr wrap="square" lIns="1016" tIns="1016" rIns="1016" bIns="1016" rtlCol="0" anchor="t"/>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7" name="Text 12"/>
          <p:cNvSpPr/>
          <p:nvPr/>
        </p:nvSpPr>
        <p:spPr>
          <a:xfrm>
            <a:off x="2108147" y="5079873"/>
            <a:ext cx="8051599" cy="609585"/>
          </a:xfrm>
          <a:prstGeom prst="rect">
            <a:avLst/>
          </a:prstGeom>
          <a:noFill/>
          <a:ln/>
        </p:spPr>
        <p:txBody>
          <a:bodyPr wrap="square" lIns="0" tIns="0" rIns="0" bIns="0" rtlCol="0" anchor="t"/>
          <a:lstStyle/>
          <a:p>
            <a:pPr marL="0" indent="0" algn="l">
              <a:lnSpc>
                <a:spcPct val="130000"/>
              </a:lnSpc>
              <a:buNone/>
            </a:pPr>
            <a:r>
              <a:rPr lang="en-US" sz="1400" b="1" dirty="0">
                <a:solidFill>
                  <a:srgbClr val="0F172A"/>
                </a:solidFill>
                <a:latin typeface="Calibri" pitchFamily="34" charset="0"/>
                <a:ea typeface="Calibri" pitchFamily="34" charset="-122"/>
                <a:cs typeface="Calibri" pitchFamily="34" charset="-120"/>
              </a:rPr>
              <a:t>Importance of Data Types
</a:t>
            </a:r>
            <a:endParaRPr lang="en-US" sz="1400" dirty="0"/>
          </a:p>
        </p:txBody>
      </p:sp>
      <p:sp>
        <p:nvSpPr>
          <p:cNvPr id="28" name="Text 13"/>
          <p:cNvSpPr/>
          <p:nvPr/>
        </p:nvSpPr>
        <p:spPr>
          <a:xfrm>
            <a:off x="2108147" y="5435464"/>
            <a:ext cx="8051599" cy="1015975"/>
          </a:xfrm>
          <a:prstGeom prst="rect">
            <a:avLst/>
          </a:prstGeom>
          <a:noFill/>
          <a:ln/>
        </p:spPr>
        <p:txBody>
          <a:bodyPr wrap="square" lIns="0" tIns="0" rIns="0" bIns="0" rtlCol="0" anchor="t"/>
          <a:lstStyle/>
          <a:p>
            <a:pPr marL="0" indent="0" algn="l">
              <a:lnSpc>
                <a:spcPct val="130000"/>
              </a:lnSpc>
              <a:buNone/>
            </a:pPr>
            <a:r>
              <a:rPr lang="en-US" sz="1300" dirty="0">
                <a:solidFill>
                  <a:srgbClr val="64748B"/>
                </a:solidFill>
                <a:latin typeface="Calibri" pitchFamily="34" charset="0"/>
                <a:ea typeface="Calibri" pitchFamily="34" charset="-122"/>
                <a:cs typeface="Calibri" pitchFamily="34" charset="-120"/>
              </a:rPr>
              <a:t>Understanding data types is crucial for effective analysis, as it influences the choice of analytical methods and tools, ensuring accurate and meaningful results.
</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1269968"/>
            <a:ext cx="3256197" cy="4444889"/>
          </a:xfrm>
          <a:prstGeom prst="rect">
            <a:avLst/>
          </a:prstGeom>
        </p:spPr>
      </p:pic>
      <p:pic>
        <p:nvPicPr>
          <p:cNvPr id="3" name="Image 1" descr="preencoded.png"/>
          <p:cNvPicPr>
            <a:picLocks noChangeAspect="1"/>
          </p:cNvPicPr>
          <p:nvPr/>
        </p:nvPicPr>
        <p:blipFill>
          <a:blip r:embed="rId3"/>
          <a:stretch>
            <a:fillRect/>
          </a:stretch>
        </p:blipFill>
        <p:spPr>
          <a:xfrm>
            <a:off x="8889778" y="-1269968"/>
            <a:ext cx="3256197" cy="4444889"/>
          </a:xfrm>
          <a:prstGeom prst="rect">
            <a:avLst/>
          </a:prstGeom>
        </p:spPr>
      </p:pic>
      <p:pic>
        <p:nvPicPr>
          <p:cNvPr id="4" name="Image 2"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5" name="Image 3"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6" name="Image 4" descr="preencoded.png"/>
          <p:cNvPicPr>
            <a:picLocks noChangeAspect="1"/>
          </p:cNvPicPr>
          <p:nvPr/>
        </p:nvPicPr>
        <p:blipFill>
          <a:blip r:embed="rId5"/>
          <a:stretch>
            <a:fillRect/>
          </a:stretch>
        </p:blipFill>
        <p:spPr>
          <a:xfrm>
            <a:off x="0" y="1269968"/>
            <a:ext cx="63498" cy="4444889"/>
          </a:xfrm>
          <a:prstGeom prst="rect">
            <a:avLst/>
          </a:prstGeom>
        </p:spPr>
      </p:pic>
      <p:pic>
        <p:nvPicPr>
          <p:cNvPr id="7" name="Image 5" descr="preencoded.png"/>
          <p:cNvPicPr>
            <a:picLocks noChangeAspect="1"/>
          </p:cNvPicPr>
          <p:nvPr/>
        </p:nvPicPr>
        <p:blipFill>
          <a:blip r:embed="rId5"/>
          <a:stretch>
            <a:fillRect/>
          </a:stretch>
        </p:blipFill>
        <p:spPr>
          <a:xfrm>
            <a:off x="0" y="1269968"/>
            <a:ext cx="63498" cy="4444889"/>
          </a:xfrm>
          <a:prstGeom prst="rect">
            <a:avLst/>
          </a:prstGeom>
        </p:spPr>
      </p:pic>
      <p:pic>
        <p:nvPicPr>
          <p:cNvPr id="8" name="Image 6" descr="preencoded.png"/>
          <p:cNvPicPr>
            <a:picLocks noChangeAspect="1"/>
          </p:cNvPicPr>
          <p:nvPr/>
        </p:nvPicPr>
        <p:blipFill>
          <a:blip r:embed="rId6"/>
          <a:stretch>
            <a:fillRect/>
          </a:stretch>
        </p:blipFill>
        <p:spPr>
          <a:xfrm>
            <a:off x="10413740" y="6286343"/>
            <a:ext cx="1269968" cy="431789"/>
          </a:xfrm>
          <a:prstGeom prst="rect">
            <a:avLst/>
          </a:prstGeom>
        </p:spPr>
      </p:pic>
      <p:pic>
        <p:nvPicPr>
          <p:cNvPr id="9" name="Image 7" descr="preencoded.png"/>
          <p:cNvPicPr>
            <a:picLocks noChangeAspect="1"/>
          </p:cNvPicPr>
          <p:nvPr/>
        </p:nvPicPr>
        <p:blipFill>
          <a:blip r:embed="rId7"/>
          <a:stretch>
            <a:fillRect/>
          </a:stretch>
        </p:blipFill>
        <p:spPr>
          <a:xfrm>
            <a:off x="0" y="0"/>
            <a:ext cx="12145975" cy="76198"/>
          </a:xfrm>
          <a:prstGeom prst="rect">
            <a:avLst/>
          </a:prstGeom>
        </p:spPr>
      </p:pic>
      <p:pic>
        <p:nvPicPr>
          <p:cNvPr id="10" name="Image 8" descr="preencoded.png"/>
          <p:cNvPicPr>
            <a:picLocks noChangeAspect="1"/>
          </p:cNvPicPr>
          <p:nvPr/>
        </p:nvPicPr>
        <p:blipFill>
          <a:blip r:embed="rId7"/>
          <a:stretch>
            <a:fillRect/>
          </a:stretch>
        </p:blipFill>
        <p:spPr>
          <a:xfrm>
            <a:off x="0" y="0"/>
            <a:ext cx="12145975" cy="76198"/>
          </a:xfrm>
          <a:prstGeom prst="rect">
            <a:avLst/>
          </a:prstGeom>
        </p:spPr>
      </p:pic>
      <p:sp>
        <p:nvSpPr>
          <p:cNvPr id="11" name="Text 0"/>
          <p:cNvSpPr/>
          <p:nvPr/>
        </p:nvSpPr>
        <p:spPr>
          <a:xfrm>
            <a:off x="761981" y="507987"/>
            <a:ext cx="10667733" cy="76198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F172A"/>
                </a:solidFill>
                <a:latin typeface="Calibri" pitchFamily="34" charset="0"/>
                <a:ea typeface="Calibri" pitchFamily="34" charset="-122"/>
                <a:cs typeface="Calibri" pitchFamily="34" charset="-120"/>
              </a:rPr>
              <a:t>Understanding Data Attributes
</a:t>
            </a:r>
            <a:endParaRPr lang="en-US" sz="2900" dirty="0"/>
          </a:p>
        </p:txBody>
      </p:sp>
      <p:pic>
        <p:nvPicPr>
          <p:cNvPr id="12" name="Image 9" descr="preencoded.png"/>
          <p:cNvPicPr>
            <a:picLocks noChangeAspect="1"/>
          </p:cNvPicPr>
          <p:nvPr/>
        </p:nvPicPr>
        <p:blipFill>
          <a:blip r:embed="rId8"/>
          <a:stretch>
            <a:fillRect/>
          </a:stretch>
        </p:blipFill>
        <p:spPr>
          <a:xfrm>
            <a:off x="761981" y="1849074"/>
            <a:ext cx="571486" cy="444489"/>
          </a:xfrm>
          <a:prstGeom prst="rect">
            <a:avLst/>
          </a:prstGeom>
        </p:spPr>
      </p:pic>
      <p:sp>
        <p:nvSpPr>
          <p:cNvPr id="13" name="Text 1"/>
          <p:cNvSpPr/>
          <p:nvPr/>
        </p:nvSpPr>
        <p:spPr>
          <a:xfrm>
            <a:off x="1587460" y="1798275"/>
            <a:ext cx="9842254" cy="380990"/>
          </a:xfrm>
          <a:prstGeom prst="rect">
            <a:avLst/>
          </a:prstGeom>
          <a:noFill/>
          <a:ln/>
        </p:spPr>
        <p:txBody>
          <a:bodyPr wrap="square" lIns="0" tIns="0" rIns="0" bIns="0" rtlCol="0" anchor="t"/>
          <a:lstStyle/>
          <a:p>
            <a:pPr marL="0" indent="0" algn="l">
              <a:lnSpc>
                <a:spcPct val="120000"/>
              </a:lnSpc>
              <a:buNone/>
            </a:pPr>
            <a:r>
              <a:rPr lang="en-US" sz="1400" b="1" dirty="0">
                <a:solidFill>
                  <a:srgbClr val="3B82F6"/>
                </a:solidFill>
                <a:latin typeface="Calibri" pitchFamily="34" charset="0"/>
                <a:ea typeface="Calibri" pitchFamily="34" charset="-122"/>
                <a:cs typeface="Calibri" pitchFamily="34" charset="-120"/>
              </a:rPr>
              <a:t>NOMINAL DATA
</a:t>
            </a:r>
            <a:endParaRPr lang="en-US" sz="1400" dirty="0"/>
          </a:p>
        </p:txBody>
      </p:sp>
      <p:sp>
        <p:nvSpPr>
          <p:cNvPr id="14" name="Text 2"/>
          <p:cNvSpPr/>
          <p:nvPr/>
        </p:nvSpPr>
        <p:spPr>
          <a:xfrm>
            <a:off x="1587460" y="2204665"/>
            <a:ext cx="9842254" cy="800080"/>
          </a:xfrm>
          <a:prstGeom prst="rect">
            <a:avLst/>
          </a:prstGeom>
          <a:noFill/>
          <a:ln/>
        </p:spPr>
        <p:txBody>
          <a:bodyPr wrap="square" lIns="0" tIns="0" rIns="0" bIns="0" rtlCol="0" anchor="t"/>
          <a:lstStyle/>
          <a:p>
            <a:pPr marL="0" indent="0" algn="l">
              <a:lnSpc>
                <a:spcPct val="150000"/>
              </a:lnSpc>
              <a:buNone/>
            </a:pPr>
            <a:r>
              <a:rPr lang="en-US" sz="1300" dirty="0">
                <a:solidFill>
                  <a:srgbClr val="64748B"/>
                </a:solidFill>
                <a:latin typeface="Calibri" pitchFamily="34" charset="0"/>
                <a:ea typeface="Calibri" pitchFamily="34" charset="-122"/>
                <a:cs typeface="Calibri" pitchFamily="34" charset="-120"/>
              </a:rPr>
              <a:t>Nominal data categorizes items without any order, such as gender or color. It is essential for classification tasks in data analysis.
</a:t>
            </a:r>
            <a:endParaRPr lang="en-US" sz="1300" dirty="0"/>
          </a:p>
        </p:txBody>
      </p:sp>
      <p:pic>
        <p:nvPicPr>
          <p:cNvPr id="15" name="Image 10" descr="preencoded.png"/>
          <p:cNvPicPr>
            <a:picLocks noChangeAspect="1"/>
          </p:cNvPicPr>
          <p:nvPr/>
        </p:nvPicPr>
        <p:blipFill>
          <a:blip r:embed="rId8"/>
          <a:stretch>
            <a:fillRect/>
          </a:stretch>
        </p:blipFill>
        <p:spPr>
          <a:xfrm>
            <a:off x="761981" y="2986965"/>
            <a:ext cx="571486" cy="444489"/>
          </a:xfrm>
          <a:prstGeom prst="rect">
            <a:avLst/>
          </a:prstGeom>
        </p:spPr>
      </p:pic>
      <p:sp>
        <p:nvSpPr>
          <p:cNvPr id="16" name="Text 3"/>
          <p:cNvSpPr/>
          <p:nvPr/>
        </p:nvSpPr>
        <p:spPr>
          <a:xfrm>
            <a:off x="1587460" y="2936167"/>
            <a:ext cx="9842254" cy="380990"/>
          </a:xfrm>
          <a:prstGeom prst="rect">
            <a:avLst/>
          </a:prstGeom>
          <a:noFill/>
          <a:ln/>
        </p:spPr>
        <p:txBody>
          <a:bodyPr wrap="square" lIns="0" tIns="0" rIns="0" bIns="0" rtlCol="0" anchor="t"/>
          <a:lstStyle/>
          <a:p>
            <a:pPr marL="0" indent="0" algn="l">
              <a:lnSpc>
                <a:spcPct val="120000"/>
              </a:lnSpc>
              <a:buNone/>
            </a:pPr>
            <a:r>
              <a:rPr lang="en-US" sz="1400" b="1" dirty="0">
                <a:solidFill>
                  <a:srgbClr val="3B82F6"/>
                </a:solidFill>
                <a:latin typeface="Calibri" pitchFamily="34" charset="0"/>
                <a:ea typeface="Calibri" pitchFamily="34" charset="-122"/>
                <a:cs typeface="Calibri" pitchFamily="34" charset="-120"/>
              </a:rPr>
              <a:t>ORDINAL DATA
</a:t>
            </a:r>
            <a:endParaRPr lang="en-US" sz="1400" dirty="0"/>
          </a:p>
        </p:txBody>
      </p:sp>
      <p:sp>
        <p:nvSpPr>
          <p:cNvPr id="17" name="Text 4"/>
          <p:cNvSpPr/>
          <p:nvPr/>
        </p:nvSpPr>
        <p:spPr>
          <a:xfrm>
            <a:off x="1587460" y="3342556"/>
            <a:ext cx="9842254" cy="800080"/>
          </a:xfrm>
          <a:prstGeom prst="rect">
            <a:avLst/>
          </a:prstGeom>
          <a:noFill/>
          <a:ln/>
        </p:spPr>
        <p:txBody>
          <a:bodyPr wrap="square" lIns="0" tIns="0" rIns="0" bIns="0" rtlCol="0" anchor="t"/>
          <a:lstStyle/>
          <a:p>
            <a:pPr marL="0" indent="0" algn="l">
              <a:lnSpc>
                <a:spcPct val="150000"/>
              </a:lnSpc>
              <a:buNone/>
            </a:pPr>
            <a:r>
              <a:rPr lang="en-US" sz="1300" dirty="0">
                <a:solidFill>
                  <a:srgbClr val="64748B"/>
                </a:solidFill>
                <a:latin typeface="Calibri" pitchFamily="34" charset="0"/>
                <a:ea typeface="Calibri" pitchFamily="34" charset="-122"/>
                <a:cs typeface="Calibri" pitchFamily="34" charset="-120"/>
              </a:rPr>
              <a:t>Ordinal data has a defined order, like customer satisfaction ratings. However, the intervals between ranks are not uniform, complicating analysis.
</a:t>
            </a:r>
            <a:endParaRPr lang="en-US" sz="1300" dirty="0"/>
          </a:p>
        </p:txBody>
      </p:sp>
      <p:pic>
        <p:nvPicPr>
          <p:cNvPr id="18" name="Image 11" descr="preencoded.png"/>
          <p:cNvPicPr>
            <a:picLocks noChangeAspect="1"/>
          </p:cNvPicPr>
          <p:nvPr/>
        </p:nvPicPr>
        <p:blipFill>
          <a:blip r:embed="rId9"/>
          <a:stretch>
            <a:fillRect/>
          </a:stretch>
        </p:blipFill>
        <p:spPr>
          <a:xfrm>
            <a:off x="761981" y="4124857"/>
            <a:ext cx="571486" cy="444489"/>
          </a:xfrm>
          <a:prstGeom prst="rect">
            <a:avLst/>
          </a:prstGeom>
        </p:spPr>
      </p:pic>
      <p:sp>
        <p:nvSpPr>
          <p:cNvPr id="19" name="Text 5"/>
          <p:cNvSpPr/>
          <p:nvPr/>
        </p:nvSpPr>
        <p:spPr>
          <a:xfrm>
            <a:off x="1587460" y="4074058"/>
            <a:ext cx="9842254" cy="380990"/>
          </a:xfrm>
          <a:prstGeom prst="rect">
            <a:avLst/>
          </a:prstGeom>
          <a:noFill/>
          <a:ln/>
        </p:spPr>
        <p:txBody>
          <a:bodyPr wrap="square" lIns="0" tIns="0" rIns="0" bIns="0" rtlCol="0" anchor="t"/>
          <a:lstStyle/>
          <a:p>
            <a:pPr marL="0" indent="0" algn="l">
              <a:lnSpc>
                <a:spcPct val="120000"/>
              </a:lnSpc>
              <a:buNone/>
            </a:pPr>
            <a:r>
              <a:rPr lang="en-US" sz="1400" b="1" dirty="0">
                <a:solidFill>
                  <a:srgbClr val="8B5CF6"/>
                </a:solidFill>
                <a:latin typeface="Calibri" pitchFamily="34" charset="0"/>
                <a:ea typeface="Calibri" pitchFamily="34" charset="-122"/>
                <a:cs typeface="Calibri" pitchFamily="34" charset="-120"/>
              </a:rPr>
              <a:t>INTERVAL DATA
</a:t>
            </a:r>
            <a:endParaRPr lang="en-US" sz="1400" dirty="0"/>
          </a:p>
        </p:txBody>
      </p:sp>
      <p:sp>
        <p:nvSpPr>
          <p:cNvPr id="20" name="Text 6"/>
          <p:cNvSpPr/>
          <p:nvPr/>
        </p:nvSpPr>
        <p:spPr>
          <a:xfrm>
            <a:off x="1587460" y="4480448"/>
            <a:ext cx="9842254" cy="800080"/>
          </a:xfrm>
          <a:prstGeom prst="rect">
            <a:avLst/>
          </a:prstGeom>
          <a:noFill/>
          <a:ln/>
        </p:spPr>
        <p:txBody>
          <a:bodyPr wrap="square" lIns="0" tIns="0" rIns="0" bIns="0" rtlCol="0" anchor="t"/>
          <a:lstStyle/>
          <a:p>
            <a:pPr marL="0" indent="0" algn="l">
              <a:lnSpc>
                <a:spcPct val="150000"/>
              </a:lnSpc>
              <a:buNone/>
            </a:pPr>
            <a:r>
              <a:rPr lang="en-US" sz="1300" dirty="0">
                <a:solidFill>
                  <a:srgbClr val="64748B"/>
                </a:solidFill>
                <a:latin typeface="Calibri" pitchFamily="34" charset="0"/>
                <a:ea typeface="Calibri" pitchFamily="34" charset="-122"/>
                <a:cs typeface="Calibri" pitchFamily="34" charset="-120"/>
              </a:rPr>
              <a:t>Interval data, such as temperature in Celsius, has meaningful differences between values but lacks a true zero point, limiting certain calculations.
</a:t>
            </a:r>
            <a:endParaRPr lang="en-US" sz="1300" dirty="0"/>
          </a:p>
        </p:txBody>
      </p:sp>
      <p:pic>
        <p:nvPicPr>
          <p:cNvPr id="21" name="Image 12" descr="preencoded.png"/>
          <p:cNvPicPr>
            <a:picLocks noChangeAspect="1"/>
          </p:cNvPicPr>
          <p:nvPr/>
        </p:nvPicPr>
        <p:blipFill>
          <a:blip r:embed="rId8"/>
          <a:stretch>
            <a:fillRect/>
          </a:stretch>
        </p:blipFill>
        <p:spPr>
          <a:xfrm>
            <a:off x="761981" y="5262748"/>
            <a:ext cx="571486" cy="444489"/>
          </a:xfrm>
          <a:prstGeom prst="rect">
            <a:avLst/>
          </a:prstGeom>
        </p:spPr>
      </p:pic>
      <p:sp>
        <p:nvSpPr>
          <p:cNvPr id="22" name="Text 7"/>
          <p:cNvSpPr/>
          <p:nvPr/>
        </p:nvSpPr>
        <p:spPr>
          <a:xfrm>
            <a:off x="1587460" y="5211950"/>
            <a:ext cx="9842254" cy="380990"/>
          </a:xfrm>
          <a:prstGeom prst="rect">
            <a:avLst/>
          </a:prstGeom>
          <a:noFill/>
          <a:ln/>
        </p:spPr>
        <p:txBody>
          <a:bodyPr wrap="square" lIns="0" tIns="0" rIns="0" bIns="0" rtlCol="0" anchor="t"/>
          <a:lstStyle/>
          <a:p>
            <a:pPr marL="0" indent="0" algn="l">
              <a:lnSpc>
                <a:spcPct val="120000"/>
              </a:lnSpc>
              <a:buNone/>
            </a:pPr>
            <a:r>
              <a:rPr lang="en-US" sz="1400" b="1" dirty="0">
                <a:solidFill>
                  <a:srgbClr val="3B82F6"/>
                </a:solidFill>
                <a:latin typeface="Calibri" pitchFamily="34" charset="0"/>
                <a:ea typeface="Calibri" pitchFamily="34" charset="-122"/>
                <a:cs typeface="Calibri" pitchFamily="34" charset="-120"/>
              </a:rPr>
              <a:t>RATIO DATA
</a:t>
            </a:r>
            <a:endParaRPr lang="en-US" sz="1400" dirty="0"/>
          </a:p>
        </p:txBody>
      </p:sp>
      <p:sp>
        <p:nvSpPr>
          <p:cNvPr id="23" name="Text 8"/>
          <p:cNvSpPr/>
          <p:nvPr/>
        </p:nvSpPr>
        <p:spPr>
          <a:xfrm>
            <a:off x="1587460" y="5618340"/>
            <a:ext cx="9842254" cy="800080"/>
          </a:xfrm>
          <a:prstGeom prst="rect">
            <a:avLst/>
          </a:prstGeom>
          <a:noFill/>
          <a:ln/>
        </p:spPr>
        <p:txBody>
          <a:bodyPr wrap="square" lIns="0" tIns="0" rIns="0" bIns="0" rtlCol="0" anchor="t"/>
          <a:lstStyle/>
          <a:p>
            <a:pPr marL="0" indent="0" algn="l">
              <a:lnSpc>
                <a:spcPct val="150000"/>
              </a:lnSpc>
              <a:buNone/>
            </a:pPr>
            <a:r>
              <a:rPr lang="en-US" sz="1300" dirty="0">
                <a:solidFill>
                  <a:srgbClr val="64748B"/>
                </a:solidFill>
                <a:latin typeface="Calibri" pitchFamily="34" charset="0"/>
                <a:ea typeface="Calibri" pitchFamily="34" charset="-122"/>
                <a:cs typeface="Calibri" pitchFamily="34" charset="-120"/>
              </a:rPr>
              <a:t>Ratio data includes all properties of interval data and has a true zero, allowing for a full range of mathematical operations, like weight or height.
</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904952" y="2539937"/>
            <a:ext cx="5079873" cy="4272344"/>
          </a:xfrm>
          <a:prstGeom prst="rect">
            <a:avLst/>
          </a:prstGeom>
        </p:spPr>
      </p:pic>
      <p:pic>
        <p:nvPicPr>
          <p:cNvPr id="3" name="Image 1" descr="preencoded.png"/>
          <p:cNvPicPr>
            <a:picLocks noChangeAspect="1"/>
          </p:cNvPicPr>
          <p:nvPr/>
        </p:nvPicPr>
        <p:blipFill>
          <a:blip r:embed="rId3"/>
          <a:stretch>
            <a:fillRect/>
          </a:stretch>
        </p:blipFill>
        <p:spPr>
          <a:xfrm>
            <a:off x="-1904952" y="2539937"/>
            <a:ext cx="5079873" cy="4272344"/>
          </a:xfrm>
          <a:prstGeom prst="rect">
            <a:avLst/>
          </a:prstGeom>
        </p:spPr>
      </p:pic>
      <p:pic>
        <p:nvPicPr>
          <p:cNvPr id="4" name="Image 2" descr="preencoded.png"/>
          <p:cNvPicPr>
            <a:picLocks noChangeAspect="1"/>
          </p:cNvPicPr>
          <p:nvPr/>
        </p:nvPicPr>
        <p:blipFill>
          <a:blip r:embed="rId4"/>
          <a:stretch>
            <a:fillRect/>
          </a:stretch>
        </p:blipFill>
        <p:spPr>
          <a:xfrm>
            <a:off x="0" y="1142971"/>
            <a:ext cx="50799" cy="3174921"/>
          </a:xfrm>
          <a:prstGeom prst="rect">
            <a:avLst/>
          </a:prstGeom>
        </p:spPr>
      </p:pic>
      <p:pic>
        <p:nvPicPr>
          <p:cNvPr id="5" name="Image 3" descr="preencoded.png"/>
          <p:cNvPicPr>
            <a:picLocks noChangeAspect="1"/>
          </p:cNvPicPr>
          <p:nvPr/>
        </p:nvPicPr>
        <p:blipFill>
          <a:blip r:embed="rId4"/>
          <a:stretch>
            <a:fillRect/>
          </a:stretch>
        </p:blipFill>
        <p:spPr>
          <a:xfrm>
            <a:off x="0" y="1142971"/>
            <a:ext cx="50799" cy="3174921"/>
          </a:xfrm>
          <a:prstGeom prst="rect">
            <a:avLst/>
          </a:prstGeom>
        </p:spPr>
      </p:pic>
      <p:pic>
        <p:nvPicPr>
          <p:cNvPr id="6" name="Image 4" descr="preencoded.png"/>
          <p:cNvPicPr>
            <a:picLocks noChangeAspect="1"/>
          </p:cNvPicPr>
          <p:nvPr/>
        </p:nvPicPr>
        <p:blipFill>
          <a:blip r:embed="rId5"/>
          <a:stretch>
            <a:fillRect/>
          </a:stretch>
        </p:blipFill>
        <p:spPr>
          <a:xfrm>
            <a:off x="10540736" y="6286343"/>
            <a:ext cx="1142971" cy="406390"/>
          </a:xfrm>
          <a:prstGeom prst="rect">
            <a:avLst/>
          </a:prstGeom>
        </p:spPr>
      </p:pic>
      <p:pic>
        <p:nvPicPr>
          <p:cNvPr id="7" name="Image 5" descr="preencoded.png"/>
          <p:cNvPicPr>
            <a:picLocks noChangeAspect="1"/>
          </p:cNvPicPr>
          <p:nvPr/>
        </p:nvPicPr>
        <p:blipFill>
          <a:blip r:embed="rId5"/>
          <a:stretch>
            <a:fillRect/>
          </a:stretch>
        </p:blipFill>
        <p:spPr>
          <a:xfrm>
            <a:off x="10540736" y="6286343"/>
            <a:ext cx="1142971" cy="406390"/>
          </a:xfrm>
          <a:prstGeom prst="rect">
            <a:avLst/>
          </a:prstGeom>
        </p:spPr>
      </p:pic>
      <p:pic>
        <p:nvPicPr>
          <p:cNvPr id="8" name="Image 6" descr="preencoded.png"/>
          <p:cNvPicPr>
            <a:picLocks noChangeAspect="1"/>
          </p:cNvPicPr>
          <p:nvPr/>
        </p:nvPicPr>
        <p:blipFill>
          <a:blip r:embed="rId6"/>
          <a:stretch>
            <a:fillRect/>
          </a:stretch>
        </p:blipFill>
        <p:spPr>
          <a:xfrm>
            <a:off x="0" y="0"/>
            <a:ext cx="12145975" cy="76198"/>
          </a:xfrm>
          <a:prstGeom prst="rect">
            <a:avLst/>
          </a:prstGeom>
        </p:spPr>
      </p:pic>
      <p:pic>
        <p:nvPicPr>
          <p:cNvPr id="9" name="Image 7" descr="preencoded.png"/>
          <p:cNvPicPr>
            <a:picLocks noChangeAspect="1"/>
          </p:cNvPicPr>
          <p:nvPr/>
        </p:nvPicPr>
        <p:blipFill>
          <a:blip r:embed="rId6"/>
          <a:stretch>
            <a:fillRect/>
          </a:stretch>
        </p:blipFill>
        <p:spPr>
          <a:xfrm>
            <a:off x="0" y="0"/>
            <a:ext cx="12145975" cy="76198"/>
          </a:xfrm>
          <a:prstGeom prst="rect">
            <a:avLst/>
          </a:prstGeom>
        </p:spPr>
      </p:pic>
      <p:sp>
        <p:nvSpPr>
          <p:cNvPr id="10" name="Text 0"/>
          <p:cNvSpPr/>
          <p:nvPr/>
        </p:nvSpPr>
        <p:spPr>
          <a:xfrm>
            <a:off x="761981" y="1015975"/>
            <a:ext cx="10667733" cy="660383"/>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F172A"/>
                </a:solidFill>
                <a:latin typeface="Calibri" pitchFamily="34" charset="0"/>
                <a:ea typeface="Calibri" pitchFamily="34" charset="-122"/>
                <a:cs typeface="Calibri" pitchFamily="34" charset="-120"/>
              </a:rPr>
              <a:t>Importance of Data Visualization
</a:t>
            </a:r>
            <a:endParaRPr lang="en-US" sz="2900" dirty="0"/>
          </a:p>
        </p:txBody>
      </p:sp>
      <p:graphicFrame>
        <p:nvGraphicFramePr>
          <p:cNvPr id="11" name="Chart 0"/>
          <p:cNvGraphicFramePr/>
          <p:nvPr/>
        </p:nvGraphicFramePr>
        <p:xfrm>
          <a:off x="761981" y="1981150"/>
          <a:ext cx="10667733" cy="4114697"/>
        </p:xfrm>
        <a:graphic>
          <a:graphicData uri="http://schemas.openxmlformats.org/drawingml/2006/chart">
            <c:chart xmlns:c="http://schemas.openxmlformats.org/drawingml/2006/chart" xmlns:r="http://schemas.openxmlformats.org/officeDocument/2006/relationships" r:id="rId7"/>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1269968"/>
            <a:ext cx="3256197" cy="4444889"/>
          </a:xfrm>
          <a:prstGeom prst="rect">
            <a:avLst/>
          </a:prstGeom>
        </p:spPr>
      </p:pic>
      <p:pic>
        <p:nvPicPr>
          <p:cNvPr id="3" name="Image 1" descr="preencoded.png"/>
          <p:cNvPicPr>
            <a:picLocks noChangeAspect="1"/>
          </p:cNvPicPr>
          <p:nvPr/>
        </p:nvPicPr>
        <p:blipFill>
          <a:blip r:embed="rId3"/>
          <a:stretch>
            <a:fillRect/>
          </a:stretch>
        </p:blipFill>
        <p:spPr>
          <a:xfrm>
            <a:off x="8889778" y="-1269968"/>
            <a:ext cx="3256197" cy="4444889"/>
          </a:xfrm>
          <a:prstGeom prst="rect">
            <a:avLst/>
          </a:prstGeom>
        </p:spPr>
      </p:pic>
      <p:pic>
        <p:nvPicPr>
          <p:cNvPr id="4" name="Image 2"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5" name="Image 3"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6" name="Image 4" descr="preencoded.png"/>
          <p:cNvPicPr>
            <a:picLocks noChangeAspect="1"/>
          </p:cNvPicPr>
          <p:nvPr/>
        </p:nvPicPr>
        <p:blipFill>
          <a:blip r:embed="rId5"/>
          <a:stretch>
            <a:fillRect/>
          </a:stretch>
        </p:blipFill>
        <p:spPr>
          <a:xfrm>
            <a:off x="0" y="1269968"/>
            <a:ext cx="63498" cy="4444889"/>
          </a:xfrm>
          <a:prstGeom prst="rect">
            <a:avLst/>
          </a:prstGeom>
        </p:spPr>
      </p:pic>
      <p:pic>
        <p:nvPicPr>
          <p:cNvPr id="7" name="Image 5" descr="preencoded.png"/>
          <p:cNvPicPr>
            <a:picLocks noChangeAspect="1"/>
          </p:cNvPicPr>
          <p:nvPr/>
        </p:nvPicPr>
        <p:blipFill>
          <a:blip r:embed="rId5"/>
          <a:stretch>
            <a:fillRect/>
          </a:stretch>
        </p:blipFill>
        <p:spPr>
          <a:xfrm>
            <a:off x="0" y="1269968"/>
            <a:ext cx="63498" cy="4444889"/>
          </a:xfrm>
          <a:prstGeom prst="rect">
            <a:avLst/>
          </a:prstGeom>
        </p:spPr>
      </p:pic>
      <p:pic>
        <p:nvPicPr>
          <p:cNvPr id="8" name="Image 6" descr="preencoded.png"/>
          <p:cNvPicPr>
            <a:picLocks noChangeAspect="1"/>
          </p:cNvPicPr>
          <p:nvPr/>
        </p:nvPicPr>
        <p:blipFill>
          <a:blip r:embed="rId6"/>
          <a:stretch>
            <a:fillRect/>
          </a:stretch>
        </p:blipFill>
        <p:spPr>
          <a:xfrm>
            <a:off x="10413740" y="6286343"/>
            <a:ext cx="1269968" cy="431789"/>
          </a:xfrm>
          <a:prstGeom prst="rect">
            <a:avLst/>
          </a:prstGeom>
        </p:spPr>
      </p:pic>
      <p:pic>
        <p:nvPicPr>
          <p:cNvPr id="9" name="Image 7" descr="preencoded.png"/>
          <p:cNvPicPr>
            <a:picLocks noChangeAspect="1"/>
          </p:cNvPicPr>
          <p:nvPr/>
        </p:nvPicPr>
        <p:blipFill>
          <a:blip r:embed="rId7"/>
          <a:stretch>
            <a:fillRect/>
          </a:stretch>
        </p:blipFill>
        <p:spPr>
          <a:xfrm>
            <a:off x="0" y="0"/>
            <a:ext cx="12145975" cy="76198"/>
          </a:xfrm>
          <a:prstGeom prst="rect">
            <a:avLst/>
          </a:prstGeom>
        </p:spPr>
      </p:pic>
      <p:pic>
        <p:nvPicPr>
          <p:cNvPr id="10" name="Image 8" descr="preencoded.png"/>
          <p:cNvPicPr>
            <a:picLocks noChangeAspect="1"/>
          </p:cNvPicPr>
          <p:nvPr/>
        </p:nvPicPr>
        <p:blipFill>
          <a:blip r:embed="rId7"/>
          <a:stretch>
            <a:fillRect/>
          </a:stretch>
        </p:blipFill>
        <p:spPr>
          <a:xfrm>
            <a:off x="0" y="0"/>
            <a:ext cx="12145975" cy="76198"/>
          </a:xfrm>
          <a:prstGeom prst="rect">
            <a:avLst/>
          </a:prstGeom>
        </p:spPr>
      </p:pic>
      <p:sp>
        <p:nvSpPr>
          <p:cNvPr id="11" name="Text 0"/>
          <p:cNvSpPr/>
          <p:nvPr/>
        </p:nvSpPr>
        <p:spPr>
          <a:xfrm>
            <a:off x="761981" y="507987"/>
            <a:ext cx="10667733" cy="76198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F172A"/>
                </a:solidFill>
                <a:latin typeface="Calibri" pitchFamily="34" charset="0"/>
                <a:ea typeface="Calibri" pitchFamily="34" charset="-122"/>
                <a:cs typeface="Calibri" pitchFamily="34" charset="-120"/>
              </a:rPr>
              <a:t>Data Preprocessing &amp; Cleaning
</a:t>
            </a:r>
            <a:endParaRPr lang="en-US" sz="2900" dirty="0"/>
          </a:p>
        </p:txBody>
      </p:sp>
      <p:sp>
        <p:nvSpPr>
          <p:cNvPr id="12" name="Shape 1"/>
          <p:cNvSpPr/>
          <p:nvPr/>
        </p:nvSpPr>
        <p:spPr>
          <a:xfrm>
            <a:off x="1587460" y="1523962"/>
            <a:ext cx="38099" cy="3619538"/>
          </a:xfrm>
          <a:prstGeom prst="rect">
            <a:avLst/>
          </a:prstGeom>
          <a:solidFill>
            <a:srgbClr val="8B5CF6"/>
          </a:solidFill>
          <a:ln/>
        </p:spPr>
      </p:sp>
      <p:pic>
        <p:nvPicPr>
          <p:cNvPr id="13" name="Image 9" descr="preencoded.png"/>
          <p:cNvPicPr>
            <a:picLocks noChangeAspect="1"/>
          </p:cNvPicPr>
          <p:nvPr/>
        </p:nvPicPr>
        <p:blipFill>
          <a:blip r:embed="rId8"/>
          <a:srcRect/>
          <a:stretch/>
        </p:blipFill>
        <p:spPr>
          <a:xfrm>
            <a:off x="1396965" y="1320767"/>
            <a:ext cx="406390" cy="406390"/>
          </a:xfrm>
          <a:prstGeom prst="rect">
            <a:avLst/>
          </a:prstGeom>
        </p:spPr>
      </p:pic>
      <p:sp>
        <p:nvSpPr>
          <p:cNvPr id="14" name="Text 2"/>
          <p:cNvSpPr/>
          <p:nvPr/>
        </p:nvSpPr>
        <p:spPr>
          <a:xfrm>
            <a:off x="1396965" y="1320767"/>
            <a:ext cx="406390" cy="406390"/>
          </a:xfrm>
          <a:prstGeom prst="rect">
            <a:avLst/>
          </a:prstGeom>
          <a:noFill/>
          <a:ln/>
        </p:spPr>
        <p:txBody>
          <a:bodyPr wrap="square" lIns="1016" tIns="1016" rIns="1016" bIns="1016" rtlCol="0" anchor="t"/>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5" name="Text 3"/>
          <p:cNvSpPr/>
          <p:nvPr/>
        </p:nvSpPr>
        <p:spPr>
          <a:xfrm>
            <a:off x="2108147" y="1269968"/>
            <a:ext cx="8051599" cy="609585"/>
          </a:xfrm>
          <a:prstGeom prst="rect">
            <a:avLst/>
          </a:prstGeom>
          <a:noFill/>
          <a:ln/>
        </p:spPr>
        <p:txBody>
          <a:bodyPr wrap="square" lIns="0" tIns="0" rIns="0" bIns="0" rtlCol="0" anchor="t"/>
          <a:lstStyle/>
          <a:p>
            <a:pPr marL="0" indent="0" algn="l">
              <a:lnSpc>
                <a:spcPct val="130000"/>
              </a:lnSpc>
              <a:buNone/>
            </a:pPr>
            <a:r>
              <a:rPr lang="en-US" sz="1400" b="1" dirty="0">
                <a:solidFill>
                  <a:srgbClr val="0F172A"/>
                </a:solidFill>
                <a:latin typeface="Calibri" pitchFamily="34" charset="0"/>
                <a:ea typeface="Calibri" pitchFamily="34" charset="-122"/>
                <a:cs typeface="Calibri" pitchFamily="34" charset="-120"/>
              </a:rPr>
              <a:t>Importance of Data Cleaning
</a:t>
            </a:r>
            <a:endParaRPr lang="en-US" sz="1400" dirty="0"/>
          </a:p>
        </p:txBody>
      </p:sp>
      <p:sp>
        <p:nvSpPr>
          <p:cNvPr id="16" name="Text 4"/>
          <p:cNvSpPr/>
          <p:nvPr/>
        </p:nvSpPr>
        <p:spPr>
          <a:xfrm>
            <a:off x="2108147" y="1625559"/>
            <a:ext cx="8051599" cy="1015975"/>
          </a:xfrm>
          <a:prstGeom prst="rect">
            <a:avLst/>
          </a:prstGeom>
          <a:noFill/>
          <a:ln/>
        </p:spPr>
        <p:txBody>
          <a:bodyPr wrap="square" lIns="0" tIns="0" rIns="0" bIns="0" rtlCol="0" anchor="t"/>
          <a:lstStyle/>
          <a:p>
            <a:pPr marL="0" indent="0" algn="l">
              <a:lnSpc>
                <a:spcPct val="130000"/>
              </a:lnSpc>
              <a:buNone/>
            </a:pPr>
            <a:r>
              <a:rPr lang="en-US" sz="1300" dirty="0">
                <a:solidFill>
                  <a:srgbClr val="64748B"/>
                </a:solidFill>
                <a:latin typeface="Calibri" pitchFamily="34" charset="0"/>
                <a:ea typeface="Calibri" pitchFamily="34" charset="-122"/>
                <a:cs typeface="Calibri" pitchFamily="34" charset="-120"/>
              </a:rPr>
              <a:t>Data cleaning involves removing inaccuracies and inconsistencies, which can lead to more reliable analysis and better decision-making outcomes in various fields.
</a:t>
            </a:r>
            <a:endParaRPr lang="en-US" sz="1300" dirty="0"/>
          </a:p>
        </p:txBody>
      </p:sp>
      <p:pic>
        <p:nvPicPr>
          <p:cNvPr id="17" name="Image 10" descr="preencoded.png"/>
          <p:cNvPicPr>
            <a:picLocks noChangeAspect="1"/>
          </p:cNvPicPr>
          <p:nvPr/>
        </p:nvPicPr>
        <p:blipFill>
          <a:blip r:embed="rId8"/>
          <a:srcRect/>
          <a:stretch/>
        </p:blipFill>
        <p:spPr>
          <a:xfrm>
            <a:off x="1396965" y="2590735"/>
            <a:ext cx="406390" cy="406390"/>
          </a:xfrm>
          <a:prstGeom prst="rect">
            <a:avLst/>
          </a:prstGeom>
        </p:spPr>
      </p:pic>
      <p:sp>
        <p:nvSpPr>
          <p:cNvPr id="18" name="Text 5"/>
          <p:cNvSpPr/>
          <p:nvPr/>
        </p:nvSpPr>
        <p:spPr>
          <a:xfrm>
            <a:off x="1396965" y="2590735"/>
            <a:ext cx="406390" cy="406390"/>
          </a:xfrm>
          <a:prstGeom prst="rect">
            <a:avLst/>
          </a:prstGeom>
          <a:noFill/>
          <a:ln/>
        </p:spPr>
        <p:txBody>
          <a:bodyPr wrap="square" lIns="1016" tIns="1016" rIns="1016" bIns="1016" rtlCol="0" anchor="t"/>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9" name="Text 6"/>
          <p:cNvSpPr/>
          <p:nvPr/>
        </p:nvSpPr>
        <p:spPr>
          <a:xfrm>
            <a:off x="2108147" y="2539937"/>
            <a:ext cx="8051599" cy="609585"/>
          </a:xfrm>
          <a:prstGeom prst="rect">
            <a:avLst/>
          </a:prstGeom>
          <a:noFill/>
          <a:ln/>
        </p:spPr>
        <p:txBody>
          <a:bodyPr wrap="square" lIns="0" tIns="0" rIns="0" bIns="0" rtlCol="0" anchor="t"/>
          <a:lstStyle/>
          <a:p>
            <a:pPr marL="0" indent="0" algn="l">
              <a:lnSpc>
                <a:spcPct val="130000"/>
              </a:lnSpc>
              <a:buNone/>
            </a:pPr>
            <a:r>
              <a:rPr lang="en-US" sz="1400" b="1" dirty="0">
                <a:solidFill>
                  <a:srgbClr val="0F172A"/>
                </a:solidFill>
                <a:latin typeface="Calibri" pitchFamily="34" charset="0"/>
                <a:ea typeface="Calibri" pitchFamily="34" charset="-122"/>
                <a:cs typeface="Calibri" pitchFamily="34" charset="-120"/>
              </a:rPr>
              <a:t>Handling Missing Values
</a:t>
            </a:r>
            <a:endParaRPr lang="en-US" sz="1400" dirty="0"/>
          </a:p>
        </p:txBody>
      </p:sp>
      <p:sp>
        <p:nvSpPr>
          <p:cNvPr id="20" name="Text 7"/>
          <p:cNvSpPr/>
          <p:nvPr/>
        </p:nvSpPr>
        <p:spPr>
          <a:xfrm>
            <a:off x="2108147" y="2895528"/>
            <a:ext cx="8051599" cy="1015975"/>
          </a:xfrm>
          <a:prstGeom prst="rect">
            <a:avLst/>
          </a:prstGeom>
          <a:noFill/>
          <a:ln/>
        </p:spPr>
        <p:txBody>
          <a:bodyPr wrap="square" lIns="0" tIns="0" rIns="0" bIns="0" rtlCol="0" anchor="t"/>
          <a:lstStyle/>
          <a:p>
            <a:pPr marL="0" indent="0" algn="l">
              <a:lnSpc>
                <a:spcPct val="130000"/>
              </a:lnSpc>
              <a:buNone/>
            </a:pPr>
            <a:r>
              <a:rPr lang="en-US" sz="1300" dirty="0">
                <a:solidFill>
                  <a:srgbClr val="64748B"/>
                </a:solidFill>
                <a:latin typeface="Calibri" pitchFamily="34" charset="0"/>
                <a:ea typeface="Calibri" pitchFamily="34" charset="-122"/>
                <a:cs typeface="Calibri" pitchFamily="34" charset="-120"/>
              </a:rPr>
              <a:t>Addressing missing values is crucial; studies show that 20% of datasets have missing entries, which can skew results if not properly managed.
</a:t>
            </a:r>
            <a:endParaRPr lang="en-US" sz="1300" dirty="0"/>
          </a:p>
        </p:txBody>
      </p:sp>
      <p:pic>
        <p:nvPicPr>
          <p:cNvPr id="21" name="Image 11" descr="preencoded.png"/>
          <p:cNvPicPr>
            <a:picLocks noChangeAspect="1"/>
          </p:cNvPicPr>
          <p:nvPr/>
        </p:nvPicPr>
        <p:blipFill>
          <a:blip r:embed="rId8"/>
          <a:srcRect/>
          <a:stretch/>
        </p:blipFill>
        <p:spPr>
          <a:xfrm>
            <a:off x="1396965" y="3860703"/>
            <a:ext cx="406390" cy="406390"/>
          </a:xfrm>
          <a:prstGeom prst="rect">
            <a:avLst/>
          </a:prstGeom>
        </p:spPr>
      </p:pic>
      <p:sp>
        <p:nvSpPr>
          <p:cNvPr id="22" name="Text 8"/>
          <p:cNvSpPr/>
          <p:nvPr/>
        </p:nvSpPr>
        <p:spPr>
          <a:xfrm>
            <a:off x="1396965" y="3860703"/>
            <a:ext cx="406390" cy="406390"/>
          </a:xfrm>
          <a:prstGeom prst="rect">
            <a:avLst/>
          </a:prstGeom>
          <a:noFill/>
          <a:ln/>
        </p:spPr>
        <p:txBody>
          <a:bodyPr wrap="square" lIns="1016" tIns="1016" rIns="1016" bIns="1016" rtlCol="0" anchor="t"/>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3" name="Text 9"/>
          <p:cNvSpPr/>
          <p:nvPr/>
        </p:nvSpPr>
        <p:spPr>
          <a:xfrm>
            <a:off x="2108147" y="3809905"/>
            <a:ext cx="8051599" cy="609585"/>
          </a:xfrm>
          <a:prstGeom prst="rect">
            <a:avLst/>
          </a:prstGeom>
          <a:noFill/>
          <a:ln/>
        </p:spPr>
        <p:txBody>
          <a:bodyPr wrap="square" lIns="0" tIns="0" rIns="0" bIns="0" rtlCol="0" anchor="t"/>
          <a:lstStyle/>
          <a:p>
            <a:pPr marL="0" indent="0" algn="l">
              <a:lnSpc>
                <a:spcPct val="130000"/>
              </a:lnSpc>
              <a:buNone/>
            </a:pPr>
            <a:r>
              <a:rPr lang="en-US" sz="1400" b="1" dirty="0">
                <a:solidFill>
                  <a:srgbClr val="0F172A"/>
                </a:solidFill>
                <a:latin typeface="Calibri" pitchFamily="34" charset="0"/>
                <a:ea typeface="Calibri" pitchFamily="34" charset="-122"/>
                <a:cs typeface="Calibri" pitchFamily="34" charset="-120"/>
              </a:rPr>
              <a:t>Noise Removal Techniques
</a:t>
            </a:r>
            <a:endParaRPr lang="en-US" sz="1400" dirty="0"/>
          </a:p>
        </p:txBody>
      </p:sp>
      <p:sp>
        <p:nvSpPr>
          <p:cNvPr id="24" name="Text 10"/>
          <p:cNvSpPr/>
          <p:nvPr/>
        </p:nvSpPr>
        <p:spPr>
          <a:xfrm>
            <a:off x="2108147" y="4165496"/>
            <a:ext cx="8051599" cy="1015975"/>
          </a:xfrm>
          <a:prstGeom prst="rect">
            <a:avLst/>
          </a:prstGeom>
          <a:noFill/>
          <a:ln/>
        </p:spPr>
        <p:txBody>
          <a:bodyPr wrap="square" lIns="0" tIns="0" rIns="0" bIns="0" rtlCol="0" anchor="t"/>
          <a:lstStyle/>
          <a:p>
            <a:pPr marL="0" indent="0" algn="l">
              <a:lnSpc>
                <a:spcPct val="130000"/>
              </a:lnSpc>
              <a:buNone/>
            </a:pPr>
            <a:r>
              <a:rPr lang="en-US" sz="1300" dirty="0">
                <a:solidFill>
                  <a:srgbClr val="64748B"/>
                </a:solidFill>
                <a:latin typeface="Calibri" pitchFamily="34" charset="0"/>
                <a:ea typeface="Calibri" pitchFamily="34" charset="-122"/>
                <a:cs typeface="Calibri" pitchFamily="34" charset="-120"/>
              </a:rPr>
              <a:t>Noise removal enhances data quality, improving insights. Techniques like outlier detection can increase the accuracy of predictive models by up to 30%.
</a:t>
            </a:r>
            <a:endParaRPr lang="en-US" sz="1300" dirty="0"/>
          </a:p>
        </p:txBody>
      </p:sp>
      <p:pic>
        <p:nvPicPr>
          <p:cNvPr id="25" name="Image 12" descr="preencoded.png"/>
          <p:cNvPicPr>
            <a:picLocks noChangeAspect="1"/>
          </p:cNvPicPr>
          <p:nvPr/>
        </p:nvPicPr>
        <p:blipFill>
          <a:blip r:embed="rId9"/>
          <a:srcRect/>
          <a:stretch/>
        </p:blipFill>
        <p:spPr>
          <a:xfrm>
            <a:off x="1396965" y="5130672"/>
            <a:ext cx="406390" cy="12828"/>
          </a:xfrm>
          <a:prstGeom prst="rect">
            <a:avLst/>
          </a:prstGeom>
        </p:spPr>
      </p:pic>
      <p:sp>
        <p:nvSpPr>
          <p:cNvPr id="26" name="Text 11"/>
          <p:cNvSpPr/>
          <p:nvPr/>
        </p:nvSpPr>
        <p:spPr>
          <a:xfrm>
            <a:off x="1396965" y="5130672"/>
            <a:ext cx="406390" cy="406390"/>
          </a:xfrm>
          <a:prstGeom prst="rect">
            <a:avLst/>
          </a:prstGeom>
          <a:noFill/>
          <a:ln/>
        </p:spPr>
        <p:txBody>
          <a:bodyPr wrap="square" lIns="1016" tIns="1016" rIns="1016" bIns="1016" rtlCol="0" anchor="t"/>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7" name="Text 12"/>
          <p:cNvSpPr/>
          <p:nvPr/>
        </p:nvSpPr>
        <p:spPr>
          <a:xfrm>
            <a:off x="2108147" y="5079873"/>
            <a:ext cx="8051599" cy="609585"/>
          </a:xfrm>
          <a:prstGeom prst="rect">
            <a:avLst/>
          </a:prstGeom>
          <a:noFill/>
          <a:ln/>
        </p:spPr>
        <p:txBody>
          <a:bodyPr wrap="square" lIns="0" tIns="0" rIns="0" bIns="0" rtlCol="0" anchor="t"/>
          <a:lstStyle/>
          <a:p>
            <a:pPr marL="0" indent="0" algn="l">
              <a:lnSpc>
                <a:spcPct val="130000"/>
              </a:lnSpc>
              <a:buNone/>
            </a:pPr>
            <a:r>
              <a:rPr lang="en-US" sz="1400" b="1" dirty="0">
                <a:solidFill>
                  <a:srgbClr val="0F172A"/>
                </a:solidFill>
                <a:latin typeface="Calibri" pitchFamily="34" charset="0"/>
                <a:ea typeface="Calibri" pitchFamily="34" charset="-122"/>
                <a:cs typeface="Calibri" pitchFamily="34" charset="-120"/>
              </a:rPr>
              <a:t>Preprocessing for Analysis
</a:t>
            </a:r>
            <a:endParaRPr lang="en-US" sz="1400" dirty="0"/>
          </a:p>
        </p:txBody>
      </p:sp>
      <p:sp>
        <p:nvSpPr>
          <p:cNvPr id="28" name="Text 13"/>
          <p:cNvSpPr/>
          <p:nvPr/>
        </p:nvSpPr>
        <p:spPr>
          <a:xfrm>
            <a:off x="2108147" y="5435464"/>
            <a:ext cx="8051599" cy="1015975"/>
          </a:xfrm>
          <a:prstGeom prst="rect">
            <a:avLst/>
          </a:prstGeom>
          <a:noFill/>
          <a:ln/>
        </p:spPr>
        <p:txBody>
          <a:bodyPr wrap="square" lIns="0" tIns="0" rIns="0" bIns="0" rtlCol="0" anchor="t"/>
          <a:lstStyle/>
          <a:p>
            <a:pPr marL="0" indent="0" algn="l">
              <a:lnSpc>
                <a:spcPct val="130000"/>
              </a:lnSpc>
              <a:buNone/>
            </a:pPr>
            <a:r>
              <a:rPr lang="en-US" sz="1300" dirty="0">
                <a:solidFill>
                  <a:srgbClr val="64748B"/>
                </a:solidFill>
                <a:latin typeface="Calibri" pitchFamily="34" charset="0"/>
                <a:ea typeface="Calibri" pitchFamily="34" charset="-122"/>
                <a:cs typeface="Calibri" pitchFamily="34" charset="-120"/>
              </a:rPr>
              <a:t>Effective preprocessing ensures data is ready for analysis, reducing errors and improving the efficiency of data-driven decision-making processes.
</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269968" y="1269968"/>
            <a:ext cx="4444889" cy="4444889"/>
          </a:xfrm>
          <a:prstGeom prst="rect">
            <a:avLst/>
          </a:prstGeom>
        </p:spPr>
      </p:pic>
      <p:pic>
        <p:nvPicPr>
          <p:cNvPr id="3" name="Image 1" descr="preencoded.png"/>
          <p:cNvPicPr>
            <a:picLocks noChangeAspect="1"/>
          </p:cNvPicPr>
          <p:nvPr/>
        </p:nvPicPr>
        <p:blipFill>
          <a:blip r:embed="rId3"/>
          <a:stretch>
            <a:fillRect/>
          </a:stretch>
        </p:blipFill>
        <p:spPr>
          <a:xfrm>
            <a:off x="-1269968" y="1269968"/>
            <a:ext cx="4444889" cy="4444889"/>
          </a:xfrm>
          <a:prstGeom prst="rect">
            <a:avLst/>
          </a:prstGeom>
        </p:spPr>
      </p:pic>
      <p:pic>
        <p:nvPicPr>
          <p:cNvPr id="4" name="Image 2" descr="preencoded.png"/>
          <p:cNvPicPr>
            <a:picLocks noChangeAspect="1"/>
          </p:cNvPicPr>
          <p:nvPr/>
        </p:nvPicPr>
        <p:blipFill>
          <a:blip r:embed="rId4"/>
          <a:stretch>
            <a:fillRect/>
          </a:stretch>
        </p:blipFill>
        <p:spPr>
          <a:xfrm>
            <a:off x="6222844" y="888978"/>
            <a:ext cx="5333867" cy="5079873"/>
          </a:xfrm>
          <a:prstGeom prst="rect">
            <a:avLst/>
          </a:prstGeom>
        </p:spPr>
      </p:pic>
      <p:pic>
        <p:nvPicPr>
          <p:cNvPr id="5" name="Image 3" descr="preencoded.png"/>
          <p:cNvPicPr>
            <a:picLocks noChangeAspect="1"/>
          </p:cNvPicPr>
          <p:nvPr/>
        </p:nvPicPr>
        <p:blipFill>
          <a:blip r:embed="rId4"/>
          <a:stretch>
            <a:fillRect/>
          </a:stretch>
        </p:blipFill>
        <p:spPr>
          <a:xfrm>
            <a:off x="6222844" y="888978"/>
            <a:ext cx="5333867" cy="5079873"/>
          </a:xfrm>
          <a:prstGeom prst="rect">
            <a:avLst/>
          </a:prstGeom>
        </p:spPr>
      </p:pic>
      <p:pic>
        <p:nvPicPr>
          <p:cNvPr id="6" name="Image 4" descr="preencoded.png"/>
          <p:cNvPicPr>
            <a:picLocks noChangeAspect="1"/>
          </p:cNvPicPr>
          <p:nvPr/>
        </p:nvPicPr>
        <p:blipFill>
          <a:blip r:embed="rId5"/>
          <a:stretch>
            <a:fillRect/>
          </a:stretch>
        </p:blipFill>
        <p:spPr>
          <a:xfrm>
            <a:off x="4571886" y="5460863"/>
            <a:ext cx="1396965" cy="1269968"/>
          </a:xfrm>
          <a:prstGeom prst="rect">
            <a:avLst/>
          </a:prstGeom>
        </p:spPr>
      </p:pic>
      <p:pic>
        <p:nvPicPr>
          <p:cNvPr id="7" name="Image 5" descr="preencoded.png"/>
          <p:cNvPicPr>
            <a:picLocks noChangeAspect="1"/>
          </p:cNvPicPr>
          <p:nvPr/>
        </p:nvPicPr>
        <p:blipFill>
          <a:blip r:embed="rId5"/>
          <a:stretch>
            <a:fillRect/>
          </a:stretch>
        </p:blipFill>
        <p:spPr>
          <a:xfrm>
            <a:off x="4571886" y="5460863"/>
            <a:ext cx="1396965" cy="1269968"/>
          </a:xfrm>
          <a:prstGeom prst="rect">
            <a:avLst/>
          </a:prstGeom>
        </p:spPr>
      </p:pic>
      <p:pic>
        <p:nvPicPr>
          <p:cNvPr id="8" name="Image 6" descr="https://images.unsplash.com/photo-1765502318157-61d9bb6579e0?crop=entropy&amp;cs=tinysrgb&amp;fit=max&amp;fm=jpg&amp;ixid=M3w2Njc0MzZ8MHwxfHNlYXJjaHwxfHxkYXRhJTIwYW5hbHlzaXMlMjBwcm9jZXNzfGVufDB8fHx8MTc2OTAxOTUyMHww&amp;ixlib=rb-4.1.0&amp;q=80&amp;w=1080"/>
          <p:cNvPicPr>
            <a:picLocks noChangeAspect="1"/>
          </p:cNvPicPr>
          <p:nvPr/>
        </p:nvPicPr>
        <p:blipFill>
          <a:blip r:embed="rId6"/>
          <a:srcRect/>
          <a:stretch/>
        </p:blipFill>
        <p:spPr>
          <a:xfrm>
            <a:off x="6349841" y="1015975"/>
            <a:ext cx="5079873" cy="4825879"/>
          </a:xfrm>
          <a:prstGeom prst="rect">
            <a:avLst/>
          </a:prstGeom>
        </p:spPr>
      </p:pic>
      <p:pic>
        <p:nvPicPr>
          <p:cNvPr id="9" name="Image 7" descr="preencoded.png"/>
          <p:cNvPicPr>
            <a:picLocks noChangeAspect="1"/>
          </p:cNvPicPr>
          <p:nvPr/>
        </p:nvPicPr>
        <p:blipFill>
          <a:blip r:embed="rId7"/>
          <a:stretch>
            <a:fillRect/>
          </a:stretch>
        </p:blipFill>
        <p:spPr>
          <a:xfrm>
            <a:off x="0" y="380990"/>
            <a:ext cx="63498" cy="3555911"/>
          </a:xfrm>
          <a:prstGeom prst="rect">
            <a:avLst/>
          </a:prstGeom>
        </p:spPr>
      </p:pic>
      <p:pic>
        <p:nvPicPr>
          <p:cNvPr id="10" name="Image 8" descr="preencoded.png"/>
          <p:cNvPicPr>
            <a:picLocks noChangeAspect="1"/>
          </p:cNvPicPr>
          <p:nvPr/>
        </p:nvPicPr>
        <p:blipFill>
          <a:blip r:embed="rId7"/>
          <a:stretch>
            <a:fillRect/>
          </a:stretch>
        </p:blipFill>
        <p:spPr>
          <a:xfrm>
            <a:off x="0" y="380990"/>
            <a:ext cx="63498" cy="3555911"/>
          </a:xfrm>
          <a:prstGeom prst="rect">
            <a:avLst/>
          </a:prstGeom>
        </p:spPr>
      </p:pic>
      <p:sp>
        <p:nvSpPr>
          <p:cNvPr id="11" name="Text 0"/>
          <p:cNvSpPr/>
          <p:nvPr/>
        </p:nvSpPr>
        <p:spPr>
          <a:xfrm>
            <a:off x="304792" y="368291"/>
            <a:ext cx="5879953" cy="1015975"/>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F172A"/>
                </a:solidFill>
                <a:latin typeface="Calibri" pitchFamily="34" charset="0"/>
                <a:ea typeface="Calibri" pitchFamily="34" charset="-122"/>
                <a:cs typeface="Calibri" pitchFamily="34" charset="-120"/>
              </a:rPr>
              <a:t>Visual Representation of Data Analysis
</a:t>
            </a:r>
            <a:endParaRPr lang="en-US" sz="2900" dirty="0"/>
          </a:p>
        </p:txBody>
      </p:sp>
      <p:sp>
        <p:nvSpPr>
          <p:cNvPr id="12" name="Text 1"/>
          <p:cNvSpPr/>
          <p:nvPr/>
        </p:nvSpPr>
        <p:spPr>
          <a:xfrm>
            <a:off x="330192" y="2539937"/>
            <a:ext cx="5803755" cy="4272344"/>
          </a:xfrm>
          <a:prstGeom prst="rect">
            <a:avLst/>
          </a:prstGeom>
          <a:noFill/>
          <a:ln/>
        </p:spPr>
        <p:txBody>
          <a:bodyPr wrap="square" lIns="1016" tIns="1016" rIns="1016" bIns="1016" rtlCol="0" anchor="t"/>
          <a:lstStyle/>
          <a:p>
            <a:pPr marL="0" indent="0" algn="l">
              <a:lnSpc>
                <a:spcPct val="150000"/>
              </a:lnSpc>
              <a:buNone/>
            </a:pPr>
            <a:r>
              <a:rPr lang="en-US" sz="1300" dirty="0">
                <a:solidFill>
                  <a:srgbClr val="64748B"/>
                </a:solidFill>
                <a:latin typeface="Calibri" pitchFamily="34" charset="0"/>
                <a:ea typeface="Calibri" pitchFamily="34" charset="-122"/>
                <a:cs typeface="Calibri" pitchFamily="34" charset="-120"/>
              </a:rPr>
              <a:t>This visual illustrates the data analysis process, highlighting key stages such as data collection, preprocessing, analysis, and visualization. Each stage is crucial for deriving actionable insights from raw data.
</a:t>
            </a:r>
            <a:endParaRPr lang="en-US" sz="1300" dirty="0"/>
          </a:p>
        </p:txBody>
      </p:sp>
      <p:pic>
        <p:nvPicPr>
          <p:cNvPr id="13" name="Image 9" descr="preencoded.png"/>
          <p:cNvPicPr>
            <a:picLocks noChangeAspect="1"/>
          </p:cNvPicPr>
          <p:nvPr/>
        </p:nvPicPr>
        <p:blipFill>
          <a:blip r:embed="rId8"/>
          <a:stretch>
            <a:fillRect/>
          </a:stretch>
        </p:blipFill>
        <p:spPr>
          <a:xfrm>
            <a:off x="0" y="0"/>
            <a:ext cx="12145975" cy="76198"/>
          </a:xfrm>
          <a:prstGeom prst="rect">
            <a:avLst/>
          </a:prstGeom>
        </p:spPr>
      </p:pic>
      <p:pic>
        <p:nvPicPr>
          <p:cNvPr id="14" name="Image 10" descr="preencoded.png"/>
          <p:cNvPicPr>
            <a:picLocks noChangeAspect="1"/>
          </p:cNvPicPr>
          <p:nvPr/>
        </p:nvPicPr>
        <p:blipFill>
          <a:blip r:embed="rId8"/>
          <a:stretch>
            <a:fillRect/>
          </a:stretch>
        </p:blipFill>
        <p:spPr>
          <a:xfrm>
            <a:off x="0" y="0"/>
            <a:ext cx="12145975" cy="7619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444889" y="1904952"/>
            <a:ext cx="5079873" cy="4907328"/>
          </a:xfrm>
          <a:prstGeom prst="rect">
            <a:avLst/>
          </a:prstGeom>
        </p:spPr>
      </p:pic>
      <p:pic>
        <p:nvPicPr>
          <p:cNvPr id="3" name="Image 1" descr="preencoded.png"/>
          <p:cNvPicPr>
            <a:picLocks noChangeAspect="1"/>
          </p:cNvPicPr>
          <p:nvPr/>
        </p:nvPicPr>
        <p:blipFill>
          <a:blip r:embed="rId3"/>
          <a:stretch>
            <a:fillRect/>
          </a:stretch>
        </p:blipFill>
        <p:spPr>
          <a:xfrm>
            <a:off x="4444889" y="1904952"/>
            <a:ext cx="5079873" cy="4907328"/>
          </a:xfrm>
          <a:prstGeom prst="rect">
            <a:avLst/>
          </a:prstGeom>
        </p:spPr>
      </p:pic>
      <p:pic>
        <p:nvPicPr>
          <p:cNvPr id="4" name="Image 2" descr="preencoded.png"/>
          <p:cNvPicPr>
            <a:picLocks noChangeAspect="1"/>
          </p:cNvPicPr>
          <p:nvPr/>
        </p:nvPicPr>
        <p:blipFill>
          <a:blip r:embed="rId4"/>
          <a:stretch>
            <a:fillRect/>
          </a:stretch>
        </p:blipFill>
        <p:spPr>
          <a:xfrm>
            <a:off x="10413740" y="5333867"/>
            <a:ext cx="1650959" cy="1396965"/>
          </a:xfrm>
          <a:prstGeom prst="rect">
            <a:avLst/>
          </a:prstGeom>
        </p:spPr>
      </p:pic>
      <p:pic>
        <p:nvPicPr>
          <p:cNvPr id="5" name="Image 3" descr="preencoded.png"/>
          <p:cNvPicPr>
            <a:picLocks noChangeAspect="1"/>
          </p:cNvPicPr>
          <p:nvPr/>
        </p:nvPicPr>
        <p:blipFill>
          <a:blip r:embed="rId4"/>
          <a:stretch>
            <a:fillRect/>
          </a:stretch>
        </p:blipFill>
        <p:spPr>
          <a:xfrm>
            <a:off x="10413740" y="5333867"/>
            <a:ext cx="1650959" cy="1396965"/>
          </a:xfrm>
          <a:prstGeom prst="rect">
            <a:avLst/>
          </a:prstGeom>
        </p:spPr>
      </p:pic>
      <p:pic>
        <p:nvPicPr>
          <p:cNvPr id="6" name="Image 4" descr="preencoded.png"/>
          <p:cNvPicPr>
            <a:picLocks noChangeAspect="1"/>
          </p:cNvPicPr>
          <p:nvPr/>
        </p:nvPicPr>
        <p:blipFill>
          <a:blip r:embed="rId5"/>
          <a:stretch>
            <a:fillRect/>
          </a:stretch>
        </p:blipFill>
        <p:spPr>
          <a:xfrm>
            <a:off x="0" y="1142971"/>
            <a:ext cx="63498" cy="3555911"/>
          </a:xfrm>
          <a:prstGeom prst="rect">
            <a:avLst/>
          </a:prstGeom>
        </p:spPr>
      </p:pic>
      <p:pic>
        <p:nvPicPr>
          <p:cNvPr id="7" name="Image 5" descr="preencoded.png"/>
          <p:cNvPicPr>
            <a:picLocks noChangeAspect="1"/>
          </p:cNvPicPr>
          <p:nvPr/>
        </p:nvPicPr>
        <p:blipFill>
          <a:blip r:embed="rId5"/>
          <a:stretch>
            <a:fillRect/>
          </a:stretch>
        </p:blipFill>
        <p:spPr>
          <a:xfrm>
            <a:off x="0" y="1142971"/>
            <a:ext cx="63498" cy="3555911"/>
          </a:xfrm>
          <a:prstGeom prst="rect">
            <a:avLst/>
          </a:prstGeom>
        </p:spPr>
      </p:pic>
      <p:pic>
        <p:nvPicPr>
          <p:cNvPr id="8" name="Image 6" descr="preencoded.png"/>
          <p:cNvPicPr>
            <a:picLocks noChangeAspect="1"/>
          </p:cNvPicPr>
          <p:nvPr/>
        </p:nvPicPr>
        <p:blipFill>
          <a:blip r:embed="rId6"/>
          <a:stretch>
            <a:fillRect/>
          </a:stretch>
        </p:blipFill>
        <p:spPr>
          <a:xfrm>
            <a:off x="10540736" y="6286343"/>
            <a:ext cx="1142971" cy="406390"/>
          </a:xfrm>
          <a:prstGeom prst="rect">
            <a:avLst/>
          </a:prstGeom>
        </p:spPr>
      </p:pic>
      <p:pic>
        <p:nvPicPr>
          <p:cNvPr id="9" name="Image 7" descr="preencoded.png"/>
          <p:cNvPicPr>
            <a:picLocks noChangeAspect="1"/>
          </p:cNvPicPr>
          <p:nvPr/>
        </p:nvPicPr>
        <p:blipFill>
          <a:blip r:embed="rId7"/>
          <a:stretch>
            <a:fillRect/>
          </a:stretch>
        </p:blipFill>
        <p:spPr>
          <a:xfrm>
            <a:off x="0" y="0"/>
            <a:ext cx="12145975" cy="76198"/>
          </a:xfrm>
          <a:prstGeom prst="rect">
            <a:avLst/>
          </a:prstGeom>
        </p:spPr>
      </p:pic>
      <p:pic>
        <p:nvPicPr>
          <p:cNvPr id="10" name="Image 8" descr="preencoded.png"/>
          <p:cNvPicPr>
            <a:picLocks noChangeAspect="1"/>
          </p:cNvPicPr>
          <p:nvPr/>
        </p:nvPicPr>
        <p:blipFill>
          <a:blip r:embed="rId7"/>
          <a:stretch>
            <a:fillRect/>
          </a:stretch>
        </p:blipFill>
        <p:spPr>
          <a:xfrm>
            <a:off x="0" y="0"/>
            <a:ext cx="12145975" cy="76198"/>
          </a:xfrm>
          <a:prstGeom prst="rect">
            <a:avLst/>
          </a:prstGeom>
        </p:spPr>
      </p:pic>
      <p:sp>
        <p:nvSpPr>
          <p:cNvPr id="11" name="Text 0"/>
          <p:cNvSpPr/>
          <p:nvPr/>
        </p:nvSpPr>
        <p:spPr>
          <a:xfrm>
            <a:off x="761981" y="317492"/>
            <a:ext cx="10667733" cy="698483"/>
          </a:xfrm>
          <a:prstGeom prst="rect">
            <a:avLst/>
          </a:prstGeom>
          <a:noFill/>
          <a:ln/>
        </p:spPr>
        <p:txBody>
          <a:bodyPr wrap="square" lIns="1016" tIns="1016" rIns="1016" bIns="1016" rtlCol="0" anchor="t"/>
          <a:lstStyle/>
          <a:p>
            <a:pPr marL="0" indent="0" algn="l">
              <a:lnSpc>
                <a:spcPct val="130000"/>
              </a:lnSpc>
              <a:buNone/>
            </a:pPr>
            <a:r>
              <a:rPr lang="en-US" sz="2900" b="1" dirty="0">
                <a:solidFill>
                  <a:srgbClr val="0F172A"/>
                </a:solidFill>
                <a:latin typeface="Calibri" pitchFamily="34" charset="0"/>
                <a:ea typeface="Calibri" pitchFamily="34" charset="-122"/>
                <a:cs typeface="Calibri" pitchFamily="34" charset="-120"/>
              </a:rPr>
              <a:t>Transformative Impact of Data Analysis
</a:t>
            </a:r>
            <a:endParaRPr lang="en-US" sz="2900" dirty="0"/>
          </a:p>
        </p:txBody>
      </p:sp>
      <p:sp>
        <p:nvSpPr>
          <p:cNvPr id="12" name="Text 1"/>
          <p:cNvSpPr/>
          <p:nvPr/>
        </p:nvSpPr>
        <p:spPr>
          <a:xfrm>
            <a:off x="761981" y="1523962"/>
            <a:ext cx="3217253" cy="1015975"/>
          </a:xfrm>
          <a:prstGeom prst="rect">
            <a:avLst/>
          </a:prstGeom>
          <a:noFill/>
          <a:ln/>
        </p:spPr>
        <p:txBody>
          <a:bodyPr wrap="square" lIns="1016" tIns="1016" rIns="1016" bIns="1016" rtlCol="0" anchor="t"/>
          <a:lstStyle/>
          <a:p>
            <a:pPr marL="0" indent="0" algn="ctr">
              <a:lnSpc>
                <a:spcPct val="130000"/>
              </a:lnSpc>
              <a:buNone/>
            </a:pPr>
            <a:r>
              <a:rPr lang="en-US" sz="4300" b="1" dirty="0">
                <a:solidFill>
                  <a:srgbClr val="0F172A"/>
                </a:solidFill>
                <a:latin typeface="Calibri" pitchFamily="34" charset="0"/>
                <a:ea typeface="Calibri" pitchFamily="34" charset="-122"/>
                <a:cs typeface="Calibri" pitchFamily="34" charset="-120"/>
              </a:rPr>
              <a:t>5-6%
</a:t>
            </a:r>
            <a:endParaRPr lang="en-US" sz="4300" dirty="0"/>
          </a:p>
        </p:txBody>
      </p:sp>
      <p:sp>
        <p:nvSpPr>
          <p:cNvPr id="13" name="Text 2"/>
          <p:cNvSpPr/>
          <p:nvPr/>
        </p:nvSpPr>
        <p:spPr>
          <a:xfrm>
            <a:off x="761981" y="2603435"/>
            <a:ext cx="3217253" cy="380990"/>
          </a:xfrm>
          <a:prstGeom prst="rect">
            <a:avLst/>
          </a:prstGeom>
          <a:noFill/>
          <a:ln/>
        </p:spPr>
        <p:txBody>
          <a:bodyPr wrap="square" lIns="1016" tIns="1016" rIns="1016" bIns="1016" rtlCol="0" anchor="t"/>
          <a:lstStyle/>
          <a:p>
            <a:pPr marL="0" indent="0" algn="ctr">
              <a:lnSpc>
                <a:spcPct val="130000"/>
              </a:lnSpc>
              <a:buNone/>
            </a:pPr>
            <a:r>
              <a:rPr lang="en-US" sz="1600" dirty="0">
                <a:solidFill>
                  <a:srgbClr val="0F172A"/>
                </a:solidFill>
                <a:latin typeface="Calibri" pitchFamily="34" charset="0"/>
                <a:ea typeface="Calibri" pitchFamily="34" charset="-122"/>
                <a:cs typeface="Calibri" pitchFamily="34" charset="-120"/>
              </a:rPr>
              <a:t>Increase in Productivity
</a:t>
            </a:r>
            <a:endParaRPr lang="en-US" sz="1600" dirty="0"/>
          </a:p>
        </p:txBody>
      </p:sp>
      <p:sp>
        <p:nvSpPr>
          <p:cNvPr id="14" name="Text 3"/>
          <p:cNvSpPr/>
          <p:nvPr/>
        </p:nvSpPr>
        <p:spPr>
          <a:xfrm>
            <a:off x="761981" y="3047924"/>
            <a:ext cx="3217253" cy="571486"/>
          </a:xfrm>
          <a:prstGeom prst="rect">
            <a:avLst/>
          </a:prstGeom>
          <a:noFill/>
          <a:ln/>
        </p:spPr>
        <p:txBody>
          <a:bodyPr wrap="square" lIns="1016" tIns="1016" rIns="1016" bIns="1016" rtlCol="0" anchor="t"/>
          <a:lstStyle/>
          <a:p>
            <a:pPr marL="0" indent="0" algn="ctr">
              <a:lnSpc>
                <a:spcPct val="130000"/>
              </a:lnSpc>
              <a:buNone/>
            </a:pPr>
            <a:r>
              <a:rPr lang="en-US" sz="1300" dirty="0">
                <a:solidFill>
                  <a:srgbClr val="475569"/>
                </a:solidFill>
                <a:latin typeface="Calibri" pitchFamily="34" charset="0"/>
                <a:ea typeface="Calibri" pitchFamily="34" charset="-122"/>
                <a:cs typeface="Calibri" pitchFamily="34" charset="-120"/>
              </a:rPr>
              <a:t>Companies leveraging data-driven decision-making experience significant gains.
</a:t>
            </a:r>
            <a:endParaRPr lang="en-US" sz="1300" dirty="0"/>
          </a:p>
        </p:txBody>
      </p:sp>
      <p:sp>
        <p:nvSpPr>
          <p:cNvPr id="15" name="Text 4"/>
          <p:cNvSpPr/>
          <p:nvPr/>
        </p:nvSpPr>
        <p:spPr>
          <a:xfrm>
            <a:off x="4487221" y="1523962"/>
            <a:ext cx="3217253" cy="1015975"/>
          </a:xfrm>
          <a:prstGeom prst="rect">
            <a:avLst/>
          </a:prstGeom>
          <a:noFill/>
          <a:ln/>
        </p:spPr>
        <p:txBody>
          <a:bodyPr wrap="square" lIns="1016" tIns="1016" rIns="1016" bIns="1016" rtlCol="0" anchor="t"/>
          <a:lstStyle/>
          <a:p>
            <a:pPr marL="0" indent="0" algn="ctr">
              <a:lnSpc>
                <a:spcPct val="130000"/>
              </a:lnSpc>
              <a:buNone/>
            </a:pPr>
            <a:r>
              <a:rPr lang="en-US" sz="4300" b="1" dirty="0">
                <a:solidFill>
                  <a:srgbClr val="0F172A"/>
                </a:solidFill>
                <a:latin typeface="Calibri" pitchFamily="34" charset="0"/>
                <a:ea typeface="Calibri" pitchFamily="34" charset="-122"/>
                <a:cs typeface="Calibri" pitchFamily="34" charset="-120"/>
              </a:rPr>
              <a:t>20%
</a:t>
            </a:r>
            <a:endParaRPr lang="en-US" sz="4300" dirty="0"/>
          </a:p>
        </p:txBody>
      </p:sp>
      <p:sp>
        <p:nvSpPr>
          <p:cNvPr id="16" name="Text 5"/>
          <p:cNvSpPr/>
          <p:nvPr/>
        </p:nvSpPr>
        <p:spPr>
          <a:xfrm>
            <a:off x="4487221" y="2603435"/>
            <a:ext cx="3217253" cy="380990"/>
          </a:xfrm>
          <a:prstGeom prst="rect">
            <a:avLst/>
          </a:prstGeom>
          <a:noFill/>
          <a:ln/>
        </p:spPr>
        <p:txBody>
          <a:bodyPr wrap="square" lIns="1016" tIns="1016" rIns="1016" bIns="1016" rtlCol="0" anchor="t"/>
          <a:lstStyle/>
          <a:p>
            <a:pPr marL="0" indent="0" algn="ctr">
              <a:lnSpc>
                <a:spcPct val="130000"/>
              </a:lnSpc>
              <a:buNone/>
            </a:pPr>
            <a:r>
              <a:rPr lang="en-US" sz="1600" dirty="0">
                <a:solidFill>
                  <a:srgbClr val="0F172A"/>
                </a:solidFill>
                <a:latin typeface="Calibri" pitchFamily="34" charset="0"/>
                <a:ea typeface="Calibri" pitchFamily="34" charset="-122"/>
                <a:cs typeface="Calibri" pitchFamily="34" charset="-120"/>
              </a:rPr>
              <a:t>Reduction in Operational Costs
</a:t>
            </a:r>
            <a:endParaRPr lang="en-US" sz="1600" dirty="0"/>
          </a:p>
        </p:txBody>
      </p:sp>
      <p:sp>
        <p:nvSpPr>
          <p:cNvPr id="17" name="Text 6"/>
          <p:cNvSpPr/>
          <p:nvPr/>
        </p:nvSpPr>
        <p:spPr>
          <a:xfrm>
            <a:off x="4487221" y="3047924"/>
            <a:ext cx="3217253" cy="571486"/>
          </a:xfrm>
          <a:prstGeom prst="rect">
            <a:avLst/>
          </a:prstGeom>
          <a:noFill/>
          <a:ln/>
        </p:spPr>
        <p:txBody>
          <a:bodyPr wrap="square" lIns="1016" tIns="1016" rIns="1016" bIns="1016" rtlCol="0" anchor="t"/>
          <a:lstStyle/>
          <a:p>
            <a:pPr marL="0" indent="0" algn="ctr">
              <a:lnSpc>
                <a:spcPct val="130000"/>
              </a:lnSpc>
              <a:buNone/>
            </a:pPr>
            <a:r>
              <a:rPr lang="en-US" sz="1300" dirty="0">
                <a:solidFill>
                  <a:srgbClr val="475569"/>
                </a:solidFill>
                <a:latin typeface="Calibri" pitchFamily="34" charset="0"/>
                <a:ea typeface="Calibri" pitchFamily="34" charset="-122"/>
                <a:cs typeface="Calibri" pitchFamily="34" charset="-120"/>
              </a:rPr>
              <a:t>Data analysis can streamline processes and cut expenses.
</a:t>
            </a:r>
            <a:endParaRPr lang="en-US" sz="1300" dirty="0"/>
          </a:p>
        </p:txBody>
      </p:sp>
      <p:sp>
        <p:nvSpPr>
          <p:cNvPr id="18" name="Text 7"/>
          <p:cNvSpPr/>
          <p:nvPr/>
        </p:nvSpPr>
        <p:spPr>
          <a:xfrm>
            <a:off x="8212461" y="1523962"/>
            <a:ext cx="3217253" cy="1015975"/>
          </a:xfrm>
          <a:prstGeom prst="rect">
            <a:avLst/>
          </a:prstGeom>
          <a:noFill/>
          <a:ln/>
        </p:spPr>
        <p:txBody>
          <a:bodyPr wrap="square" lIns="1016" tIns="1016" rIns="1016" bIns="1016" rtlCol="0" anchor="t"/>
          <a:lstStyle/>
          <a:p>
            <a:pPr marL="0" indent="0" algn="ctr">
              <a:lnSpc>
                <a:spcPct val="130000"/>
              </a:lnSpc>
              <a:buNone/>
            </a:pPr>
            <a:r>
              <a:rPr lang="en-US" sz="4300" b="1" dirty="0">
                <a:solidFill>
                  <a:srgbClr val="0F172A"/>
                </a:solidFill>
                <a:latin typeface="Calibri" pitchFamily="34" charset="0"/>
                <a:ea typeface="Calibri" pitchFamily="34" charset="-122"/>
                <a:cs typeface="Calibri" pitchFamily="34" charset="-120"/>
              </a:rPr>
              <a:t>10%
</a:t>
            </a:r>
            <a:endParaRPr lang="en-US" sz="4300" dirty="0"/>
          </a:p>
        </p:txBody>
      </p:sp>
      <p:sp>
        <p:nvSpPr>
          <p:cNvPr id="19" name="Text 8"/>
          <p:cNvSpPr/>
          <p:nvPr/>
        </p:nvSpPr>
        <p:spPr>
          <a:xfrm>
            <a:off x="8212461" y="2603435"/>
            <a:ext cx="3217253" cy="380990"/>
          </a:xfrm>
          <a:prstGeom prst="rect">
            <a:avLst/>
          </a:prstGeom>
          <a:noFill/>
          <a:ln/>
        </p:spPr>
        <p:txBody>
          <a:bodyPr wrap="square" lIns="1016" tIns="1016" rIns="1016" bIns="1016" rtlCol="0" anchor="t"/>
          <a:lstStyle/>
          <a:p>
            <a:pPr marL="0" indent="0" algn="ctr">
              <a:lnSpc>
                <a:spcPct val="130000"/>
              </a:lnSpc>
              <a:buNone/>
            </a:pPr>
            <a:r>
              <a:rPr lang="en-US" sz="1600" dirty="0">
                <a:solidFill>
                  <a:srgbClr val="0F172A"/>
                </a:solidFill>
                <a:latin typeface="Calibri" pitchFamily="34" charset="0"/>
                <a:ea typeface="Calibri" pitchFamily="34" charset="-122"/>
                <a:cs typeface="Calibri" pitchFamily="34" charset="-120"/>
              </a:rPr>
              <a:t>Increase in Revenue
</a:t>
            </a:r>
            <a:endParaRPr lang="en-US" sz="1600" dirty="0"/>
          </a:p>
        </p:txBody>
      </p:sp>
      <p:sp>
        <p:nvSpPr>
          <p:cNvPr id="20" name="Text 9"/>
          <p:cNvSpPr/>
          <p:nvPr/>
        </p:nvSpPr>
        <p:spPr>
          <a:xfrm>
            <a:off x="8212461" y="3047924"/>
            <a:ext cx="3217253" cy="571486"/>
          </a:xfrm>
          <a:prstGeom prst="rect">
            <a:avLst/>
          </a:prstGeom>
          <a:noFill/>
          <a:ln/>
        </p:spPr>
        <p:txBody>
          <a:bodyPr wrap="square" lIns="1016" tIns="1016" rIns="1016" bIns="1016" rtlCol="0" anchor="t"/>
          <a:lstStyle/>
          <a:p>
            <a:pPr marL="0" indent="0" algn="ctr">
              <a:lnSpc>
                <a:spcPct val="130000"/>
              </a:lnSpc>
              <a:buNone/>
            </a:pPr>
            <a:r>
              <a:rPr lang="en-US" sz="1300" dirty="0">
                <a:solidFill>
                  <a:srgbClr val="475569"/>
                </a:solidFill>
                <a:latin typeface="Calibri" pitchFamily="34" charset="0"/>
                <a:ea typeface="Calibri" pitchFamily="34" charset="-122"/>
                <a:cs typeface="Calibri" pitchFamily="34" charset="-120"/>
              </a:rPr>
              <a:t>Effective data analysis strategies can boost financial performance.
</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4419490"/>
            <a:ext cx="3162221" cy="2392790"/>
          </a:xfrm>
          <a:prstGeom prst="rect">
            <a:avLst/>
          </a:prstGeom>
        </p:spPr>
      </p:pic>
      <p:pic>
        <p:nvPicPr>
          <p:cNvPr id="3" name="Image 1" descr="preencoded.png"/>
          <p:cNvPicPr>
            <a:picLocks noChangeAspect="1"/>
          </p:cNvPicPr>
          <p:nvPr/>
        </p:nvPicPr>
        <p:blipFill>
          <a:blip r:embed="rId3"/>
          <a:stretch>
            <a:fillRect/>
          </a:stretch>
        </p:blipFill>
        <p:spPr>
          <a:xfrm>
            <a:off x="0" y="4419490"/>
            <a:ext cx="3162221" cy="2392790"/>
          </a:xfrm>
          <a:prstGeom prst="rect">
            <a:avLst/>
          </a:prstGeom>
        </p:spPr>
      </p:pic>
      <p:pic>
        <p:nvPicPr>
          <p:cNvPr id="4" name="Image 2" descr="preencoded.png"/>
          <p:cNvPicPr>
            <a:picLocks noChangeAspect="1"/>
          </p:cNvPicPr>
          <p:nvPr/>
        </p:nvPicPr>
        <p:blipFill>
          <a:blip r:embed="rId4"/>
          <a:stretch>
            <a:fillRect/>
          </a:stretch>
        </p:blipFill>
        <p:spPr>
          <a:xfrm>
            <a:off x="10286743" y="2539937"/>
            <a:ext cx="1269968" cy="1777956"/>
          </a:xfrm>
          <a:prstGeom prst="rect">
            <a:avLst/>
          </a:prstGeom>
        </p:spPr>
      </p:pic>
      <p:pic>
        <p:nvPicPr>
          <p:cNvPr id="5" name="Image 3" descr="preencoded.png"/>
          <p:cNvPicPr>
            <a:picLocks noChangeAspect="1"/>
          </p:cNvPicPr>
          <p:nvPr/>
        </p:nvPicPr>
        <p:blipFill>
          <a:blip r:embed="rId5"/>
          <a:stretch>
            <a:fillRect/>
          </a:stretch>
        </p:blipFill>
        <p:spPr>
          <a:xfrm>
            <a:off x="634984" y="2539937"/>
            <a:ext cx="1269968" cy="1777956"/>
          </a:xfrm>
          <a:prstGeom prst="rect">
            <a:avLst/>
          </a:prstGeom>
        </p:spPr>
      </p:pic>
      <p:pic>
        <p:nvPicPr>
          <p:cNvPr id="6" name="Image 4" descr="preencoded.png"/>
          <p:cNvPicPr>
            <a:picLocks noChangeAspect="1"/>
          </p:cNvPicPr>
          <p:nvPr/>
        </p:nvPicPr>
        <p:blipFill>
          <a:blip r:embed="rId4"/>
          <a:stretch>
            <a:fillRect/>
          </a:stretch>
        </p:blipFill>
        <p:spPr>
          <a:xfrm>
            <a:off x="10286743" y="2539937"/>
            <a:ext cx="1269968" cy="1777956"/>
          </a:xfrm>
          <a:prstGeom prst="rect">
            <a:avLst/>
          </a:prstGeom>
        </p:spPr>
      </p:pic>
      <p:pic>
        <p:nvPicPr>
          <p:cNvPr id="7" name="Image 5" descr="preencoded.png"/>
          <p:cNvPicPr>
            <a:picLocks noChangeAspect="1"/>
          </p:cNvPicPr>
          <p:nvPr/>
        </p:nvPicPr>
        <p:blipFill>
          <a:blip r:embed="rId5"/>
          <a:stretch>
            <a:fillRect/>
          </a:stretch>
        </p:blipFill>
        <p:spPr>
          <a:xfrm>
            <a:off x="634984" y="2539937"/>
            <a:ext cx="1269968" cy="1777956"/>
          </a:xfrm>
          <a:prstGeom prst="rect">
            <a:avLst/>
          </a:prstGeom>
        </p:spPr>
      </p:pic>
      <p:pic>
        <p:nvPicPr>
          <p:cNvPr id="8" name="Image 6"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553436" y="4978276"/>
            <a:ext cx="1269968" cy="1269968"/>
          </a:xfrm>
          <a:prstGeom prst="rect">
            <a:avLst/>
          </a:prstGeom>
        </p:spPr>
      </p:pic>
      <p:pic>
        <p:nvPicPr>
          <p:cNvPr id="9" name="Image 7"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2284" y="914377"/>
            <a:ext cx="1015975" cy="1015975"/>
          </a:xfrm>
          <a:prstGeom prst="rect">
            <a:avLst/>
          </a:prstGeom>
        </p:spPr>
      </p:pic>
      <p:pic>
        <p:nvPicPr>
          <p:cNvPr id="10" name="Image 8"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553436" y="4978276"/>
            <a:ext cx="1269968" cy="1269968"/>
          </a:xfrm>
          <a:prstGeom prst="rect">
            <a:avLst/>
          </a:prstGeom>
        </p:spPr>
      </p:pic>
      <p:pic>
        <p:nvPicPr>
          <p:cNvPr id="11" name="Image 9"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2284" y="914377"/>
            <a:ext cx="1015975" cy="1015975"/>
          </a:xfrm>
          <a:prstGeom prst="rect">
            <a:avLst/>
          </a:prstGeom>
        </p:spPr>
      </p:pic>
      <p:pic>
        <p:nvPicPr>
          <p:cNvPr id="12" name="Image 10" descr="preencoded.png"/>
          <p:cNvPicPr>
            <a:picLocks noChangeAspect="1"/>
          </p:cNvPicPr>
          <p:nvPr/>
        </p:nvPicPr>
        <p:blipFill>
          <a:blip r:embed="rId10"/>
          <a:stretch>
            <a:fillRect/>
          </a:stretch>
        </p:blipFill>
        <p:spPr>
          <a:xfrm>
            <a:off x="5168771" y="355591"/>
            <a:ext cx="1727157" cy="761981"/>
          </a:xfrm>
          <a:prstGeom prst="rect">
            <a:avLst/>
          </a:prstGeom>
        </p:spPr>
      </p:pic>
      <p:pic>
        <p:nvPicPr>
          <p:cNvPr id="13" name="Image 11" descr="preencoded.png"/>
          <p:cNvPicPr>
            <a:picLocks noChangeAspect="1"/>
          </p:cNvPicPr>
          <p:nvPr/>
        </p:nvPicPr>
        <p:blipFill>
          <a:blip r:embed="rId10"/>
          <a:stretch>
            <a:fillRect/>
          </a:stretch>
        </p:blipFill>
        <p:spPr>
          <a:xfrm>
            <a:off x="5168771" y="355591"/>
            <a:ext cx="1727157" cy="761981"/>
          </a:xfrm>
          <a:prstGeom prst="rect">
            <a:avLst/>
          </a:prstGeom>
        </p:spPr>
      </p:pic>
      <p:pic>
        <p:nvPicPr>
          <p:cNvPr id="14" name="Image 12" descr="preencoded.png"/>
          <p:cNvPicPr>
            <a:picLocks noChangeAspect="1"/>
          </p:cNvPicPr>
          <p:nvPr/>
        </p:nvPicPr>
        <p:blipFill>
          <a:blip r:embed="rId11"/>
          <a:stretch>
            <a:fillRect/>
          </a:stretch>
        </p:blipFill>
        <p:spPr>
          <a:xfrm>
            <a:off x="0" y="6756231"/>
            <a:ext cx="12145975" cy="56049"/>
          </a:xfrm>
          <a:prstGeom prst="rect">
            <a:avLst/>
          </a:prstGeom>
        </p:spPr>
      </p:pic>
      <p:pic>
        <p:nvPicPr>
          <p:cNvPr id="15" name="Image 13" descr="preencoded.png"/>
          <p:cNvPicPr>
            <a:picLocks noChangeAspect="1"/>
          </p:cNvPicPr>
          <p:nvPr/>
        </p:nvPicPr>
        <p:blipFill>
          <a:blip r:embed="rId12"/>
          <a:stretch>
            <a:fillRect/>
          </a:stretch>
        </p:blipFill>
        <p:spPr>
          <a:xfrm>
            <a:off x="0" y="0"/>
            <a:ext cx="12145975" cy="101597"/>
          </a:xfrm>
          <a:prstGeom prst="rect">
            <a:avLst/>
          </a:prstGeom>
        </p:spPr>
      </p:pic>
      <p:pic>
        <p:nvPicPr>
          <p:cNvPr id="16" name="Image 14" descr="preencoded.png"/>
          <p:cNvPicPr>
            <a:picLocks noChangeAspect="1"/>
          </p:cNvPicPr>
          <p:nvPr/>
        </p:nvPicPr>
        <p:blipFill>
          <a:blip r:embed="rId11"/>
          <a:stretch>
            <a:fillRect/>
          </a:stretch>
        </p:blipFill>
        <p:spPr>
          <a:xfrm>
            <a:off x="0" y="6756231"/>
            <a:ext cx="12145975" cy="56049"/>
          </a:xfrm>
          <a:prstGeom prst="rect">
            <a:avLst/>
          </a:prstGeom>
        </p:spPr>
      </p:pic>
      <p:pic>
        <p:nvPicPr>
          <p:cNvPr id="17" name="Image 15" descr="preencoded.png"/>
          <p:cNvPicPr>
            <a:picLocks noChangeAspect="1"/>
          </p:cNvPicPr>
          <p:nvPr/>
        </p:nvPicPr>
        <p:blipFill>
          <a:blip r:embed="rId12"/>
          <a:stretch>
            <a:fillRect/>
          </a:stretch>
        </p:blipFill>
        <p:spPr>
          <a:xfrm>
            <a:off x="0" y="0"/>
            <a:ext cx="12145975" cy="101597"/>
          </a:xfrm>
          <a:prstGeom prst="rect">
            <a:avLst/>
          </a:prstGeom>
        </p:spPr>
      </p:pic>
      <p:sp>
        <p:nvSpPr>
          <p:cNvPr id="18" name="Text 0"/>
          <p:cNvSpPr/>
          <p:nvPr/>
        </p:nvSpPr>
        <p:spPr>
          <a:xfrm>
            <a:off x="2095448" y="1142971"/>
            <a:ext cx="8483388" cy="1269968"/>
          </a:xfrm>
          <a:prstGeom prst="rect">
            <a:avLst/>
          </a:prstGeom>
          <a:noFill/>
          <a:ln/>
        </p:spPr>
        <p:txBody>
          <a:bodyPr wrap="square" lIns="1016" tIns="1016" rIns="1016" bIns="1016" rtlCol="0" anchor="t"/>
          <a:lstStyle/>
          <a:p>
            <a:pPr marL="0" indent="0" algn="ctr">
              <a:lnSpc>
                <a:spcPct val="120000"/>
              </a:lnSpc>
              <a:buNone/>
            </a:pPr>
            <a:r>
              <a:rPr lang="en-US" sz="2900" b="1" dirty="0">
                <a:solidFill>
                  <a:srgbClr val="0F172A"/>
                </a:solidFill>
                <a:latin typeface="Calibri" pitchFamily="34" charset="0"/>
                <a:ea typeface="Calibri" pitchFamily="34" charset="-122"/>
                <a:cs typeface="Calibri" pitchFamily="34" charset="-120"/>
              </a:rPr>
              <a:t>Key Takeaways
</a:t>
            </a:r>
            <a:endParaRPr lang="en-US" sz="2900" dirty="0"/>
          </a:p>
        </p:txBody>
      </p:sp>
      <p:sp>
        <p:nvSpPr>
          <p:cNvPr id="19" name="Text 1"/>
          <p:cNvSpPr/>
          <p:nvPr/>
        </p:nvSpPr>
        <p:spPr>
          <a:xfrm>
            <a:off x="2349441" y="2451039"/>
            <a:ext cx="8051599" cy="3530512"/>
          </a:xfrm>
          <a:prstGeom prst="rect">
            <a:avLst/>
          </a:prstGeom>
          <a:noFill/>
          <a:ln/>
        </p:spPr>
        <p:txBody>
          <a:bodyPr wrap="square" lIns="1016" tIns="1016" rIns="1016" bIns="1016" rtlCol="0" anchor="t"/>
          <a:lstStyle/>
          <a:p>
            <a:pPr marL="0" indent="0" algn="ctr">
              <a:lnSpc>
                <a:spcPct val="150000"/>
              </a:lnSpc>
              <a:buNone/>
            </a:pPr>
            <a:r>
              <a:rPr lang="en-US" sz="1300" dirty="0">
                <a:solidFill>
                  <a:srgbClr val="64748B"/>
                </a:solidFill>
                <a:latin typeface="Calibri" pitchFamily="34" charset="0"/>
                <a:ea typeface="Calibri" pitchFamily="34" charset="-122"/>
                <a:cs typeface="Calibri" pitchFamily="34" charset="-120"/>
              </a:rPr>
              <a:t>In summary, effective data analysis hinges on understanding data types, recognizing patterns, and employing robust visualization techniques. Prioritize data cleaning to enhance accuracy. Moving forward, leverage these insights to drive informed decision-making and foster a data-driven culture within your organization. Embrace continuous learning in data analytics to stay ahead in an evolving landscape.
</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783</Words>
  <Application>Microsoft Office PowerPoint</Application>
  <PresentationFormat>Widescreen</PresentationFormat>
  <Paragraphs>83</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Prajjaval Pandey</cp:lastModifiedBy>
  <cp:revision>2</cp:revision>
  <dcterms:created xsi:type="dcterms:W3CDTF">2026-01-21T18:21:41Z</dcterms:created>
  <dcterms:modified xsi:type="dcterms:W3CDTF">2026-01-22T09:11:31Z</dcterms:modified>
</cp:coreProperties>
</file>