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51288049-bebda4e38f71" ContentType="image/photo-1551288049-bebda4e38f71"/>
  <Default Extension="photo-1526628953301-3e589a6a8b74" ContentType="image/photo-1526628953301-3e589a6a8b74"/>
  <Default Extension="photo-1705056508589-a87485825dc1" ContentType="image/photo-1705056508589-a87485825dc1"/>
  <Default Extension="photo-1518349619113-03114f06ac3a" ContentType="image/photo-1518349619113-03114f06ac3a"/>
  <Default Extension="photo-1771931322109-180bb1b35bf8" ContentType="image/photo-1771931322109-180bb1b35bf8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Growth (%)</c:v>
                </c:pt>
              </c:strCache>
            </c:strRef>
          </c:tx>
          <c:spPr>
            <a:solidFill>
              <a:srgbClr val="0A0A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0A0A"/>
                    </a:solidFill>
                    <a:latin typeface="Georgi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0A0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 2022</c:v>
                  </c:pt>
                  <c:pt idx="1">
                    <c:v>Q2 2022</c:v>
                  </c:pt>
                  <c:pt idx="2">
                    <c:v>Q3 2022</c:v>
                  </c:pt>
                  <c:pt idx="3">
                    <c:v>Q4 2022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20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0A0A"/>
                  </a:solidFill>
                  <a:latin typeface="Georgi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0A0A0A"/>
              </a:solidFill>
              <a:latin typeface="Georgia"/>
              <a:cs typeface="Georgi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hoto-1551288049-bebda4e38f71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hoto-1526628953301-3e589a6a8b74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hoto-1551288049-bebda4e38f71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hoto-1705056508589-a87485825dc1"/><Relationship Id="rId2" Type="http://schemas.openxmlformats.org/officeDocument/2006/relationships/image" Target="../media/image-6-2.photo-1518349619113-03114f06ac3a"/><Relationship Id="rId3" Type="http://schemas.openxmlformats.org/officeDocument/2006/relationships/image" Target="../media/image-6-3.photo-1771931322109-180bb1b35bf8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1" y="761981"/>
            <a:ext cx="761981" cy="761981"/>
          </a:xfrm>
          <a:prstGeom prst="ellipse">
            <a:avLst/>
          </a:prstGeom>
          <a:solidFill>
            <a:srgbClr val="C74B91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1015975"/>
            <a:ext cx="11302717" cy="171445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Mining in </a:t>
            </a:r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pPr algn="ctr" indent="0" marL="0">
              <a:lnSpc>
                <a:spcPct val="130000"/>
              </a:lnSpc>
              <a:buNone/>
            </a:pPr>
            <a:r>
              <a:rPr lang="en-US" sz="4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61981" y="2920927"/>
            <a:ext cx="10667733" cy="3809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81" y="3225719"/>
            <a:ext cx="10667733" cy="5079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Prajjaval Pandey</a:t>
            </a:r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981" y="3809905"/>
            <a:ext cx="10794730" cy="5079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1981" y="4381390"/>
            <a:ext cx="10794730" cy="5079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1015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981" y="6476838"/>
            <a:ext cx="7111822" cy="2539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981" y="1498563"/>
            <a:ext cx="7111822" cy="12699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981" y="533387"/>
            <a:ext cx="7111822" cy="3809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981" y="279393"/>
            <a:ext cx="3809905" cy="25399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15975" y="507987"/>
            <a:ext cx="10159746" cy="76198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Mining
</a:t>
            </a:r>
            <a:endParaRPr lang="en-US" sz="2900" dirty="0"/>
          </a:p>
        </p:txBody>
      </p:sp>
      <p:pic>
        <p:nvPicPr>
          <p:cNvPr id="8" name="Image 5" descr="https://images.unsplash.com/photo-1551288049-bebda4e38f71?crop=entropy&amp;cs=tinysrgb&amp;fit=max&amp;fm=jpg&amp;ixid=M3w2Njc0MzZ8MHwxfHNlYXJjaHwxfHxkYXRhJTIwbWluaW5nfGVufDB8fHx8MTc3NjE3ODkzMHww&amp;ixlib=rb-4.1.0&amp;q=80&amp;w=1080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380990" y="1396965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10" name="Text 2"/>
          <p:cNvSpPr/>
          <p:nvPr/>
        </p:nvSpPr>
        <p:spPr>
          <a:xfrm>
            <a:off x="634984" y="1625559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Patterns
</a:t>
            </a:r>
            <a:endParaRPr lang="en-US" sz="1200" dirty="0"/>
          </a:p>
        </p:txBody>
      </p:sp>
      <p:sp>
        <p:nvSpPr>
          <p:cNvPr id="11" name="Text 3"/>
          <p:cNvSpPr/>
          <p:nvPr/>
        </p:nvSpPr>
        <p:spPr>
          <a:xfrm>
            <a:off x="634984" y="2031949"/>
            <a:ext cx="3454314" cy="157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involves extracting meaningful patterns from vast datasets, enabling organizations to uncover insights that drive strategic decisions and improve operational efficiency.
</a:t>
            </a:r>
            <a:endParaRPr lang="en-US" sz="1200" dirty="0"/>
          </a:p>
        </p:txBody>
      </p:sp>
      <p:sp>
        <p:nvSpPr>
          <p:cNvPr id="12" name="Shape 4"/>
          <p:cNvSpPr/>
          <p:nvPr/>
        </p:nvSpPr>
        <p:spPr>
          <a:xfrm>
            <a:off x="4546486" y="1396965"/>
            <a:ext cx="3962301" cy="2133547"/>
          </a:xfrm>
          <a:prstGeom prst="rect">
            <a:avLst/>
          </a:prstGeom>
          <a:noFill/>
          <a:ln/>
        </p:spPr>
      </p:sp>
      <p:sp>
        <p:nvSpPr>
          <p:cNvPr id="13" name="Text 5"/>
          <p:cNvSpPr/>
          <p:nvPr/>
        </p:nvSpPr>
        <p:spPr>
          <a:xfrm>
            <a:off x="4800480" y="1625559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Approach
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4800480" y="2031949"/>
            <a:ext cx="3454314" cy="12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statistics, machine learning, and database systems, creating a robust framework for analyzing complex data and generating predictive models in finance.
</a:t>
            </a:r>
            <a:endParaRPr lang="en-US" sz="1200" dirty="0"/>
          </a:p>
        </p:txBody>
      </p:sp>
      <p:sp>
        <p:nvSpPr>
          <p:cNvPr id="15" name="Shape 7"/>
          <p:cNvSpPr/>
          <p:nvPr/>
        </p:nvSpPr>
        <p:spPr>
          <a:xfrm>
            <a:off x="380990" y="4343291"/>
            <a:ext cx="8140496" cy="800209"/>
          </a:xfrm>
          <a:prstGeom prst="rect">
            <a:avLst/>
          </a:prstGeom>
          <a:noFill/>
          <a:ln/>
        </p:spPr>
      </p:sp>
      <p:sp>
        <p:nvSpPr>
          <p:cNvPr id="16" name="Text 8"/>
          <p:cNvSpPr/>
          <p:nvPr/>
        </p:nvSpPr>
        <p:spPr>
          <a:xfrm>
            <a:off x="634984" y="4571886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Applications
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34984" y="4978276"/>
            <a:ext cx="7632509" cy="85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applications in finance include market analysis, fraud detection, and risk management, allowing analysts to identify trends and mitigate potential financial losses.
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981" y="6476838"/>
            <a:ext cx="7111822" cy="2539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981" y="1498563"/>
            <a:ext cx="7111822" cy="12699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981" y="533387"/>
            <a:ext cx="7111822" cy="3809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981" y="279393"/>
            <a:ext cx="3809905" cy="25399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15975" y="507987"/>
            <a:ext cx="10159746" cy="76198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in Financial Analysis
</a:t>
            </a:r>
            <a:endParaRPr lang="en-US" sz="2900" dirty="0"/>
          </a:p>
        </p:txBody>
      </p:sp>
      <p:pic>
        <p:nvPicPr>
          <p:cNvPr id="8" name="Image 5" descr="https://images.unsplash.com/photo-1526628953301-3e589a6a8b74?crop=entropy&amp;cs=tinysrgb&amp;fit=max&amp;fm=jpg&amp;ixid=M3w2Njc0MzZ8MHwxfHNlYXJjaHwxfHxkYXRhX2FuYWx5c2lzfGVufDB8fHx8MTc3NjE4MzA4OHww&amp;ixlib=rb-4.1.0&amp;q=80&amp;w=1080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380990" y="1396965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10" name="Text 2"/>
          <p:cNvSpPr/>
          <p:nvPr/>
        </p:nvSpPr>
        <p:spPr>
          <a:xfrm>
            <a:off x="634984" y="1625559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Trends and Anomalies
</a:t>
            </a:r>
            <a:endParaRPr lang="en-US" sz="1200" dirty="0"/>
          </a:p>
        </p:txBody>
      </p:sp>
      <p:sp>
        <p:nvSpPr>
          <p:cNvPr id="11" name="Text 3"/>
          <p:cNvSpPr/>
          <p:nvPr/>
        </p:nvSpPr>
        <p:spPr>
          <a:xfrm>
            <a:off x="634984" y="2031949"/>
            <a:ext cx="3454314" cy="157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techniques can uncover hidden patterns in financial data, enabling analysts to identify trends and anomalies that may indicate market shifts or investment opportunities.
</a:t>
            </a:r>
            <a:endParaRPr lang="en-US" sz="1200" dirty="0"/>
          </a:p>
        </p:txBody>
      </p:sp>
      <p:sp>
        <p:nvSpPr>
          <p:cNvPr id="12" name="Shape 4"/>
          <p:cNvSpPr/>
          <p:nvPr/>
        </p:nvSpPr>
        <p:spPr>
          <a:xfrm>
            <a:off x="4546486" y="1396965"/>
            <a:ext cx="3962301" cy="2438339"/>
          </a:xfrm>
          <a:prstGeom prst="rect">
            <a:avLst/>
          </a:prstGeom>
          <a:noFill/>
          <a:ln/>
        </p:spPr>
      </p:sp>
      <p:sp>
        <p:nvSpPr>
          <p:cNvPr id="13" name="Text 5"/>
          <p:cNvSpPr/>
          <p:nvPr/>
        </p:nvSpPr>
        <p:spPr>
          <a:xfrm>
            <a:off x="4800480" y="1625559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Predictive Analytics
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4800480" y="2031949"/>
            <a:ext cx="3454314" cy="157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leveraging historical data, data mining enhances predictive analytics, allowing financial institutions to develop robust investment strategies that anticipate market movements and optimize returns.
</a:t>
            </a:r>
            <a:endParaRPr lang="en-US" sz="1200" dirty="0"/>
          </a:p>
        </p:txBody>
      </p:sp>
      <p:sp>
        <p:nvSpPr>
          <p:cNvPr id="15" name="Shape 7"/>
          <p:cNvSpPr/>
          <p:nvPr/>
        </p:nvSpPr>
        <p:spPr>
          <a:xfrm>
            <a:off x="380990" y="4343291"/>
            <a:ext cx="8140496" cy="800209"/>
          </a:xfrm>
          <a:prstGeom prst="rect">
            <a:avLst/>
          </a:prstGeom>
          <a:noFill/>
          <a:ln/>
        </p:spPr>
      </p:sp>
      <p:sp>
        <p:nvSpPr>
          <p:cNvPr id="16" name="Text 8"/>
          <p:cNvSpPr/>
          <p:nvPr/>
        </p:nvSpPr>
        <p:spPr>
          <a:xfrm>
            <a:off x="634984" y="4571886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Risk Assessment Models
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34984" y="4978276"/>
            <a:ext cx="7632509" cy="9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techniques refine risk assessment models, providing deeper insights into potential risks, which helps financial firms make informed decisions and mitigate losses effectively.
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981" y="2158946"/>
            <a:ext cx="10667733" cy="15239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981" y="825479"/>
            <a:ext cx="3809905" cy="30479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981" y="634984"/>
            <a:ext cx="10667733" cy="507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15975" y="761981"/>
            <a:ext cx="10159746" cy="66038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Trends in Financial Analysis
</a:t>
            </a:r>
            <a:endParaRPr lang="en-US" sz="2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015975" y="1777956"/>
          <a:ext cx="10159746" cy="406389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8" name="Text 1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981" y="6476838"/>
            <a:ext cx="7111822" cy="2539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981" y="1498563"/>
            <a:ext cx="7111822" cy="12699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981" y="533387"/>
            <a:ext cx="7111822" cy="3809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981" y="279393"/>
            <a:ext cx="3809905" cy="25399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15975" y="507987"/>
            <a:ext cx="10159746" cy="76198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 in Data Mining
</a:t>
            </a:r>
            <a:endParaRPr lang="en-US" sz="2900" dirty="0"/>
          </a:p>
        </p:txBody>
      </p:sp>
      <p:pic>
        <p:nvPicPr>
          <p:cNvPr id="8" name="Image 5" descr="https://images.unsplash.com/photo-1551288049-bebda4e38f71?crop=entropy&amp;cs=tinysrgb&amp;fit=max&amp;fm=jpg&amp;ixid=M3w2Njc0MzZ8MHwxfHNlYXJjaHwxfHxkYXRhJTIwbWluaW5nfGVufDB8fHx8MTc3NjE3ODkzMHww&amp;ixlib=rb-4.1.0&amp;q=80&amp;w=1080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775481" y="0"/>
            <a:ext cx="3370495" cy="6812280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380990" y="1396965"/>
            <a:ext cx="3962301" cy="2133547"/>
          </a:xfrm>
          <a:prstGeom prst="rect">
            <a:avLst/>
          </a:prstGeom>
          <a:noFill/>
          <a:ln/>
        </p:spPr>
      </p:sp>
      <p:sp>
        <p:nvSpPr>
          <p:cNvPr id="10" name="Text 2"/>
          <p:cNvSpPr/>
          <p:nvPr/>
        </p:nvSpPr>
        <p:spPr>
          <a:xfrm>
            <a:off x="634984" y="1625559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
</a:t>
            </a:r>
            <a:endParaRPr lang="en-US" sz="1200" dirty="0"/>
          </a:p>
        </p:txBody>
      </p:sp>
      <p:sp>
        <p:nvSpPr>
          <p:cNvPr id="11" name="Text 3"/>
          <p:cNvSpPr/>
          <p:nvPr/>
        </p:nvSpPr>
        <p:spPr>
          <a:xfrm>
            <a:off x="634984" y="2031949"/>
            <a:ext cx="3454314" cy="12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algorithms, such as decision trees, effectively categorize financial transactions, improving fraud detection rates by up to 30% in banking sectors.
</a:t>
            </a:r>
            <a:endParaRPr lang="en-US" sz="1200" dirty="0"/>
          </a:p>
        </p:txBody>
      </p:sp>
      <p:sp>
        <p:nvSpPr>
          <p:cNvPr id="12" name="Shape 4"/>
          <p:cNvSpPr/>
          <p:nvPr/>
        </p:nvSpPr>
        <p:spPr>
          <a:xfrm>
            <a:off x="4546486" y="1396965"/>
            <a:ext cx="3962301" cy="2133547"/>
          </a:xfrm>
          <a:prstGeom prst="rect">
            <a:avLst/>
          </a:prstGeom>
          <a:noFill/>
          <a:ln/>
        </p:spPr>
      </p:sp>
      <p:sp>
        <p:nvSpPr>
          <p:cNvPr id="13" name="Text 5"/>
          <p:cNvSpPr/>
          <p:nvPr/>
        </p:nvSpPr>
        <p:spPr>
          <a:xfrm>
            <a:off x="4800480" y="1625559"/>
            <a:ext cx="345431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Techniques
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4800480" y="2031949"/>
            <a:ext cx="3454314" cy="12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techniques, like K-means, group similar financial behaviors, enabling targeted marketing strategies that can increase customer engagement by 25%.
</a:t>
            </a:r>
            <a:endParaRPr lang="en-US" sz="1200" dirty="0"/>
          </a:p>
        </p:txBody>
      </p:sp>
      <p:sp>
        <p:nvSpPr>
          <p:cNvPr id="15" name="Shape 7"/>
          <p:cNvSpPr/>
          <p:nvPr/>
        </p:nvSpPr>
        <p:spPr>
          <a:xfrm>
            <a:off x="380990" y="4038499"/>
            <a:ext cx="8140496" cy="1105001"/>
          </a:xfrm>
          <a:prstGeom prst="rect">
            <a:avLst/>
          </a:prstGeom>
          <a:noFill/>
          <a:ln/>
        </p:spPr>
      </p:sp>
      <p:sp>
        <p:nvSpPr>
          <p:cNvPr id="16" name="Text 8"/>
          <p:cNvSpPr/>
          <p:nvPr/>
        </p:nvSpPr>
        <p:spPr>
          <a:xfrm>
            <a:off x="634984" y="4267093"/>
            <a:ext cx="763250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
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634984" y="4673483"/>
            <a:ext cx="7632509" cy="85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predicts future financial trends, allowing firms to forecast revenues with an accuracy of 85%, aiding in strategic planning and investment decisions.
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507987"/>
            <a:ext cx="10159746" cy="76198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in Data Mining
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380990" y="1523962"/>
            <a:ext cx="3606710" cy="3619538"/>
          </a:xfrm>
          <a:prstGeom prst="rect">
            <a:avLst/>
          </a:prstGeom>
          <a:noFill/>
          <a:ln/>
        </p:spPr>
      </p:sp>
      <p:pic>
        <p:nvPicPr>
          <p:cNvPr id="4" name="Image 0" descr="https://images.unsplash.com/photo-1705056508589-a87485825dc1?crop=entropy&amp;cs=tinysrgb&amp;fit=max&amp;fm=jpg&amp;ixid=M3w2Njc0MzZ8MHwxfHNlYXJjaHwxfHxmcmF1ZF9kZXRlY3Rpb258ZW58MHx8fHwxNzc2MjMyMDMwfDA&amp;ixlib=rb-4.1.0&amp;q=80&amp;w=10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0990" y="1523962"/>
            <a:ext cx="3606710" cy="23367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0990" y="4165496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in Credit Cards
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0990" y="482587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techniques identified fraudulent transactions with 95% accuracy, reducing losses by 30% for major banks, showcasing the power of predictive analytics.
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92493" y="1523962"/>
            <a:ext cx="3606710" cy="3619538"/>
          </a:xfrm>
          <a:prstGeom prst="rect">
            <a:avLst/>
          </a:prstGeom>
          <a:noFill/>
          <a:ln/>
        </p:spPr>
      </p:sp>
      <p:pic>
        <p:nvPicPr>
          <p:cNvPr id="8" name="Image 1" descr="https://images.unsplash.com/photo-1518349619113-03114f06ac3a?crop=entropy&amp;cs=tinysrgb&amp;fit=max&amp;fm=jpg&amp;ixid=M3w2Njc0MzZ8MHwxfHNlYXJjaHwxfHxjdXN0b21lcl9zZWdtZW50YXRpb258ZW58MHx8fHwxNzc2MjMyMDMxfDA&amp;ixlib=rb-4.1.0&amp;q=80&amp;w=1080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2493" y="1523962"/>
            <a:ext cx="3606710" cy="23367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2493" y="4165496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in Retail Banking
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92493" y="482587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clustering algorithms, banks improved targeted marketing strategies, increasing customer engagement by 40% and boosting product uptake significantly.
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203995" y="1523962"/>
            <a:ext cx="940005" cy="3619538"/>
          </a:xfrm>
          <a:prstGeom prst="rect">
            <a:avLst/>
          </a:prstGeom>
          <a:noFill/>
          <a:ln/>
        </p:spPr>
      </p:sp>
      <p:pic>
        <p:nvPicPr>
          <p:cNvPr id="12" name="Image 2" descr="https://images.unsplash.com/photo-1771931322109-180bb1b35bf8?crop=entropy&amp;cs=tinysrgb&amp;fit=max&amp;fm=jpg&amp;ixid=M3w2Njc0MzZ8MHwxfHNlYXJjaHwxfHxyaXNrX2Fzc2Vzc21lbnR8ZW58MHx8fHwxNzc2MTgwNjIwfDA&amp;ixlib=rb-4.1.0&amp;q=80&amp;w=1080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3995" y="1523962"/>
            <a:ext cx="3606710" cy="23367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03995" y="4165496"/>
            <a:ext cx="3606710" cy="45718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in Insurance
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203995" y="4825879"/>
            <a:ext cx="3606710" cy="152396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models enhanced underwriting processes, leading to a 25% reduction in claim costs by accurately predicting high-risk applicants.
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507987"/>
            <a:ext cx="10159746" cy="105661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vs. Data Mining Approaches in Financial Analysis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5975" y="1523962"/>
            <a:ext cx="4825879" cy="44448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
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5975" y="2095448"/>
            <a:ext cx="4825879" cy="6349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Rely on historical data and expert judgment for analysis.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15975" y="2730432"/>
            <a:ext cx="4825879" cy="6349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Utilize established financial models and theories.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15975" y="3365416"/>
            <a:ext cx="4825879" cy="6349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 take longer to adapt to market changes due to reliance on past data.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841" y="1523962"/>
            <a:ext cx="4825879" cy="44448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Approaches
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9841" y="2095448"/>
            <a:ext cx="4825879" cy="6349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Leverage algorithms to extract real-time insights from data.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841" y="2730432"/>
            <a:ext cx="4825879" cy="6349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process and analyze larger datasets more efficiently.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9841" y="3365416"/>
            <a:ext cx="4825879" cy="6349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hidden patterns and trends that traditional methods may overlook.
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507987"/>
            <a:ext cx="10159746" cy="76198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Transformative Impact of Data Mining in Finance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5975" y="1650959"/>
            <a:ext cx="3047924" cy="101597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
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1015975" y="2730432"/>
            <a:ext cx="3047924" cy="3809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Increase
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5975" y="3174921"/>
            <a:ext cx="3047924" cy="5714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by companies leveraging data mining techniques
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1886" y="1650959"/>
            <a:ext cx="3047924" cy="101597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
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4571886" y="2730432"/>
            <a:ext cx="3047924" cy="3809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
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1886" y="3174921"/>
            <a:ext cx="3047924" cy="5714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through data-driven decision-making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7797" y="1650959"/>
            <a:ext cx="3047924" cy="101597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
</a:t>
            </a:r>
            <a:endParaRPr lang="en-US" sz="4300" dirty="0"/>
          </a:p>
        </p:txBody>
      </p:sp>
      <p:sp>
        <p:nvSpPr>
          <p:cNvPr id="10" name="Text 8"/>
          <p:cNvSpPr/>
          <p:nvPr/>
        </p:nvSpPr>
        <p:spPr>
          <a:xfrm>
            <a:off x="8127797" y="2730432"/>
            <a:ext cx="3047924" cy="3809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
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7797" y="3174921"/>
            <a:ext cx="3047924" cy="5714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financial institutions utilizing data mining methods
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5975" y="3936902"/>
            <a:ext cx="3047924" cy="101597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
</a:t>
            </a:r>
            <a:endParaRPr lang="en-US" sz="4300" dirty="0"/>
          </a:p>
        </p:txBody>
      </p:sp>
      <p:sp>
        <p:nvSpPr>
          <p:cNvPr id="13" name="Text 11"/>
          <p:cNvSpPr/>
          <p:nvPr/>
        </p:nvSpPr>
        <p:spPr>
          <a:xfrm>
            <a:off x="1015975" y="5016375"/>
            <a:ext cx="3047924" cy="3809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Improvement
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5975" y="5460863"/>
            <a:ext cx="3047924" cy="5714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 targeted insights from data mining
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75" y="507987"/>
            <a:ext cx="10159746" cy="761981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
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015975" y="1523962"/>
            <a:ext cx="10159746" cy="52830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types of data are used in financial data mining?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69968" y="1904952"/>
            <a:ext cx="9905752" cy="92453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Financial data mining utilizes various data types, including transaction records, market data, customer demographics, and economic indicators to uncover patterns and insights.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15975" y="2698683"/>
            <a:ext cx="10159746" cy="3809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data mining improve risk management?
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9968" y="3079673"/>
            <a:ext cx="9905752" cy="92453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Data mining enhances risk management by identifying potential risks through predictive analytics, allowing organizations to make informed decisions and mitigate losses.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15975" y="3873403"/>
            <a:ext cx="10159746" cy="52830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are the ethical considerations in data mining?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9968" y="4254394"/>
            <a:ext cx="9905752" cy="92453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Ethical considerations include ensuring data privacy, obtaining consent for data use, and avoiding bias in algorithms to protect individuals' rights and maintain trust.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5975" y="5048124"/>
            <a:ext cx="10159746" cy="52830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small businesses benefit from data mining techniques?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9968" y="5429114"/>
            <a:ext cx="9905752" cy="92453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Yes, small businesses can leverage data mining to gain insights into customer behavior, optimize operations, and make data-driven decisions, often with affordable tools and resources.
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45975" cy="68122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5879" y="5841854"/>
            <a:ext cx="2539937" cy="30479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0895" y="1333467"/>
            <a:ext cx="3809905" cy="30479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981" y="1015975"/>
            <a:ext cx="10667733" cy="20319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523962" y="1777956"/>
            <a:ext cx="9143771" cy="12699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
</a:t>
            </a:r>
            <a:endParaRPr lang="en-US" sz="2900" dirty="0"/>
          </a:p>
        </p:txBody>
      </p:sp>
      <p:sp>
        <p:nvSpPr>
          <p:cNvPr id="7" name="Text 1"/>
          <p:cNvSpPr/>
          <p:nvPr/>
        </p:nvSpPr>
        <p:spPr>
          <a:xfrm>
            <a:off x="1523962" y="3428914"/>
            <a:ext cx="9143771" cy="26669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significantly enhances financial analysis by uncovering hidden patterns and trends. Key takeaways include the importance of data quality, the need for robust algorithms, and the value of real-time analytics. Moving forward, organizations should invest in advanced data mining tools and training to leverage insights effectively. Embracing these strategies will not only improve decision-making but also drive competitive advantage in the financial sector.
</a:t>
            </a:r>
            <a:endParaRPr lang="en-US" sz="1300" dirty="0"/>
          </a:p>
        </p:txBody>
      </p:sp>
      <p:sp>
        <p:nvSpPr>
          <p:cNvPr id="8" name="Text 2"/>
          <p:cNvSpPr/>
          <p:nvPr/>
        </p:nvSpPr>
        <p:spPr>
          <a:xfrm>
            <a:off x="10362895" y="6537960"/>
            <a:ext cx="1691640" cy="256032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SlideMaker.app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2026-04-15T05:48:26Z</dcterms:created>
  <dcterms:modified xsi:type="dcterms:W3CDTF">2026-04-15T05:48:26Z</dcterms:modified>
</cp:coreProperties>
</file>