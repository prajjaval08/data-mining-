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photo-1666875753105-c63a6f3bdc86" ContentType="image/photo-1666875753105-c63a6f3bdc86"/>
  <Default Extension="photo-1678845530864-18a666ca9762" ContentType="image/photo-1678845530864-18a666ca9762"/>
  <Default Extension="photo-1523937986058-3643cb987697" ContentType="image/photo-1523937986058-3643cb987697"/>
  <Default Extension="photo-1605618634609-88a1d02df188" ContentType="image/photo-1605618634609-88a1d02df188"/>
  <Default Extension="photo-1585531708901-f5cb34432522" ContentType="image/photo-1585531708901-f5cb34432522"/>
  <Default Extension="photo-1620206299186-4f8686055ab4" ContentType="image/photo-1620206299186-4f8686055ab4"/>
  <Default Extension="photo-1600852344090-12e843250e32" ContentType="image/photo-1600852344090-12e843250e32"/>
  <Default Extension="photo-1683721003111-070bcc053d8b" ContentType="image/photo-1683721003111-070bcc053d8b"/>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Silhouette Score</c:v>
                </c:pt>
              </c:strCache>
            </c:strRef>
          </c:tx>
          <c:spPr>
            <a:solidFill>
              <a:srgbClr val="562B35"/>
            </a:solidFill>
            <a:effectLst/>
          </c:spPr>
          <c:invertIfNegative val="0"/>
          <c:dLbls>
            <c:numFmt formatCode="#,##0" sourceLinked="0"/>
            <c:txPr>
              <a:bodyPr/>
              <a:lstStyle/>
              <a:p>
                <a:pPr>
                  <a:defRPr b="0" i="0" strike="noStrike" sz="1000" u="none">
                    <a:solidFill>
                      <a:srgbClr val="E9D8C8"/>
                    </a:solidFill>
                    <a:latin typeface="Calibri"/>
                  </a:defRPr>
                </a:pPr>
              </a:p>
            </c:txPr>
            <c:showLegendKey val="0"/>
            <c:showVal val="1"/>
            <c:showCatName val="0"/>
            <c:showSerName val="0"/>
            <c:showPercent val="0"/>
            <c:showBubbleSize val="0"/>
            <c:showLeaderLines val="0"/>
          </c:dLbls>
          <c:dPt>
            <c:idx val="0"/>
            <c:invertIfNegative val="0"/>
            <c:bubble3D val="0"/>
            <c:spPr>
              <a:solidFill>
                <a:srgbClr val="562B35"/>
              </a:solidFill>
              <a:effectLst/>
            </c:spPr>
          </c:dPt>
          <c:dPt>
            <c:idx val="1"/>
            <c:invertIfNegative val="0"/>
            <c:bubble3D val="0"/>
            <c:spPr>
              <a:solidFill>
                <a:srgbClr val="EBD671"/>
              </a:solidFill>
              <a:effectLst/>
            </c:spPr>
          </c:dPt>
          <c:dPt>
            <c:idx val="2"/>
            <c:invertIfNegative val="0"/>
            <c:bubble3D val="0"/>
            <c:spPr>
              <a:solidFill>
                <a:srgbClr val="EADCCE"/>
              </a:solidFill>
              <a:effectLst/>
            </c:spPr>
          </c:dPt>
          <c:dPt>
            <c:idx val="3"/>
            <c:invertIfNegative val="0"/>
            <c:bubble3D val="0"/>
            <c:spPr>
              <a:solidFill>
                <a:srgbClr val="F0B6A6"/>
              </a:solidFill>
              <a:effectLst/>
            </c:spPr>
          </c:dPt>
          <c:cat>
            <c:multiLvlStrRef>
              <c:f>Sheet1!$A$2:$A$5</c:f>
              <c:multiLvlStrCache>
                <c:ptCount val="4"/>
                <c:lvl>
                  <c:pt idx="0">
                    <c:v>K-Means</c:v>
                  </c:pt>
                  <c:pt idx="1">
                    <c:v>Hierarchical</c:v>
                  </c:pt>
                  <c:pt idx="2">
                    <c:v>DBSCAN</c:v>
                  </c:pt>
                  <c:pt idx="3">
                    <c:v>Gaussian Mixture</c:v>
                  </c:pt>
                </c:lvl>
              </c:multiLvlStrCache>
            </c:multiLvlStrRef>
          </c:cat>
          <c:val>
            <c:numRef>
              <c:f>Sheet1!$B$2:$B$5</c:f>
              <c:numCache>
                <c:formatCode>General</c:formatCode>
                <c:ptCount val="4"/>
                <c:pt idx="0">
                  <c:v>0.65</c:v>
                </c:pt>
                <c:pt idx="1">
                  <c:v>0.72</c:v>
                </c:pt>
                <c:pt idx="2">
                  <c:v>0.58</c:v>
                </c:pt>
                <c:pt idx="3">
                  <c:v>0.75</c:v>
                </c:pt>
              </c:numCache>
            </c:numRef>
          </c:val>
        </c:ser>
        <c:dLbls>
          <c:numFmt formatCode="#,##0" sourceLinked="0"/>
          <c:txPr>
            <a:bodyPr/>
            <a:lstStyle/>
            <a:p>
              <a:pPr>
                <a:defRPr b="0" i="0" strike="noStrike" sz="1000" u="none">
                  <a:solidFill>
                    <a:srgbClr val="E9D8C8"/>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1100">
              <a:solidFill>
                <a:srgbClr val="E9D8C8"/>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hoto-1666875753105-c63a6f3bdc86"/><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hoto-1678845530864-18a666ca9762"/><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hoto-1523937986058-3643cb987697"/><Relationship Id="rId2" Type="http://schemas.openxmlformats.org/officeDocument/2006/relationships/image" Target="../media/image-4-2.photo-1605618634609-88a1d02df188"/><Relationship Id="rId3" Type="http://schemas.openxmlformats.org/officeDocument/2006/relationships/image" Target="../media/image-4-3.photo-1585531708901-f5cb34432522"/><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hoto-1620206299186-4f8686055ab4"/><Relationship Id="rId2" Type="http://schemas.openxmlformats.org/officeDocument/2006/relationships/image" Target="../media/image-6-2.photo-1600852344090-12e843250e32"/><Relationship Id="rId3" Type="http://schemas.openxmlformats.org/officeDocument/2006/relationships/image" Target="../media/image-6-3.photo-1683721003111-070bcc053d8b"/><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62B3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rcRect l="0" r="0" t="0" b="0"/>
          <a:stretch/>
        </p:blipFill>
        <p:spPr>
          <a:xfrm>
            <a:off x="3555911" y="1269968"/>
            <a:ext cx="5079873" cy="25399"/>
          </a:xfrm>
          <a:prstGeom prst="rect">
            <a:avLst/>
          </a:prstGeom>
        </p:spPr>
      </p:pic>
      <p:sp>
        <p:nvSpPr>
          <p:cNvPr id="3" name="Text 0"/>
          <p:cNvSpPr/>
          <p:nvPr/>
        </p:nvSpPr>
        <p:spPr>
          <a:xfrm>
            <a:off x="1269968" y="1015975"/>
            <a:ext cx="9651759" cy="1015975"/>
          </a:xfrm>
          <a:prstGeom prst="rect">
            <a:avLst/>
          </a:prstGeom>
          <a:noFill/>
          <a:ln/>
        </p:spPr>
        <p:txBody>
          <a:bodyPr wrap="square" lIns="1016" tIns="1016" rIns="1016" bIns="1016" rtlCol="0" anchor="t"/>
          <a:lstStyle/>
          <a:p>
            <a:pPr algn="ctr" indent="0" marL="0">
              <a:lnSpc>
                <a:spcPct val="130000"/>
              </a:lnSpc>
              <a:buNone/>
            </a:pPr>
            <a:r>
              <a:rPr lang="en-US" sz="4000" b="1" dirty="0">
                <a:solidFill>
                  <a:srgbClr val="F2B29C"/>
                </a:solidFill>
                <a:latin typeface="Calibri" pitchFamily="34" charset="0"/>
                <a:ea typeface="Calibri" pitchFamily="34" charset="-122"/>
                <a:cs typeface="Calibri" pitchFamily="34" charset="-120"/>
              </a:rPr>
              <a:t>Introduction to Cluster Analysis in DMA</a:t>
            </a:r>
            <a:pPr algn="ctr" indent="0" marL="0">
              <a:lnSpc>
                <a:spcPct val="130000"/>
              </a:lnSpc>
              <a:buNone/>
            </a:pPr>
            <a:r>
              <a:rPr lang="en-US" sz="4000" dirty="0">
                <a:solidFill>
                  <a:srgbClr val="F2B29C"/>
                </a:solidFill>
                <a:latin typeface="Calibri" pitchFamily="34" charset="0"/>
                <a:ea typeface="Calibri" pitchFamily="34" charset="-122"/>
                <a:cs typeface="Calibri" pitchFamily="34" charset="-120"/>
              </a:rPr>
              <a:t>
</a:t>
            </a:r>
            <a:endParaRPr lang="en-US" sz="4000" dirty="0"/>
          </a:p>
        </p:txBody>
      </p:sp>
      <p:sp>
        <p:nvSpPr>
          <p:cNvPr id="4" name="Text 1"/>
          <p:cNvSpPr/>
          <p:nvPr/>
        </p:nvSpPr>
        <p:spPr>
          <a:xfrm>
            <a:off x="1269968" y="2920927"/>
            <a:ext cx="9651759" cy="380990"/>
          </a:xfrm>
          <a:prstGeom prst="rect">
            <a:avLst/>
          </a:prstGeom>
          <a:noFill/>
          <a:ln/>
        </p:spPr>
        <p:txBody>
          <a:bodyPr wrap="square" lIns="1016" tIns="1016" rIns="1016" bIns="1016" rtlCol="0" anchor="t"/>
          <a:lstStyle/>
          <a:p>
            <a:pPr algn="ctr" indent="0" marL="0">
              <a:lnSpc>
                <a:spcPct val="130000"/>
              </a:lnSpc>
              <a:buNone/>
            </a:pPr>
            <a:r>
              <a:rPr lang="en-US" sz="1100" dirty="0">
                <a:solidFill>
                  <a:srgbClr val="A0968C"/>
                </a:solidFill>
                <a:latin typeface="Calibri" pitchFamily="34" charset="0"/>
                <a:ea typeface="Calibri" pitchFamily="34" charset="-122"/>
                <a:cs typeface="Calibri" pitchFamily="34" charset="-120"/>
              </a:rPr>
              <a:t>PRESENTED BY</a:t>
            </a:r>
            <a:pPr algn="ctr" indent="0" marL="0">
              <a:lnSpc>
                <a:spcPct val="130000"/>
              </a:lnSpc>
              <a:buNone/>
            </a:pPr>
            <a:r>
              <a:rPr lang="en-US" sz="1100" dirty="0">
                <a:solidFill>
                  <a:srgbClr val="A0968C"/>
                </a:solidFill>
                <a:latin typeface="Calibri" pitchFamily="34" charset="0"/>
                <a:ea typeface="Calibri" pitchFamily="34" charset="-122"/>
                <a:cs typeface="Calibri" pitchFamily="34" charset="-120"/>
              </a:rPr>
              <a:t>
</a:t>
            </a:r>
            <a:endParaRPr lang="en-US" sz="1100" dirty="0"/>
          </a:p>
        </p:txBody>
      </p:sp>
      <p:sp>
        <p:nvSpPr>
          <p:cNvPr id="5" name="Text 2"/>
          <p:cNvSpPr/>
          <p:nvPr/>
        </p:nvSpPr>
        <p:spPr>
          <a:xfrm>
            <a:off x="1269968" y="3225719"/>
            <a:ext cx="9651759" cy="507987"/>
          </a:xfrm>
          <a:prstGeom prst="rect">
            <a:avLst/>
          </a:prstGeom>
          <a:noFill/>
          <a:ln/>
        </p:spPr>
        <p:txBody>
          <a:bodyPr wrap="square" lIns="1016" tIns="1016" rIns="1016" bIns="1016" rtlCol="0" anchor="t"/>
          <a:lstStyle/>
          <a:p>
            <a:pPr algn="ctr" indent="0" marL="0">
              <a:lnSpc>
                <a:spcPct val="130000"/>
              </a:lnSpc>
              <a:buNone/>
            </a:pPr>
            <a:r>
              <a:rPr lang="en-US" sz="2200" dirty="0">
                <a:solidFill>
                  <a:srgbClr val="E9D8C8"/>
                </a:solidFill>
                <a:latin typeface="Calibri" pitchFamily="34" charset="0"/>
                <a:ea typeface="Calibri" pitchFamily="34" charset="-122"/>
                <a:cs typeface="Calibri" pitchFamily="34" charset="-120"/>
              </a:rPr>
              <a:t>Prajjaval Pandey</a:t>
            </a:r>
            <a:pPr algn="ctr" indent="0" marL="0">
              <a:lnSpc>
                <a:spcPct val="130000"/>
              </a:lnSpc>
              <a:buNone/>
            </a:pPr>
            <a:r>
              <a:rPr lang="en-US" sz="2200" dirty="0">
                <a:solidFill>
                  <a:srgbClr val="E9D8C8"/>
                </a:solidFill>
                <a:latin typeface="Calibri" pitchFamily="34" charset="0"/>
                <a:ea typeface="Calibri" pitchFamily="34" charset="-122"/>
                <a:cs typeface="Calibri" pitchFamily="34" charset="-120"/>
              </a:rPr>
              <a:t>
</a:t>
            </a:r>
            <a:endParaRPr lang="en-US" sz="2200" dirty="0"/>
          </a:p>
        </p:txBody>
      </p:sp>
      <p:sp>
        <p:nvSpPr>
          <p:cNvPr id="6" name="Text 3"/>
          <p:cNvSpPr/>
          <p:nvPr/>
        </p:nvSpPr>
        <p:spPr>
          <a:xfrm>
            <a:off x="1269968" y="3809905"/>
            <a:ext cx="10794730" cy="507987"/>
          </a:xfrm>
          <a:prstGeom prst="rect">
            <a:avLst/>
          </a:prstGeom>
          <a:noFill/>
          <a:ln/>
        </p:spPr>
        <p:txBody>
          <a:bodyPr wrap="square" lIns="1016" tIns="1016" rIns="1016" bIns="1016" rtlCol="0" anchor="t"/>
          <a:lstStyle/>
          <a:p>
            <a:pPr algn="ctr" indent="0" marL="0">
              <a:lnSpc>
                <a:spcPct val="130000"/>
              </a:lnSpc>
              <a:buNone/>
            </a:pPr>
            <a:r>
              <a:rPr lang="en-US" sz="1800" dirty="0">
                <a:solidFill>
                  <a:srgbClr val="EBD671"/>
                </a:solidFill>
                <a:latin typeface="Calibri" pitchFamily="34" charset="0"/>
                <a:ea typeface="Calibri" pitchFamily="34" charset="-122"/>
                <a:cs typeface="Calibri" pitchFamily="34" charset="-120"/>
              </a:rPr>
              <a:t>
</a:t>
            </a:r>
            <a:endParaRPr lang="en-US" sz="1800" dirty="0"/>
          </a:p>
        </p:txBody>
      </p:sp>
      <p:sp>
        <p:nvSpPr>
          <p:cNvPr id="7" name="Text 4"/>
          <p:cNvSpPr/>
          <p:nvPr/>
        </p:nvSpPr>
        <p:spPr>
          <a:xfrm>
            <a:off x="1269968" y="4381390"/>
            <a:ext cx="9778756" cy="507987"/>
          </a:xfrm>
          <a:prstGeom prst="rect">
            <a:avLst/>
          </a:prstGeom>
          <a:noFill/>
          <a:ln/>
        </p:spPr>
        <p:txBody>
          <a:bodyPr wrap="square" lIns="1016" tIns="1016" rIns="1016" bIns="1016" rtlCol="0" anchor="t"/>
          <a:lstStyle/>
          <a:p>
            <a:pPr algn="ctr" indent="0" marL="0">
              <a:lnSpc>
                <a:spcPct val="130000"/>
              </a:lnSpc>
              <a:buNone/>
            </a:pPr>
            <a:r>
              <a:rPr lang="en-US" sz="1400" dirty="0">
                <a:solidFill>
                  <a:srgbClr val="E6D0C0"/>
                </a:solidFill>
                <a:latin typeface="Calibri" pitchFamily="34" charset="0"/>
                <a:ea typeface="Calibri" pitchFamily="34" charset="-122"/>
                <a:cs typeface="Calibri" pitchFamily="34" charset="-120"/>
              </a:rPr>
              <a:t>
</a:t>
            </a:r>
            <a:endParaRPr lang="en-US" sz="1400" dirty="0"/>
          </a:p>
        </p:txBody>
      </p:sp>
      <p:sp>
        <p:nvSpPr>
          <p:cNvPr id="8" name="Text 5"/>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562B35"/>
        </a:solidFill>
      </p:bgPr>
    </p:bg>
    <p:spTree>
      <p:nvGrpSpPr>
        <p:cNvPr id="1" name=""/>
        <p:cNvGrpSpPr/>
        <p:nvPr/>
      </p:nvGrpSpPr>
      <p:grpSpPr>
        <a:xfrm>
          <a:off x="0" y="0"/>
          <a:ext cx="0" cy="0"/>
          <a:chOff x="0" y="0"/>
          <a:chExt cx="0" cy="0"/>
        </a:xfrm>
      </p:grpSpPr>
      <p:pic>
        <p:nvPicPr>
          <p:cNvPr id="2" name="Image 0" descr="https://images.unsplash.com/photo-1666875753105-c63a6f3bdc86?crop=entropy&amp;cs=tinysrgb&amp;fit=max&amp;fm=jpg&amp;ixid=M3w2Njc0MzZ8MHwxfHNlYXJjaHwxfHxkYXRhJTIwYW5hbHlzaXN8ZW58MHx8fHwxNzc2MTg3Njc4fDA&amp;ixlib=rb-4.1.0&amp;q=80&amp;w=1080">    </p:cNvPr>
          <p:cNvPicPr>
            <a:picLocks noChangeAspect="1"/>
          </p:cNvPicPr>
          <p:nvPr/>
        </p:nvPicPr>
        <p:blipFill>
          <a:blip r:embed="rId1"/>
          <a:srcRect l="0" r="0" t="0" b="0"/>
          <a:stretch/>
        </p:blipFill>
        <p:spPr>
          <a:xfrm>
            <a:off x="1015975" y="1015975"/>
            <a:ext cx="4063898" cy="4825879"/>
          </a:xfrm>
          <a:prstGeom prst="rect">
            <a:avLst/>
          </a:prstGeom>
        </p:spPr>
      </p:pic>
      <p:sp>
        <p:nvSpPr>
          <p:cNvPr id="3" name="Text 0"/>
          <p:cNvSpPr/>
          <p:nvPr/>
        </p:nvSpPr>
        <p:spPr>
          <a:xfrm>
            <a:off x="5587860" y="1269968"/>
            <a:ext cx="4571886" cy="1777956"/>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2B29C"/>
                </a:solidFill>
                <a:latin typeface="Calibri" pitchFamily="34" charset="0"/>
                <a:ea typeface="Calibri" pitchFamily="34" charset="-122"/>
                <a:cs typeface="Calibri" pitchFamily="34" charset="-120"/>
              </a:rPr>
              <a:t>Introduction to Cluster Analysis in DMA
</a:t>
            </a:r>
            <a:endParaRPr lang="en-US" sz="2900" dirty="0"/>
          </a:p>
        </p:txBody>
      </p:sp>
      <p:sp>
        <p:nvSpPr>
          <p:cNvPr id="4" name="Text 1"/>
          <p:cNvSpPr/>
          <p:nvPr/>
        </p:nvSpPr>
        <p:spPr>
          <a:xfrm>
            <a:off x="5587860" y="3555911"/>
            <a:ext cx="4571886" cy="3200320"/>
          </a:xfrm>
          <a:prstGeom prst="rect">
            <a:avLst/>
          </a:prstGeom>
          <a:noFill/>
          <a:ln/>
        </p:spPr>
        <p:txBody>
          <a:bodyPr wrap="square" lIns="1016" tIns="1016" rIns="1016" bIns="1016" rtlCol="0" anchor="t"/>
          <a:lstStyle/>
          <a:p>
            <a:pPr algn="l" indent="0" marL="0">
              <a:lnSpc>
                <a:spcPct val="150000"/>
              </a:lnSpc>
              <a:buNone/>
            </a:pPr>
            <a:r>
              <a:rPr lang="en-US" sz="1300" dirty="0">
                <a:solidFill>
                  <a:srgbClr val="E9D8C8"/>
                </a:solidFill>
                <a:latin typeface="Calibri" pitchFamily="34" charset="0"/>
                <a:ea typeface="Calibri" pitchFamily="34" charset="-122"/>
                <a:cs typeface="Calibri" pitchFamily="34" charset="-120"/>
              </a:rPr>
              <a:t>Cluster analysis is a powerful statistical method used in Data Mining and Analytics (DMA) to group similar data points. By identifying patterns and relationships within datasets, businesses can enhance decision-making, optimize marketing strategies, and improve customer segmentation. This presentation will explore the fundamentals of cluster analysis, its applications in DMA, and real-world examples demonstrating its effectiveness in driving insights and value. Understanding these concepts is crucial for leveraging data in today's competitive landscape.
</a:t>
            </a:r>
            <a:endParaRPr lang="en-US" sz="1300" dirty="0"/>
          </a:p>
        </p:txBody>
      </p:sp>
      <p:sp>
        <p:nvSpPr>
          <p:cNvPr id="5" name="Text 2"/>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269968" y="507987"/>
            <a:ext cx="9651759" cy="1015975"/>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2B29C"/>
                </a:solidFill>
                <a:latin typeface="Calibri" pitchFamily="34" charset="0"/>
                <a:ea typeface="Calibri" pitchFamily="34" charset="-122"/>
                <a:cs typeface="Calibri" pitchFamily="34" charset="-120"/>
              </a:rPr>
              <a:t>What is Cluster Analysis?
</a:t>
            </a:r>
            <a:endParaRPr lang="en-US" sz="2900" dirty="0"/>
          </a:p>
        </p:txBody>
      </p:sp>
      <p:pic>
        <p:nvPicPr>
          <p:cNvPr id="3" name="Image 0" descr="https://images.unsplash.com/photo-1678845530864-18a666ca9762?crop=entropy&amp;cs=tinysrgb&amp;fit=max&amp;fm=jpg&amp;ixid=M3w2Njc0MzZ8MHwxfHNlYXJjaHwxfHxkYXRhJTIwY2x1c3RlcmluZ3xlbnwwfHx8fDE3NzYyMzE3MDZ8MA&amp;ixlib=rb-4.1.0&amp;q=80&amp;w=1080">    </p:cNvPr>
          <p:cNvPicPr>
            <a:picLocks noChangeAspect="1"/>
          </p:cNvPicPr>
          <p:nvPr/>
        </p:nvPicPr>
        <p:blipFill>
          <a:blip r:embed="rId1"/>
          <a:srcRect l="0" r="0" t="0" b="0"/>
          <a:stretch/>
        </p:blipFill>
        <p:spPr>
          <a:xfrm>
            <a:off x="8775481" y="0"/>
            <a:ext cx="3370495" cy="6812280"/>
          </a:xfrm>
          <a:prstGeom prst="rect">
            <a:avLst/>
          </a:prstGeom>
        </p:spPr>
      </p:pic>
      <p:sp>
        <p:nvSpPr>
          <p:cNvPr id="4" name="Shape 1"/>
          <p:cNvSpPr/>
          <p:nvPr/>
        </p:nvSpPr>
        <p:spPr>
          <a:xfrm>
            <a:off x="380990" y="1396965"/>
            <a:ext cx="3962301" cy="2438339"/>
          </a:xfrm>
          <a:prstGeom prst="rect">
            <a:avLst/>
          </a:prstGeom>
          <a:solidFill>
            <a:srgbClr val="000000">
              <a:alpha val="18000"/>
            </a:srgbClr>
          </a:solidFill>
          <a:ln/>
        </p:spPr>
      </p:sp>
      <p:sp>
        <p:nvSpPr>
          <p:cNvPr id="5" name="Text 2"/>
          <p:cNvSpPr/>
          <p:nvPr/>
        </p:nvSpPr>
        <p:spPr>
          <a:xfrm>
            <a:off x="634984"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Data Grouping Technique
</a:t>
            </a:r>
            <a:endParaRPr lang="en-US" sz="1300" dirty="0"/>
          </a:p>
        </p:txBody>
      </p:sp>
      <p:sp>
        <p:nvSpPr>
          <p:cNvPr id="6" name="Text 3"/>
          <p:cNvSpPr/>
          <p:nvPr/>
        </p:nvSpPr>
        <p:spPr>
          <a:xfrm>
            <a:off x="634984" y="2031949"/>
            <a:ext cx="3454314" cy="1574761"/>
          </a:xfrm>
          <a:prstGeom prst="rect">
            <a:avLst/>
          </a:prstGeom>
          <a:no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Cluster analysis groups data points based on similarities, allowing for the identification of distinct categories within large datasets, enhancing data interpretation.
</a:t>
            </a:r>
            <a:endParaRPr lang="en-US" sz="1300" dirty="0"/>
          </a:p>
        </p:txBody>
      </p:sp>
      <p:sp>
        <p:nvSpPr>
          <p:cNvPr id="7" name="Shape 4"/>
          <p:cNvSpPr/>
          <p:nvPr/>
        </p:nvSpPr>
        <p:spPr>
          <a:xfrm>
            <a:off x="4546486" y="1396965"/>
            <a:ext cx="3962301" cy="2133547"/>
          </a:xfrm>
          <a:prstGeom prst="rect">
            <a:avLst/>
          </a:prstGeom>
          <a:solidFill>
            <a:srgbClr val="000000">
              <a:alpha val="18000"/>
            </a:srgbClr>
          </a:solidFill>
          <a:ln/>
        </p:spPr>
      </p:sp>
      <p:sp>
        <p:nvSpPr>
          <p:cNvPr id="8" name="Text 5"/>
          <p:cNvSpPr/>
          <p:nvPr/>
        </p:nvSpPr>
        <p:spPr>
          <a:xfrm>
            <a:off x="4800480" y="1625559"/>
            <a:ext cx="3454314" cy="380990"/>
          </a:xfrm>
          <a:prstGeom prst="rect">
            <a:avLst/>
          </a:prstGeom>
          <a:no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Pattern Recognition
</a:t>
            </a:r>
            <a:endParaRPr lang="en-US" sz="1300" dirty="0"/>
          </a:p>
        </p:txBody>
      </p:sp>
      <p:sp>
        <p:nvSpPr>
          <p:cNvPr id="9" name="Text 6"/>
          <p:cNvSpPr/>
          <p:nvPr/>
        </p:nvSpPr>
        <p:spPr>
          <a:xfrm>
            <a:off x="4800480" y="2031949"/>
            <a:ext cx="3454314" cy="1269968"/>
          </a:xfrm>
          <a:prstGeom prst="rect">
            <a:avLst/>
          </a:prstGeom>
          <a:no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This method helps uncover hidden patterns and relationships in data, which can lead to valuable insights and informed decision-making across various fields.
</a:t>
            </a:r>
            <a:endParaRPr lang="en-US" sz="1300" dirty="0"/>
          </a:p>
        </p:txBody>
      </p:sp>
      <p:sp>
        <p:nvSpPr>
          <p:cNvPr id="10" name="Shape 7"/>
          <p:cNvSpPr/>
          <p:nvPr/>
        </p:nvSpPr>
        <p:spPr>
          <a:xfrm>
            <a:off x="380990" y="4343291"/>
            <a:ext cx="8140496" cy="800209"/>
          </a:xfrm>
          <a:prstGeom prst="rect">
            <a:avLst/>
          </a:prstGeom>
          <a:solidFill>
            <a:srgbClr val="000000">
              <a:alpha val="18000"/>
            </a:srgbClr>
          </a:solidFill>
          <a:ln/>
        </p:spPr>
      </p:sp>
      <p:sp>
        <p:nvSpPr>
          <p:cNvPr id="11" name="Text 8"/>
          <p:cNvSpPr/>
          <p:nvPr/>
        </p:nvSpPr>
        <p:spPr>
          <a:xfrm>
            <a:off x="634984" y="4571886"/>
            <a:ext cx="7632509" cy="380990"/>
          </a:xfrm>
          <a:prstGeom prst="rect">
            <a:avLst/>
          </a:prstGeom>
          <a:no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Applications Across Fields
</a:t>
            </a:r>
            <a:endParaRPr lang="en-US" sz="1300" dirty="0"/>
          </a:p>
        </p:txBody>
      </p:sp>
      <p:sp>
        <p:nvSpPr>
          <p:cNvPr id="12" name="Text 9"/>
          <p:cNvSpPr/>
          <p:nvPr/>
        </p:nvSpPr>
        <p:spPr>
          <a:xfrm>
            <a:off x="634984" y="4978276"/>
            <a:ext cx="7632509" cy="924537"/>
          </a:xfrm>
          <a:prstGeom prst="rect">
            <a:avLst/>
          </a:prstGeom>
          <a:no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Commonly utilized in marketing, biology, and social sciences, cluster analysis aids in segmenting customers, classifying species, and understanding social behaviors.
</a:t>
            </a:r>
            <a:endParaRPr lang="en-US" sz="1300" dirty="0"/>
          </a:p>
        </p:txBody>
      </p:sp>
      <p:sp>
        <p:nvSpPr>
          <p:cNvPr id="13"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269968" y="507987"/>
            <a:ext cx="9651759" cy="1015975"/>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2B29C"/>
                </a:solidFill>
                <a:latin typeface="Calibri" pitchFamily="34" charset="0"/>
                <a:ea typeface="Calibri" pitchFamily="34" charset="-122"/>
                <a:cs typeface="Calibri" pitchFamily="34" charset="-120"/>
              </a:rPr>
              <a:t>Types of Clustering Methods
</a:t>
            </a:r>
            <a:endParaRPr lang="en-US" sz="2900" dirty="0"/>
          </a:p>
        </p:txBody>
      </p:sp>
      <p:sp>
        <p:nvSpPr>
          <p:cNvPr id="3" name="Shape 1"/>
          <p:cNvSpPr/>
          <p:nvPr/>
        </p:nvSpPr>
        <p:spPr>
          <a:xfrm>
            <a:off x="380990" y="1523962"/>
            <a:ext cx="3606710" cy="3619538"/>
          </a:xfrm>
          <a:prstGeom prst="rect">
            <a:avLst/>
          </a:prstGeom>
          <a:solidFill>
            <a:srgbClr val="000000">
              <a:alpha val="18000"/>
            </a:srgbClr>
          </a:solidFill>
          <a:ln w="12700">
            <a:solidFill>
              <a:srgbClr val="000000"/>
            </a:solidFill>
            <a:prstDash val="solid"/>
          </a:ln>
        </p:spPr>
      </p:sp>
      <p:pic>
        <p:nvPicPr>
          <p:cNvPr id="4" name="Image 0" descr="https://images.unsplash.com/photo-1523937986058-3643cb987697?crop=entropy&amp;cs=tinysrgb&amp;fit=max&amp;fm=jpg&amp;ixid=M3w2Njc0MzZ8MHwxfHNlYXJjaHwxfHxLLW1lYW5zfGVufDB8fHx8MTc3NjIzMTcwN3ww&amp;ixlib=rb-4.1.0&amp;q=80&amp;w=1080">    </p:cNvPr>
          <p:cNvPicPr>
            <a:picLocks noChangeAspect="1"/>
          </p:cNvPicPr>
          <p:nvPr/>
        </p:nvPicPr>
        <p:blipFill>
          <a:blip r:embed="rId1"/>
          <a:srcRect l="0" r="0" t="0" b="0"/>
          <a:stretch/>
        </p:blipFill>
        <p:spPr>
          <a:xfrm>
            <a:off x="380990" y="1523962"/>
            <a:ext cx="3606710" cy="2336742"/>
          </a:xfrm>
          <a:prstGeom prst="rect">
            <a:avLst/>
          </a:prstGeom>
        </p:spPr>
      </p:pic>
      <p:sp>
        <p:nvSpPr>
          <p:cNvPr id="5" name="Text 2"/>
          <p:cNvSpPr/>
          <p:nvPr/>
        </p:nvSpPr>
        <p:spPr>
          <a:xfrm>
            <a:off x="380990"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K-means Clustering
</a:t>
            </a:r>
            <a:endParaRPr lang="en-US" sz="1300" dirty="0"/>
          </a:p>
        </p:txBody>
      </p:sp>
      <p:sp>
        <p:nvSpPr>
          <p:cNvPr id="6" name="Text 3"/>
          <p:cNvSpPr/>
          <p:nvPr/>
        </p:nvSpPr>
        <p:spPr>
          <a:xfrm>
            <a:off x="380990"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K-means clustering partitions data into K distinct clusters by minimizing variance within each cluster. It is widely used for market segmentation and image compression.
</a:t>
            </a:r>
            <a:endParaRPr lang="en-US" sz="1300" dirty="0"/>
          </a:p>
        </p:txBody>
      </p:sp>
      <p:sp>
        <p:nvSpPr>
          <p:cNvPr id="7" name="Shape 4"/>
          <p:cNvSpPr/>
          <p:nvPr/>
        </p:nvSpPr>
        <p:spPr>
          <a:xfrm>
            <a:off x="4292493" y="1523962"/>
            <a:ext cx="3606710" cy="3619538"/>
          </a:xfrm>
          <a:prstGeom prst="rect">
            <a:avLst/>
          </a:prstGeom>
          <a:solidFill>
            <a:srgbClr val="000000">
              <a:alpha val="18000"/>
            </a:srgbClr>
          </a:solidFill>
          <a:ln w="12700">
            <a:solidFill>
              <a:srgbClr val="000000"/>
            </a:solidFill>
            <a:prstDash val="solid"/>
          </a:ln>
        </p:spPr>
      </p:sp>
      <p:pic>
        <p:nvPicPr>
          <p:cNvPr id="8" name="Image 1" descr="https://images.unsplash.com/photo-1605618634609-88a1d02df188?crop=entropy&amp;cs=tinysrgb&amp;fit=max&amp;fm=jpg&amp;ixid=M3w2Njc0MzZ8MHwxfHNlYXJjaHwxfHxIaWVyYXJjaGljYWwlMjB0cmVlfGVufDB8fHx8MTc3NjIzMTcwN3ww&amp;ixlib=rb-4.1.0&amp;q=80&amp;w=1080">    </p:cNvPr>
          <p:cNvPicPr>
            <a:picLocks noChangeAspect="1"/>
          </p:cNvPicPr>
          <p:nvPr/>
        </p:nvPicPr>
        <p:blipFill>
          <a:blip r:embed="rId2"/>
          <a:srcRect l="0" r="0" t="0" b="0"/>
          <a:stretch/>
        </p:blipFill>
        <p:spPr>
          <a:xfrm>
            <a:off x="4292493" y="1523962"/>
            <a:ext cx="3606710" cy="2336742"/>
          </a:xfrm>
          <a:prstGeom prst="rect">
            <a:avLst/>
          </a:prstGeom>
        </p:spPr>
      </p:pic>
      <p:sp>
        <p:nvSpPr>
          <p:cNvPr id="9" name="Text 5"/>
          <p:cNvSpPr/>
          <p:nvPr/>
        </p:nvSpPr>
        <p:spPr>
          <a:xfrm>
            <a:off x="4292493"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Hierarchical Clustering
</a:t>
            </a:r>
            <a:endParaRPr lang="en-US" sz="1300" dirty="0"/>
          </a:p>
        </p:txBody>
      </p:sp>
      <p:sp>
        <p:nvSpPr>
          <p:cNvPr id="10" name="Text 6"/>
          <p:cNvSpPr/>
          <p:nvPr/>
        </p:nvSpPr>
        <p:spPr>
          <a:xfrm>
            <a:off x="4292493"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Hierarchical clustering builds a tree of clusters, allowing for a multi-level analysis. It is useful for understanding data relationships and is often visualized using dendrograms.
</a:t>
            </a:r>
            <a:endParaRPr lang="en-US" sz="1300" dirty="0"/>
          </a:p>
        </p:txBody>
      </p:sp>
      <p:sp>
        <p:nvSpPr>
          <p:cNvPr id="11" name="Shape 7"/>
          <p:cNvSpPr/>
          <p:nvPr/>
        </p:nvSpPr>
        <p:spPr>
          <a:xfrm>
            <a:off x="8203995" y="1523962"/>
            <a:ext cx="940005" cy="3619538"/>
          </a:xfrm>
          <a:prstGeom prst="rect">
            <a:avLst/>
          </a:prstGeom>
          <a:solidFill>
            <a:srgbClr val="000000">
              <a:alpha val="18000"/>
            </a:srgbClr>
          </a:solidFill>
          <a:ln w="12700">
            <a:solidFill>
              <a:srgbClr val="000000"/>
            </a:solidFill>
            <a:prstDash val="solid"/>
          </a:ln>
        </p:spPr>
      </p:sp>
      <p:pic>
        <p:nvPicPr>
          <p:cNvPr id="12" name="Image 2" descr="https://images.unsplash.com/photo-1585531708901-f5cb34432522?crop=entropy&amp;cs=tinysrgb&amp;fit=max&amp;fm=jpg&amp;ixid=M3w2Njc0MzZ8MHwxfHNlYXJjaHwxfHxHYXVzc2lhbiUyME1peHR1cmV8ZW58MHx8fHwxNzc2MjMxNzA4fDA&amp;ixlib=rb-4.1.0&amp;q=80&amp;w=1080">    </p:cNvPr>
          <p:cNvPicPr>
            <a:picLocks noChangeAspect="1"/>
          </p:cNvPicPr>
          <p:nvPr/>
        </p:nvPicPr>
        <p:blipFill>
          <a:blip r:embed="rId3"/>
          <a:srcRect l="0" r="0" t="0" b="0"/>
          <a:stretch/>
        </p:blipFill>
        <p:spPr>
          <a:xfrm>
            <a:off x="8203995" y="1523962"/>
            <a:ext cx="3606710" cy="2336742"/>
          </a:xfrm>
          <a:prstGeom prst="rect">
            <a:avLst/>
          </a:prstGeom>
        </p:spPr>
      </p:pic>
      <p:sp>
        <p:nvSpPr>
          <p:cNvPr id="13" name="Text 8"/>
          <p:cNvSpPr/>
          <p:nvPr/>
        </p:nvSpPr>
        <p:spPr>
          <a:xfrm>
            <a:off x="8203995"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DBSCAN
</a:t>
            </a:r>
            <a:endParaRPr lang="en-US" sz="1300" dirty="0"/>
          </a:p>
        </p:txBody>
      </p:sp>
      <p:sp>
        <p:nvSpPr>
          <p:cNvPr id="14" name="Text 9"/>
          <p:cNvSpPr/>
          <p:nvPr/>
        </p:nvSpPr>
        <p:spPr>
          <a:xfrm>
            <a:off x="8203995"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DBSCAN identifies clusters based on density, effectively handling noise and varying cluster shapes. It is particularly useful in spatial data analysis and anomaly detection.
</a:t>
            </a:r>
            <a:endParaRPr lang="en-US" sz="1300" dirty="0"/>
          </a:p>
        </p:txBody>
      </p:sp>
      <p:sp>
        <p:nvSpPr>
          <p:cNvPr id="15"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015975" y="761981"/>
            <a:ext cx="10159746" cy="660383"/>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2B29C"/>
                </a:solidFill>
                <a:latin typeface="Calibri" pitchFamily="34" charset="0"/>
                <a:ea typeface="Calibri" pitchFamily="34" charset="-122"/>
                <a:cs typeface="Calibri" pitchFamily="34" charset="-120"/>
              </a:rPr>
              <a:t>Clustering Method Performance Comparison
</a:t>
            </a:r>
            <a:endParaRPr lang="en-US" sz="2900" dirty="0"/>
          </a:p>
        </p:txBody>
      </p:sp>
      <p:graphicFrame>
        <p:nvGraphicFramePr>
          <p:cNvPr id="3" name="Chart 0" descr=""/>
          <p:cNvGraphicFramePr/>
          <p:nvPr/>
        </p:nvGraphicFramePr>
        <p:xfrm>
          <a:off x="1015975" y="1727157"/>
          <a:ext cx="10159746" cy="4114697"/>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269968" y="507987"/>
            <a:ext cx="9651759" cy="1015975"/>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2B29C"/>
                </a:solidFill>
                <a:latin typeface="Calibri" pitchFamily="34" charset="0"/>
                <a:ea typeface="Calibri" pitchFamily="34" charset="-122"/>
                <a:cs typeface="Calibri" pitchFamily="34" charset="-120"/>
              </a:rPr>
              <a:t>Applications of Cluster Analysis
</a:t>
            </a:r>
            <a:endParaRPr lang="en-US" sz="2900" dirty="0"/>
          </a:p>
        </p:txBody>
      </p:sp>
      <p:sp>
        <p:nvSpPr>
          <p:cNvPr id="3" name="Shape 1"/>
          <p:cNvSpPr/>
          <p:nvPr/>
        </p:nvSpPr>
        <p:spPr>
          <a:xfrm>
            <a:off x="380990" y="1523962"/>
            <a:ext cx="3606710" cy="3619538"/>
          </a:xfrm>
          <a:prstGeom prst="rect">
            <a:avLst/>
          </a:prstGeom>
          <a:solidFill>
            <a:srgbClr val="000000">
              <a:alpha val="18000"/>
            </a:srgbClr>
          </a:solidFill>
          <a:ln w="12700">
            <a:solidFill>
              <a:srgbClr val="000000"/>
            </a:solidFill>
            <a:prstDash val="solid"/>
          </a:ln>
        </p:spPr>
      </p:sp>
      <p:pic>
        <p:nvPicPr>
          <p:cNvPr id="4" name="Image 0" descr="https://images.unsplash.com/photo-1620206299186-4f8686055ab4?crop=entropy&amp;cs=tinysrgb&amp;fit=max&amp;fm=jpg&amp;ixid=M3w2Njc0MzZ8MHwxfHNlYXJjaHwxfHxtYXJrZXQlMjBzZWdtZW50YXRpb258ZW58MHx8fHwxNzc2MTU2NTQ3fDA&amp;ixlib=rb-4.1.0&amp;q=80&amp;w=1080">    </p:cNvPr>
          <p:cNvPicPr>
            <a:picLocks noChangeAspect="1"/>
          </p:cNvPicPr>
          <p:nvPr/>
        </p:nvPicPr>
        <p:blipFill>
          <a:blip r:embed="rId1"/>
          <a:srcRect l="0" r="0" t="0" b="0"/>
          <a:stretch/>
        </p:blipFill>
        <p:spPr>
          <a:xfrm>
            <a:off x="380990" y="1523962"/>
            <a:ext cx="3606710" cy="2336742"/>
          </a:xfrm>
          <a:prstGeom prst="rect">
            <a:avLst/>
          </a:prstGeom>
        </p:spPr>
      </p:pic>
      <p:sp>
        <p:nvSpPr>
          <p:cNvPr id="5" name="Text 2"/>
          <p:cNvSpPr/>
          <p:nvPr/>
        </p:nvSpPr>
        <p:spPr>
          <a:xfrm>
            <a:off x="380990"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Market Segmentation
</a:t>
            </a:r>
            <a:endParaRPr lang="en-US" sz="1300" dirty="0"/>
          </a:p>
        </p:txBody>
      </p:sp>
      <p:sp>
        <p:nvSpPr>
          <p:cNvPr id="6" name="Text 3"/>
          <p:cNvSpPr/>
          <p:nvPr/>
        </p:nvSpPr>
        <p:spPr>
          <a:xfrm>
            <a:off x="380990"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Cluster analysis identifies distinct customer groups, allowing businesses to tailor marketing strategies. For instance, 70% of companies report improved targeting through segmentation.
</a:t>
            </a:r>
            <a:endParaRPr lang="en-US" sz="1300" dirty="0"/>
          </a:p>
        </p:txBody>
      </p:sp>
      <p:sp>
        <p:nvSpPr>
          <p:cNvPr id="7" name="Shape 4"/>
          <p:cNvSpPr/>
          <p:nvPr/>
        </p:nvSpPr>
        <p:spPr>
          <a:xfrm>
            <a:off x="4292493" y="1523962"/>
            <a:ext cx="3606710" cy="3619538"/>
          </a:xfrm>
          <a:prstGeom prst="rect">
            <a:avLst/>
          </a:prstGeom>
          <a:solidFill>
            <a:srgbClr val="000000">
              <a:alpha val="18000"/>
            </a:srgbClr>
          </a:solidFill>
          <a:ln w="12700">
            <a:solidFill>
              <a:srgbClr val="000000"/>
            </a:solidFill>
            <a:prstDash val="solid"/>
          </a:ln>
        </p:spPr>
      </p:sp>
      <p:pic>
        <p:nvPicPr>
          <p:cNvPr id="8" name="Image 1" descr="https://images.unsplash.com/photo-1600852344090-12e843250e32?crop=entropy&amp;cs=tinysrgb&amp;fit=max&amp;fm=jpg&amp;ixid=M3w2Njc0MzZ8MHwxfHNlYXJjaHwxfHxpbWFnZSUyMHByb2Nlc3Npbmd8ZW58MHx8fHwxNzc2MjMxNzA3fDA&amp;ixlib=rb-4.1.0&amp;q=80&amp;w=1080">    </p:cNvPr>
          <p:cNvPicPr>
            <a:picLocks noChangeAspect="1"/>
          </p:cNvPicPr>
          <p:nvPr/>
        </p:nvPicPr>
        <p:blipFill>
          <a:blip r:embed="rId2"/>
          <a:srcRect l="0" r="0" t="0" b="0"/>
          <a:stretch/>
        </p:blipFill>
        <p:spPr>
          <a:xfrm>
            <a:off x="4292493" y="1523962"/>
            <a:ext cx="3606710" cy="2336742"/>
          </a:xfrm>
          <a:prstGeom prst="rect">
            <a:avLst/>
          </a:prstGeom>
        </p:spPr>
      </p:pic>
      <p:sp>
        <p:nvSpPr>
          <p:cNvPr id="9" name="Text 5"/>
          <p:cNvSpPr/>
          <p:nvPr/>
        </p:nvSpPr>
        <p:spPr>
          <a:xfrm>
            <a:off x="4292493"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Image Processing
</a:t>
            </a:r>
            <a:endParaRPr lang="en-US" sz="1300" dirty="0"/>
          </a:p>
        </p:txBody>
      </p:sp>
      <p:sp>
        <p:nvSpPr>
          <p:cNvPr id="10" name="Text 6"/>
          <p:cNvSpPr/>
          <p:nvPr/>
        </p:nvSpPr>
        <p:spPr>
          <a:xfrm>
            <a:off x="4292493"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In image processing, cluster analysis enhances object recognition. Techniques like k-means clustering improve accuracy by 30% in identifying objects in complex images.
</a:t>
            </a:r>
            <a:endParaRPr lang="en-US" sz="1300" dirty="0"/>
          </a:p>
        </p:txBody>
      </p:sp>
      <p:sp>
        <p:nvSpPr>
          <p:cNvPr id="11" name="Shape 7"/>
          <p:cNvSpPr/>
          <p:nvPr/>
        </p:nvSpPr>
        <p:spPr>
          <a:xfrm>
            <a:off x="8203995" y="1523962"/>
            <a:ext cx="940005" cy="3619538"/>
          </a:xfrm>
          <a:prstGeom prst="rect">
            <a:avLst/>
          </a:prstGeom>
          <a:solidFill>
            <a:srgbClr val="000000">
              <a:alpha val="18000"/>
            </a:srgbClr>
          </a:solidFill>
          <a:ln w="12700">
            <a:solidFill>
              <a:srgbClr val="000000"/>
            </a:solidFill>
            <a:prstDash val="solid"/>
          </a:ln>
        </p:spPr>
      </p:sp>
      <p:pic>
        <p:nvPicPr>
          <p:cNvPr id="12" name="Image 2" descr="https://images.unsplash.com/photo-1683721003111-070bcc053d8b?crop=entropy&amp;cs=tinysrgb&amp;fit=max&amp;fm=jpg&amp;ixid=M3w2Njc0MzZ8MHwxfHNlYXJjaHwxfHxzb2NpYWwlMjBuZXR3b3Jrc3xlbnwwfHx8fDE3NzYxODc1MTh8MA&amp;ixlib=rb-4.1.0&amp;q=80&amp;w=1080">    </p:cNvPr>
          <p:cNvPicPr>
            <a:picLocks noChangeAspect="1"/>
          </p:cNvPicPr>
          <p:nvPr/>
        </p:nvPicPr>
        <p:blipFill>
          <a:blip r:embed="rId3"/>
          <a:srcRect l="0" r="0" t="0" b="0"/>
          <a:stretch/>
        </p:blipFill>
        <p:spPr>
          <a:xfrm>
            <a:off x="8203995" y="1523962"/>
            <a:ext cx="3606710" cy="2336742"/>
          </a:xfrm>
          <a:prstGeom prst="rect">
            <a:avLst/>
          </a:prstGeom>
        </p:spPr>
      </p:pic>
      <p:sp>
        <p:nvSpPr>
          <p:cNvPr id="13" name="Text 8"/>
          <p:cNvSpPr/>
          <p:nvPr/>
        </p:nvSpPr>
        <p:spPr>
          <a:xfrm>
            <a:off x="8203995" y="4165496"/>
            <a:ext cx="3606710" cy="457189"/>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b="1" dirty="0">
                <a:solidFill>
                  <a:srgbClr val="F2B29C"/>
                </a:solidFill>
                <a:latin typeface="Calibri" pitchFamily="34" charset="0"/>
                <a:ea typeface="Calibri" pitchFamily="34" charset="-122"/>
                <a:cs typeface="Calibri" pitchFamily="34" charset="-120"/>
              </a:rPr>
              <a:t>Social Network Analysis
</a:t>
            </a:r>
            <a:endParaRPr lang="en-US" sz="1300" dirty="0"/>
          </a:p>
        </p:txBody>
      </p:sp>
      <p:sp>
        <p:nvSpPr>
          <p:cNvPr id="14" name="Text 9"/>
          <p:cNvSpPr/>
          <p:nvPr/>
        </p:nvSpPr>
        <p:spPr>
          <a:xfrm>
            <a:off x="8203995" y="4825879"/>
            <a:ext cx="3606710" cy="1523962"/>
          </a:xfrm>
          <a:prstGeom prst="rect">
            <a:avLst/>
          </a:prstGeom>
          <a:solidFill>
            <a:srgbClr val="FFFFFF">
              <a:alpha val="0"/>
            </a:srgbClr>
          </a:solid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Cluster analysis reveals community structures in social networks. For example, it helps identify influential users, improving engagement strategies by 25%.
</a:t>
            </a:r>
            <a:endParaRPr lang="en-US" sz="1300" dirty="0"/>
          </a:p>
        </p:txBody>
      </p:sp>
      <p:sp>
        <p:nvSpPr>
          <p:cNvPr id="15" name="Text 10"/>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269968" y="507987"/>
            <a:ext cx="9651759" cy="1015975"/>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2B29C"/>
                </a:solidFill>
                <a:latin typeface="Calibri" pitchFamily="34" charset="0"/>
                <a:ea typeface="Calibri" pitchFamily="34" charset="-122"/>
                <a:cs typeface="Calibri" pitchFamily="34" charset="-120"/>
              </a:rPr>
              <a:t>Real-World Applications of Cluster Analysis
</a:t>
            </a:r>
            <a:endParaRPr lang="en-US" sz="2900" dirty="0"/>
          </a:p>
        </p:txBody>
      </p:sp>
      <p:sp>
        <p:nvSpPr>
          <p:cNvPr id="3" name="Shape 1"/>
          <p:cNvSpPr/>
          <p:nvPr/>
        </p:nvSpPr>
        <p:spPr>
          <a:xfrm>
            <a:off x="698483" y="1523962"/>
            <a:ext cx="38099" cy="3619410"/>
          </a:xfrm>
          <a:prstGeom prst="rect">
            <a:avLst/>
          </a:prstGeom>
          <a:solidFill>
            <a:srgbClr val="8B5CF6"/>
          </a:solidFill>
          <a:ln/>
        </p:spPr>
      </p:sp>
      <p:pic>
        <p:nvPicPr>
          <p:cNvPr id="4" name="Image 0" descr="preencoded.png">    </p:cNvPr>
          <p:cNvPicPr>
            <a:picLocks noChangeAspect="1"/>
          </p:cNvPicPr>
          <p:nvPr/>
        </p:nvPicPr>
        <p:blipFill>
          <a:blip r:embed="rId1"/>
          <a:srcRect l="0" r="0" t="0" b="0"/>
          <a:stretch/>
        </p:blipFill>
        <p:spPr>
          <a:xfrm>
            <a:off x="507987" y="1320767"/>
            <a:ext cx="406390" cy="406390"/>
          </a:xfrm>
          <a:prstGeom prst="rect">
            <a:avLst/>
          </a:prstGeom>
        </p:spPr>
      </p:pic>
      <p:sp>
        <p:nvSpPr>
          <p:cNvPr id="5" name="Text 2"/>
          <p:cNvSpPr/>
          <p:nvPr/>
        </p:nvSpPr>
        <p:spPr>
          <a:xfrm>
            <a:off x="507987" y="1320767"/>
            <a:ext cx="406390" cy="406390"/>
          </a:xfrm>
          <a:prstGeom prst="rect">
            <a:avLst/>
          </a:prstGeom>
          <a:noFill/>
          <a:ln/>
        </p:spPr>
        <p:txBody>
          <a:bodyPr wrap="square" lIns="1016" tIns="1016" rIns="1016" bIns="1016"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3"/>
          <p:cNvSpPr/>
          <p:nvPr/>
        </p:nvSpPr>
        <p:spPr>
          <a:xfrm>
            <a:off x="1092173" y="1295368"/>
            <a:ext cx="8686583" cy="507987"/>
          </a:xfrm>
          <a:prstGeom prst="rect">
            <a:avLst/>
          </a:prstGeom>
          <a:noFill/>
          <a:ln/>
        </p:spPr>
        <p:txBody>
          <a:bodyPr wrap="square" lIns="0" tIns="0" rIns="0" bIns="0" rtlCol="0" anchor="t"/>
          <a:lstStyle/>
          <a:p>
            <a:pPr algn="l" indent="0" marL="0">
              <a:lnSpc>
                <a:spcPct val="130000"/>
              </a:lnSpc>
              <a:buNone/>
            </a:pPr>
            <a:r>
              <a:rPr lang="en-US" sz="1400" b="1" dirty="0">
                <a:solidFill>
                  <a:srgbClr val="F2B29C"/>
                </a:solidFill>
                <a:latin typeface="Calibri" pitchFamily="34" charset="0"/>
                <a:ea typeface="Calibri" pitchFamily="34" charset="-122"/>
                <a:cs typeface="Calibri" pitchFamily="34" charset="-120"/>
              </a:rPr>
              <a:t>Retail Customer Segmentation
</a:t>
            </a:r>
            <a:endParaRPr lang="en-US" sz="1400" dirty="0"/>
          </a:p>
        </p:txBody>
      </p:sp>
      <p:sp>
        <p:nvSpPr>
          <p:cNvPr id="7" name="Text 4"/>
          <p:cNvSpPr/>
          <p:nvPr/>
        </p:nvSpPr>
        <p:spPr>
          <a:xfrm>
            <a:off x="1092173" y="1752556"/>
            <a:ext cx="8686583" cy="924537"/>
          </a:xfrm>
          <a:prstGeom prst="rect">
            <a:avLst/>
          </a:prstGeom>
          <a:no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Retailers like Amazon use clustering to segment customers based on purchasing behavior, enhancing targeted marketing strategies and increasing sales by up to 30%.
</a:t>
            </a:r>
            <a:endParaRPr lang="en-US" sz="1300" dirty="0"/>
          </a:p>
        </p:txBody>
      </p:sp>
      <p:pic>
        <p:nvPicPr>
          <p:cNvPr id="8" name="Image 1" descr="preencoded.png">    </p:cNvPr>
          <p:cNvPicPr>
            <a:picLocks noChangeAspect="1"/>
          </p:cNvPicPr>
          <p:nvPr/>
        </p:nvPicPr>
        <p:blipFill>
          <a:blip r:embed="rId2"/>
          <a:srcRect l="0" r="0" t="0" b="0"/>
          <a:stretch/>
        </p:blipFill>
        <p:spPr>
          <a:xfrm>
            <a:off x="507987" y="2527237"/>
            <a:ext cx="406390" cy="406390"/>
          </a:xfrm>
          <a:prstGeom prst="rect">
            <a:avLst/>
          </a:prstGeom>
        </p:spPr>
      </p:pic>
      <p:sp>
        <p:nvSpPr>
          <p:cNvPr id="9" name="Text 5"/>
          <p:cNvSpPr/>
          <p:nvPr/>
        </p:nvSpPr>
        <p:spPr>
          <a:xfrm>
            <a:off x="507987" y="2527237"/>
            <a:ext cx="406390" cy="406390"/>
          </a:xfrm>
          <a:prstGeom prst="rect">
            <a:avLst/>
          </a:prstGeom>
          <a:noFill/>
          <a:ln/>
        </p:spPr>
        <p:txBody>
          <a:bodyPr wrap="square" lIns="1016" tIns="1016" rIns="1016" bIns="1016"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6"/>
          <p:cNvSpPr/>
          <p:nvPr/>
        </p:nvSpPr>
        <p:spPr>
          <a:xfrm>
            <a:off x="1092173" y="2501837"/>
            <a:ext cx="8686583" cy="507987"/>
          </a:xfrm>
          <a:prstGeom prst="rect">
            <a:avLst/>
          </a:prstGeom>
          <a:noFill/>
          <a:ln/>
        </p:spPr>
        <p:txBody>
          <a:bodyPr wrap="square" lIns="0" tIns="0" rIns="0" bIns="0" rtlCol="0" anchor="t"/>
          <a:lstStyle/>
          <a:p>
            <a:pPr algn="l" indent="0" marL="0">
              <a:lnSpc>
                <a:spcPct val="130000"/>
              </a:lnSpc>
              <a:buNone/>
            </a:pPr>
            <a:r>
              <a:rPr lang="en-US" sz="1400" b="1" dirty="0">
                <a:solidFill>
                  <a:srgbClr val="F2B29C"/>
                </a:solidFill>
                <a:latin typeface="Calibri" pitchFamily="34" charset="0"/>
                <a:ea typeface="Calibri" pitchFamily="34" charset="-122"/>
                <a:cs typeface="Calibri" pitchFamily="34" charset="-120"/>
              </a:rPr>
              <a:t>Healthcare Patient Analysis
</a:t>
            </a:r>
            <a:endParaRPr lang="en-US" sz="1400" dirty="0"/>
          </a:p>
        </p:txBody>
      </p:sp>
      <p:sp>
        <p:nvSpPr>
          <p:cNvPr id="11" name="Text 7"/>
          <p:cNvSpPr/>
          <p:nvPr/>
        </p:nvSpPr>
        <p:spPr>
          <a:xfrm>
            <a:off x="1092173" y="2959026"/>
            <a:ext cx="8686583" cy="924537"/>
          </a:xfrm>
          <a:prstGeom prst="rect">
            <a:avLst/>
          </a:prstGeom>
          <a:no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Healthcare providers utilize clustering to analyze patient data, improving treatment plans and outcomes. For instance, clustering can identify high-risk patients for proactive care.
</a:t>
            </a:r>
            <a:endParaRPr lang="en-US" sz="1300" dirty="0"/>
          </a:p>
        </p:txBody>
      </p:sp>
      <p:pic>
        <p:nvPicPr>
          <p:cNvPr id="12" name="Image 2" descr="preencoded.png">    </p:cNvPr>
          <p:cNvPicPr>
            <a:picLocks noChangeAspect="1"/>
          </p:cNvPicPr>
          <p:nvPr/>
        </p:nvPicPr>
        <p:blipFill>
          <a:blip r:embed="rId3"/>
          <a:srcRect l="0" r="0" t="0" b="0"/>
          <a:stretch/>
        </p:blipFill>
        <p:spPr>
          <a:xfrm>
            <a:off x="507987" y="3733707"/>
            <a:ext cx="406390" cy="406390"/>
          </a:xfrm>
          <a:prstGeom prst="rect">
            <a:avLst/>
          </a:prstGeom>
        </p:spPr>
      </p:pic>
      <p:sp>
        <p:nvSpPr>
          <p:cNvPr id="13" name="Text 8"/>
          <p:cNvSpPr/>
          <p:nvPr/>
        </p:nvSpPr>
        <p:spPr>
          <a:xfrm>
            <a:off x="507987" y="3733707"/>
            <a:ext cx="406390" cy="406390"/>
          </a:xfrm>
          <a:prstGeom prst="rect">
            <a:avLst/>
          </a:prstGeom>
          <a:noFill/>
          <a:ln/>
        </p:spPr>
        <p:txBody>
          <a:bodyPr wrap="square" lIns="1016" tIns="1016" rIns="1016" bIns="1016"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4" name="Text 9"/>
          <p:cNvSpPr/>
          <p:nvPr/>
        </p:nvSpPr>
        <p:spPr>
          <a:xfrm>
            <a:off x="1092173" y="3708307"/>
            <a:ext cx="8686583" cy="507987"/>
          </a:xfrm>
          <a:prstGeom prst="rect">
            <a:avLst/>
          </a:prstGeom>
          <a:noFill/>
          <a:ln/>
        </p:spPr>
        <p:txBody>
          <a:bodyPr wrap="square" lIns="0" tIns="0" rIns="0" bIns="0" rtlCol="0" anchor="t"/>
          <a:lstStyle/>
          <a:p>
            <a:pPr algn="l" indent="0" marL="0">
              <a:lnSpc>
                <a:spcPct val="130000"/>
              </a:lnSpc>
              <a:buNone/>
            </a:pPr>
            <a:r>
              <a:rPr lang="en-US" sz="1400" b="1" dirty="0">
                <a:solidFill>
                  <a:srgbClr val="F2B29C"/>
                </a:solidFill>
                <a:latin typeface="Calibri" pitchFamily="34" charset="0"/>
                <a:ea typeface="Calibri" pitchFamily="34" charset="-122"/>
                <a:cs typeface="Calibri" pitchFamily="34" charset="-120"/>
              </a:rPr>
              <a:t>Fraud Detection in Finance
</a:t>
            </a:r>
            <a:endParaRPr lang="en-US" sz="1400" dirty="0"/>
          </a:p>
        </p:txBody>
      </p:sp>
      <p:sp>
        <p:nvSpPr>
          <p:cNvPr id="15" name="Text 10"/>
          <p:cNvSpPr/>
          <p:nvPr/>
        </p:nvSpPr>
        <p:spPr>
          <a:xfrm>
            <a:off x="1092173" y="4165496"/>
            <a:ext cx="8686583" cy="924537"/>
          </a:xfrm>
          <a:prstGeom prst="rect">
            <a:avLst/>
          </a:prstGeom>
          <a:no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Financial institutions employ clustering techniques to detect fraudulent transactions, reducing fraud losses by approximately 20% through real-time anomaly detection.
</a:t>
            </a:r>
            <a:endParaRPr lang="en-US" sz="1300" dirty="0"/>
          </a:p>
        </p:txBody>
      </p:sp>
      <p:pic>
        <p:nvPicPr>
          <p:cNvPr id="16" name="Image 3" descr="preencoded.png">    </p:cNvPr>
          <p:cNvPicPr>
            <a:picLocks noChangeAspect="1"/>
          </p:cNvPicPr>
          <p:nvPr/>
        </p:nvPicPr>
        <p:blipFill>
          <a:blip r:embed="rId4"/>
          <a:srcRect l="0" r="0" t="0" b="0"/>
          <a:stretch/>
        </p:blipFill>
        <p:spPr>
          <a:xfrm>
            <a:off x="507987" y="4940176"/>
            <a:ext cx="406390" cy="203324"/>
          </a:xfrm>
          <a:prstGeom prst="rect">
            <a:avLst/>
          </a:prstGeom>
        </p:spPr>
      </p:pic>
      <p:sp>
        <p:nvSpPr>
          <p:cNvPr id="17" name="Text 11"/>
          <p:cNvSpPr/>
          <p:nvPr/>
        </p:nvSpPr>
        <p:spPr>
          <a:xfrm>
            <a:off x="507987" y="4940176"/>
            <a:ext cx="406390" cy="406390"/>
          </a:xfrm>
          <a:prstGeom prst="rect">
            <a:avLst/>
          </a:prstGeom>
          <a:noFill/>
          <a:ln/>
        </p:spPr>
        <p:txBody>
          <a:bodyPr wrap="square" lIns="1016" tIns="1016" rIns="1016" bIns="1016" rtlCol="0" anchor="t"/>
          <a:lstStyle/>
          <a:p>
            <a:pPr algn="ctr" indent="0" marL="0">
              <a:lnSpc>
                <a:spcPct val="100000"/>
              </a:lnSpc>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8" name="Text 12"/>
          <p:cNvSpPr/>
          <p:nvPr/>
        </p:nvSpPr>
        <p:spPr>
          <a:xfrm>
            <a:off x="1092173" y="4914777"/>
            <a:ext cx="8686583" cy="507987"/>
          </a:xfrm>
          <a:prstGeom prst="rect">
            <a:avLst/>
          </a:prstGeom>
          <a:noFill/>
          <a:ln/>
        </p:spPr>
        <p:txBody>
          <a:bodyPr wrap="square" lIns="0" tIns="0" rIns="0" bIns="0" rtlCol="0" anchor="t"/>
          <a:lstStyle/>
          <a:p>
            <a:pPr algn="l" indent="0" marL="0">
              <a:lnSpc>
                <a:spcPct val="130000"/>
              </a:lnSpc>
              <a:buNone/>
            </a:pPr>
            <a:r>
              <a:rPr lang="en-US" sz="1400" b="1" dirty="0">
                <a:solidFill>
                  <a:srgbClr val="F2B29C"/>
                </a:solidFill>
                <a:latin typeface="Calibri" pitchFamily="34" charset="0"/>
                <a:ea typeface="Calibri" pitchFamily="34" charset="-122"/>
                <a:cs typeface="Calibri" pitchFamily="34" charset="-120"/>
              </a:rPr>
              <a:t>Telecom Network Optimization
</a:t>
            </a:r>
            <a:endParaRPr lang="en-US" sz="1400" dirty="0"/>
          </a:p>
        </p:txBody>
      </p:sp>
      <p:sp>
        <p:nvSpPr>
          <p:cNvPr id="19" name="Text 13"/>
          <p:cNvSpPr/>
          <p:nvPr/>
        </p:nvSpPr>
        <p:spPr>
          <a:xfrm>
            <a:off x="1092173" y="5371966"/>
            <a:ext cx="8686583" cy="924537"/>
          </a:xfrm>
          <a:prstGeom prst="rect">
            <a:avLst/>
          </a:prstGeom>
          <a:noFill/>
          <a:ln/>
        </p:spPr>
        <p:txBody>
          <a:bodyPr wrap="square" lIns="0" tIns="0" rIns="0" bIns="0"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Telecommunications companies apply clustering to optimize network performance, enhancing service quality and reducing operational costs by analyzing usage patterns and traffic.
</a:t>
            </a:r>
            <a:endParaRPr lang="en-US" sz="1300" dirty="0"/>
          </a:p>
        </p:txBody>
      </p:sp>
      <p:sp>
        <p:nvSpPr>
          <p:cNvPr id="20" name="Text 14"/>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269968" y="507987"/>
            <a:ext cx="9651759" cy="888978"/>
          </a:xfrm>
          <a:prstGeom prst="rect">
            <a:avLst/>
          </a:prstGeom>
          <a:noFill/>
          <a:ln/>
        </p:spPr>
        <p:txBody>
          <a:bodyPr wrap="square" lIns="1016" tIns="1016" rIns="1016" bIns="1016" rtlCol="0" anchor="t"/>
          <a:lstStyle/>
          <a:p>
            <a:pPr algn="l" indent="0" marL="0">
              <a:lnSpc>
                <a:spcPct val="130000"/>
              </a:lnSpc>
              <a:buNone/>
            </a:pPr>
            <a:r>
              <a:rPr lang="en-US" sz="2900" b="1" dirty="0">
                <a:solidFill>
                  <a:srgbClr val="F2B29C"/>
                </a:solidFill>
                <a:latin typeface="Calibri" pitchFamily="34" charset="0"/>
                <a:ea typeface="Calibri" pitchFamily="34" charset="-122"/>
                <a:cs typeface="Calibri" pitchFamily="34" charset="-120"/>
              </a:rPr>
              <a:t>Transformative Impact of Cluster Analysis
</a:t>
            </a:r>
            <a:endParaRPr lang="en-US" sz="2900" dirty="0"/>
          </a:p>
        </p:txBody>
      </p:sp>
      <p:sp>
        <p:nvSpPr>
          <p:cNvPr id="3" name="Text 1"/>
          <p:cNvSpPr/>
          <p:nvPr/>
        </p:nvSpPr>
        <p:spPr>
          <a:xfrm>
            <a:off x="1269968" y="1650959"/>
            <a:ext cx="2878595"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F2B29C"/>
                </a:solidFill>
                <a:latin typeface="Calibri" pitchFamily="34" charset="0"/>
                <a:ea typeface="Calibri" pitchFamily="34" charset="-122"/>
                <a:cs typeface="Calibri" pitchFamily="34" charset="-120"/>
              </a:rPr>
              <a:t>20%
</a:t>
            </a:r>
            <a:endParaRPr lang="en-US" sz="4300" dirty="0"/>
          </a:p>
        </p:txBody>
      </p:sp>
      <p:sp>
        <p:nvSpPr>
          <p:cNvPr id="4" name="Text 2"/>
          <p:cNvSpPr/>
          <p:nvPr/>
        </p:nvSpPr>
        <p:spPr>
          <a:xfrm>
            <a:off x="1269968" y="2730432"/>
            <a:ext cx="2878595"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F2B29C"/>
                </a:solidFill>
                <a:latin typeface="Calibri" pitchFamily="34" charset="0"/>
                <a:ea typeface="Calibri" pitchFamily="34" charset="-122"/>
                <a:cs typeface="Calibri" pitchFamily="34" charset="-120"/>
              </a:rPr>
              <a:t>Increase in Sales
</a:t>
            </a:r>
            <a:endParaRPr lang="en-US" sz="1600" dirty="0"/>
          </a:p>
        </p:txBody>
      </p:sp>
      <p:sp>
        <p:nvSpPr>
          <p:cNvPr id="5" name="Text 3"/>
          <p:cNvSpPr/>
          <p:nvPr/>
        </p:nvSpPr>
        <p:spPr>
          <a:xfrm>
            <a:off x="1269968" y="3174921"/>
            <a:ext cx="2878595"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E9D8C8"/>
                </a:solidFill>
                <a:latin typeface="Calibri" pitchFamily="34" charset="0"/>
                <a:ea typeface="Calibri" pitchFamily="34" charset="-122"/>
                <a:cs typeface="Calibri" pitchFamily="34" charset="-120"/>
              </a:rPr>
              <a:t>Companies leveraging clustering techniques
</a:t>
            </a:r>
            <a:endParaRPr lang="en-US" sz="1300" dirty="0"/>
          </a:p>
        </p:txBody>
      </p:sp>
      <p:sp>
        <p:nvSpPr>
          <p:cNvPr id="6" name="Text 4"/>
          <p:cNvSpPr/>
          <p:nvPr/>
        </p:nvSpPr>
        <p:spPr>
          <a:xfrm>
            <a:off x="4656550" y="1650959"/>
            <a:ext cx="2878595"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F2B29C"/>
                </a:solidFill>
                <a:latin typeface="Calibri" pitchFamily="34" charset="0"/>
                <a:ea typeface="Calibri" pitchFamily="34" charset="-122"/>
                <a:cs typeface="Calibri" pitchFamily="34" charset="-120"/>
              </a:rPr>
              <a:t>15%
</a:t>
            </a:r>
            <a:endParaRPr lang="en-US" sz="4300" dirty="0"/>
          </a:p>
        </p:txBody>
      </p:sp>
      <p:sp>
        <p:nvSpPr>
          <p:cNvPr id="7" name="Text 5"/>
          <p:cNvSpPr/>
          <p:nvPr/>
        </p:nvSpPr>
        <p:spPr>
          <a:xfrm>
            <a:off x="4656550" y="2730432"/>
            <a:ext cx="2878595"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F2B29C"/>
                </a:solidFill>
                <a:latin typeface="Calibri" pitchFamily="34" charset="0"/>
                <a:ea typeface="Calibri" pitchFamily="34" charset="-122"/>
                <a:cs typeface="Calibri" pitchFamily="34" charset="-120"/>
              </a:rPr>
              <a:t>Reduction in Customer Acquisition Costs
</a:t>
            </a:r>
            <a:endParaRPr lang="en-US" sz="1600" dirty="0"/>
          </a:p>
        </p:txBody>
      </p:sp>
      <p:sp>
        <p:nvSpPr>
          <p:cNvPr id="8" name="Text 6"/>
          <p:cNvSpPr/>
          <p:nvPr/>
        </p:nvSpPr>
        <p:spPr>
          <a:xfrm>
            <a:off x="4656550" y="3174921"/>
            <a:ext cx="2878595"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E9D8C8"/>
                </a:solidFill>
                <a:latin typeface="Calibri" pitchFamily="34" charset="0"/>
                <a:ea typeface="Calibri" pitchFamily="34" charset="-122"/>
                <a:cs typeface="Calibri" pitchFamily="34" charset="-120"/>
              </a:rPr>
              <a:t>Achieved through targeted marketing strategies
</a:t>
            </a:r>
            <a:endParaRPr lang="en-US" sz="1300" dirty="0"/>
          </a:p>
        </p:txBody>
      </p:sp>
      <p:sp>
        <p:nvSpPr>
          <p:cNvPr id="9" name="Text 7"/>
          <p:cNvSpPr/>
          <p:nvPr/>
        </p:nvSpPr>
        <p:spPr>
          <a:xfrm>
            <a:off x="8043132" y="1650959"/>
            <a:ext cx="2878595"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F2B29C"/>
                </a:solidFill>
                <a:latin typeface="Calibri" pitchFamily="34" charset="0"/>
                <a:ea typeface="Calibri" pitchFamily="34" charset="-122"/>
                <a:cs typeface="Calibri" pitchFamily="34" charset="-120"/>
              </a:rPr>
              <a:t>30%
</a:t>
            </a:r>
            <a:endParaRPr lang="en-US" sz="4300" dirty="0"/>
          </a:p>
        </p:txBody>
      </p:sp>
      <p:sp>
        <p:nvSpPr>
          <p:cNvPr id="10" name="Text 8"/>
          <p:cNvSpPr/>
          <p:nvPr/>
        </p:nvSpPr>
        <p:spPr>
          <a:xfrm>
            <a:off x="8043132" y="2730432"/>
            <a:ext cx="2878595"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F2B29C"/>
                </a:solidFill>
                <a:latin typeface="Calibri" pitchFamily="34" charset="0"/>
                <a:ea typeface="Calibri" pitchFamily="34" charset="-122"/>
                <a:cs typeface="Calibri" pitchFamily="34" charset="-120"/>
              </a:rPr>
              <a:t>Improvement in Patient Outcomes
</a:t>
            </a:r>
            <a:endParaRPr lang="en-US" sz="1600" dirty="0"/>
          </a:p>
        </p:txBody>
      </p:sp>
      <p:sp>
        <p:nvSpPr>
          <p:cNvPr id="11" name="Text 9"/>
          <p:cNvSpPr/>
          <p:nvPr/>
        </p:nvSpPr>
        <p:spPr>
          <a:xfrm>
            <a:off x="8043132" y="3174921"/>
            <a:ext cx="2878595"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E9D8C8"/>
                </a:solidFill>
                <a:latin typeface="Calibri" pitchFamily="34" charset="0"/>
                <a:ea typeface="Calibri" pitchFamily="34" charset="-122"/>
                <a:cs typeface="Calibri" pitchFamily="34" charset="-120"/>
              </a:rPr>
              <a:t>Healthcare organizations utilizing clustering
</a:t>
            </a:r>
            <a:endParaRPr lang="en-US" sz="1300" dirty="0"/>
          </a:p>
        </p:txBody>
      </p:sp>
      <p:sp>
        <p:nvSpPr>
          <p:cNvPr id="12" name="Text 10"/>
          <p:cNvSpPr/>
          <p:nvPr/>
        </p:nvSpPr>
        <p:spPr>
          <a:xfrm>
            <a:off x="1269968" y="3936902"/>
            <a:ext cx="2878595" cy="1015975"/>
          </a:xfrm>
          <a:prstGeom prst="rect">
            <a:avLst/>
          </a:prstGeom>
          <a:noFill/>
          <a:ln/>
        </p:spPr>
        <p:txBody>
          <a:bodyPr wrap="square" lIns="1016" tIns="1016" rIns="1016" bIns="1016" rtlCol="0" anchor="t"/>
          <a:lstStyle/>
          <a:p>
            <a:pPr algn="ctr" indent="0" marL="0">
              <a:lnSpc>
                <a:spcPct val="130000"/>
              </a:lnSpc>
              <a:buNone/>
            </a:pPr>
            <a:r>
              <a:rPr lang="en-US" sz="4300" b="1" dirty="0">
                <a:solidFill>
                  <a:srgbClr val="F2B29C"/>
                </a:solidFill>
                <a:latin typeface="Calibri" pitchFamily="34" charset="0"/>
                <a:ea typeface="Calibri" pitchFamily="34" charset="-122"/>
                <a:cs typeface="Calibri" pitchFamily="34" charset="-120"/>
              </a:rPr>
              <a:t>25%
</a:t>
            </a:r>
            <a:endParaRPr lang="en-US" sz="4300" dirty="0"/>
          </a:p>
        </p:txBody>
      </p:sp>
      <p:sp>
        <p:nvSpPr>
          <p:cNvPr id="13" name="Text 11"/>
          <p:cNvSpPr/>
          <p:nvPr/>
        </p:nvSpPr>
        <p:spPr>
          <a:xfrm>
            <a:off x="1269968" y="5016375"/>
            <a:ext cx="2878595" cy="380990"/>
          </a:xfrm>
          <a:prstGeom prst="rect">
            <a:avLst/>
          </a:prstGeom>
          <a:noFill/>
          <a:ln/>
        </p:spPr>
        <p:txBody>
          <a:bodyPr wrap="square" lIns="1016" tIns="1016" rIns="1016" bIns="1016" rtlCol="0" anchor="t"/>
          <a:lstStyle/>
          <a:p>
            <a:pPr algn="ctr" indent="0" marL="0">
              <a:lnSpc>
                <a:spcPct val="130000"/>
              </a:lnSpc>
              <a:buNone/>
            </a:pPr>
            <a:r>
              <a:rPr lang="en-US" sz="1600" dirty="0">
                <a:solidFill>
                  <a:srgbClr val="F2B29C"/>
                </a:solidFill>
                <a:latin typeface="Calibri" pitchFamily="34" charset="0"/>
                <a:ea typeface="Calibri" pitchFamily="34" charset="-122"/>
                <a:cs typeface="Calibri" pitchFamily="34" charset="-120"/>
              </a:rPr>
              <a:t>Increase in Fraud Detection Accuracy
</a:t>
            </a:r>
            <a:endParaRPr lang="en-US" sz="1600" dirty="0"/>
          </a:p>
        </p:txBody>
      </p:sp>
      <p:sp>
        <p:nvSpPr>
          <p:cNvPr id="14" name="Text 12"/>
          <p:cNvSpPr/>
          <p:nvPr/>
        </p:nvSpPr>
        <p:spPr>
          <a:xfrm>
            <a:off x="1269968" y="5460863"/>
            <a:ext cx="2878595" cy="571486"/>
          </a:xfrm>
          <a:prstGeom prst="rect">
            <a:avLst/>
          </a:prstGeom>
          <a:noFill/>
          <a:ln/>
        </p:spPr>
        <p:txBody>
          <a:bodyPr wrap="square" lIns="1016" tIns="1016" rIns="1016" bIns="1016" rtlCol="0" anchor="t"/>
          <a:lstStyle/>
          <a:p>
            <a:pPr algn="ctr" indent="0" marL="0">
              <a:lnSpc>
                <a:spcPct val="130000"/>
              </a:lnSpc>
              <a:buNone/>
            </a:pPr>
            <a:r>
              <a:rPr lang="en-US" sz="1300" dirty="0">
                <a:solidFill>
                  <a:srgbClr val="E9D8C8"/>
                </a:solidFill>
                <a:latin typeface="Calibri" pitchFamily="34" charset="0"/>
                <a:ea typeface="Calibri" pitchFamily="34" charset="-122"/>
                <a:cs typeface="Calibri" pitchFamily="34" charset="-120"/>
              </a:rPr>
              <a:t>Enabled by advanced clustering algorithms
</a:t>
            </a:r>
            <a:endParaRPr lang="en-US" sz="1300" dirty="0"/>
          </a:p>
        </p:txBody>
      </p:sp>
      <p:sp>
        <p:nvSpPr>
          <p:cNvPr id="15" name="Text 13"/>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015975" y="761981"/>
            <a:ext cx="10159746" cy="660383"/>
          </a:xfrm>
          <a:prstGeom prst="rect">
            <a:avLst/>
          </a:prstGeom>
          <a:noFill/>
          <a:ln/>
        </p:spPr>
        <p:txBody>
          <a:bodyPr wrap="square" lIns="1016" tIns="1016" rIns="1016" bIns="1016" rtlCol="0" anchor="t"/>
          <a:lstStyle/>
          <a:p>
            <a:pPr algn="l" indent="0" marL="0">
              <a:lnSpc>
                <a:spcPct val="120000"/>
              </a:lnSpc>
              <a:buNone/>
            </a:pPr>
            <a:r>
              <a:rPr lang="en-US" sz="2900" b="1" dirty="0">
                <a:solidFill>
                  <a:srgbClr val="F2B29C"/>
                </a:solidFill>
                <a:latin typeface="Calibri" pitchFamily="34" charset="0"/>
                <a:ea typeface="Calibri" pitchFamily="34" charset="-122"/>
                <a:cs typeface="Calibri" pitchFamily="34" charset="-120"/>
              </a:rPr>
              <a:t>Steps in Cluster Analysis
</a:t>
            </a:r>
            <a:endParaRPr lang="en-US" sz="2900" dirty="0"/>
          </a:p>
        </p:txBody>
      </p:sp>
      <p:pic>
        <p:nvPicPr>
          <p:cNvPr id="3" name="Image 0" descr="preencoded.png">    </p:cNvPr>
          <p:cNvPicPr>
            <a:picLocks noChangeAspect="1"/>
          </p:cNvPicPr>
          <p:nvPr/>
        </p:nvPicPr>
        <p:blipFill>
          <a:blip r:embed="rId1"/>
          <a:srcRect l="0" r="0" t="0" b="0"/>
          <a:stretch/>
        </p:blipFill>
        <p:spPr>
          <a:xfrm>
            <a:off x="1523962" y="1932892"/>
            <a:ext cx="9143771" cy="3703227"/>
          </a:xfrm>
          <a:prstGeom prst="rect">
            <a:avLst/>
          </a:prstGeom>
        </p:spPr>
      </p:pic>
      <p:sp>
        <p:nvSpPr>
          <p:cNvPr id="4" name="Text 1"/>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269968" y="507987"/>
            <a:ext cx="9651759" cy="888978"/>
          </a:xfrm>
          <a:prstGeom prst="rect">
            <a:avLst/>
          </a:prstGeom>
          <a:noFill/>
          <a:ln/>
        </p:spPr>
        <p:txBody>
          <a:bodyPr wrap="square" lIns="1016" tIns="1016" rIns="1016" bIns="1016" rtlCol="0" anchor="t"/>
          <a:lstStyle/>
          <a:p>
            <a:pPr algn="l" indent="0" marL="0">
              <a:lnSpc>
                <a:spcPct val="130000"/>
              </a:lnSpc>
              <a:buNone/>
            </a:pPr>
            <a:r>
              <a:rPr lang="en-US" sz="2900" b="1" dirty="0">
                <a:solidFill>
                  <a:srgbClr val="F2B29C"/>
                </a:solidFill>
                <a:latin typeface="Calibri" pitchFamily="34" charset="0"/>
                <a:ea typeface="Calibri" pitchFamily="34" charset="-122"/>
                <a:cs typeface="Calibri" pitchFamily="34" charset="-120"/>
              </a:rPr>
              <a:t>Frequently Asked Questions
</a:t>
            </a:r>
            <a:endParaRPr lang="en-US" sz="2900" dirty="0"/>
          </a:p>
        </p:txBody>
      </p:sp>
      <p:sp>
        <p:nvSpPr>
          <p:cNvPr id="3" name="Text 1"/>
          <p:cNvSpPr/>
          <p:nvPr/>
        </p:nvSpPr>
        <p:spPr>
          <a:xfrm>
            <a:off x="1269968" y="1650959"/>
            <a:ext cx="9651759" cy="380990"/>
          </a:xfrm>
          <a:prstGeom prst="rect">
            <a:avLst/>
          </a:prstGeom>
          <a:noFill/>
          <a:ln/>
        </p:spPr>
        <p:txBody>
          <a:bodyPr wrap="square" lIns="1016" tIns="1016" rIns="1016" bIns="1016" rtlCol="0" anchor="t"/>
          <a:lstStyle/>
          <a:p>
            <a:pPr algn="l" indent="0" marL="0">
              <a:lnSpc>
                <a:spcPct val="130000"/>
              </a:lnSpc>
              <a:buNone/>
            </a:pPr>
            <a:r>
              <a:rPr lang="en-US" sz="1400" dirty="0">
                <a:solidFill>
                  <a:srgbClr val="F2B29C"/>
                </a:solidFill>
                <a:latin typeface="Calibri" pitchFamily="34" charset="0"/>
                <a:ea typeface="Calibri" pitchFamily="34" charset="-122"/>
                <a:cs typeface="Calibri" pitchFamily="34" charset="-120"/>
              </a:rPr>
              <a:t>Q: What data types are suitable for clustering?
</a:t>
            </a:r>
            <a:endParaRPr lang="en-US" sz="1400" dirty="0"/>
          </a:p>
        </p:txBody>
      </p:sp>
      <p:sp>
        <p:nvSpPr>
          <p:cNvPr id="4" name="Text 2"/>
          <p:cNvSpPr/>
          <p:nvPr/>
        </p:nvSpPr>
        <p:spPr>
          <a:xfrm>
            <a:off x="1523962" y="2031949"/>
            <a:ext cx="9397765"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A: Clustering can be applied to various data types, including numerical, categorical, and mixed data, but the choice of algorithm may depend on the data type.
</a:t>
            </a:r>
            <a:endParaRPr lang="en-US" sz="1300" dirty="0"/>
          </a:p>
        </p:txBody>
      </p:sp>
      <p:sp>
        <p:nvSpPr>
          <p:cNvPr id="5" name="Text 3"/>
          <p:cNvSpPr/>
          <p:nvPr/>
        </p:nvSpPr>
        <p:spPr>
          <a:xfrm>
            <a:off x="1269968" y="2825679"/>
            <a:ext cx="9651759" cy="380990"/>
          </a:xfrm>
          <a:prstGeom prst="rect">
            <a:avLst/>
          </a:prstGeom>
          <a:noFill/>
          <a:ln/>
        </p:spPr>
        <p:txBody>
          <a:bodyPr wrap="square" lIns="1016" tIns="1016" rIns="1016" bIns="1016" rtlCol="0" anchor="t"/>
          <a:lstStyle/>
          <a:p>
            <a:pPr algn="l" indent="0" marL="0">
              <a:lnSpc>
                <a:spcPct val="130000"/>
              </a:lnSpc>
              <a:buNone/>
            </a:pPr>
            <a:r>
              <a:rPr lang="en-US" sz="1400" dirty="0">
                <a:solidFill>
                  <a:srgbClr val="F2B29C"/>
                </a:solidFill>
                <a:latin typeface="Calibri" pitchFamily="34" charset="0"/>
                <a:ea typeface="Calibri" pitchFamily="34" charset="-122"/>
                <a:cs typeface="Calibri" pitchFamily="34" charset="-120"/>
              </a:rPr>
              <a:t>Q: How do I choose the right number of clusters?
</a:t>
            </a:r>
            <a:endParaRPr lang="en-US" sz="1400" dirty="0"/>
          </a:p>
        </p:txBody>
      </p:sp>
      <p:sp>
        <p:nvSpPr>
          <p:cNvPr id="6" name="Text 4"/>
          <p:cNvSpPr/>
          <p:nvPr/>
        </p:nvSpPr>
        <p:spPr>
          <a:xfrm>
            <a:off x="1523962" y="3206670"/>
            <a:ext cx="9397765"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A: The optimal number of clusters can be determined using methods like the Elbow Method or Silhouette Score, which evaluate the compactness and separation of clusters.
</a:t>
            </a:r>
            <a:endParaRPr lang="en-US" sz="1300" dirty="0"/>
          </a:p>
        </p:txBody>
      </p:sp>
      <p:sp>
        <p:nvSpPr>
          <p:cNvPr id="7" name="Text 5"/>
          <p:cNvSpPr/>
          <p:nvPr/>
        </p:nvSpPr>
        <p:spPr>
          <a:xfrm>
            <a:off x="1269968" y="4000400"/>
            <a:ext cx="9651759" cy="380990"/>
          </a:xfrm>
          <a:prstGeom prst="rect">
            <a:avLst/>
          </a:prstGeom>
          <a:noFill/>
          <a:ln/>
        </p:spPr>
        <p:txBody>
          <a:bodyPr wrap="square" lIns="1016" tIns="1016" rIns="1016" bIns="1016" rtlCol="0" anchor="t"/>
          <a:lstStyle/>
          <a:p>
            <a:pPr algn="l" indent="0" marL="0">
              <a:lnSpc>
                <a:spcPct val="130000"/>
              </a:lnSpc>
              <a:buNone/>
            </a:pPr>
            <a:r>
              <a:rPr lang="en-US" sz="1400" dirty="0">
                <a:solidFill>
                  <a:srgbClr val="F2B29C"/>
                </a:solidFill>
                <a:latin typeface="Calibri" pitchFamily="34" charset="0"/>
                <a:ea typeface="Calibri" pitchFamily="34" charset="-122"/>
                <a:cs typeface="Calibri" pitchFamily="34" charset="-120"/>
              </a:rPr>
              <a:t>Q: What are the limitations of cluster analysis?
</a:t>
            </a:r>
            <a:endParaRPr lang="en-US" sz="1400" dirty="0"/>
          </a:p>
        </p:txBody>
      </p:sp>
      <p:sp>
        <p:nvSpPr>
          <p:cNvPr id="8" name="Text 6"/>
          <p:cNvSpPr/>
          <p:nvPr/>
        </p:nvSpPr>
        <p:spPr>
          <a:xfrm>
            <a:off x="1523962" y="4381390"/>
            <a:ext cx="9397765"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A: Cluster analysis can be sensitive to outliers and may produce different results based on the chosen algorithm and parameters, making it essential to validate findings.
</a:t>
            </a:r>
            <a:endParaRPr lang="en-US" sz="1300" dirty="0"/>
          </a:p>
        </p:txBody>
      </p:sp>
      <p:sp>
        <p:nvSpPr>
          <p:cNvPr id="9" name="Text 7"/>
          <p:cNvSpPr/>
          <p:nvPr/>
        </p:nvSpPr>
        <p:spPr>
          <a:xfrm>
            <a:off x="1269968" y="5175121"/>
            <a:ext cx="9651759" cy="380990"/>
          </a:xfrm>
          <a:prstGeom prst="rect">
            <a:avLst/>
          </a:prstGeom>
          <a:noFill/>
          <a:ln/>
        </p:spPr>
        <p:txBody>
          <a:bodyPr wrap="square" lIns="1016" tIns="1016" rIns="1016" bIns="1016" rtlCol="0" anchor="t"/>
          <a:lstStyle/>
          <a:p>
            <a:pPr algn="l" indent="0" marL="0">
              <a:lnSpc>
                <a:spcPct val="130000"/>
              </a:lnSpc>
              <a:buNone/>
            </a:pPr>
            <a:r>
              <a:rPr lang="en-US" sz="1400" dirty="0">
                <a:solidFill>
                  <a:srgbClr val="F2B29C"/>
                </a:solidFill>
                <a:latin typeface="Calibri" pitchFamily="34" charset="0"/>
                <a:ea typeface="Calibri" pitchFamily="34" charset="-122"/>
                <a:cs typeface="Calibri" pitchFamily="34" charset="-120"/>
              </a:rPr>
              <a:t>Q: Can clustering be used for real-time data?
</a:t>
            </a:r>
            <a:endParaRPr lang="en-US" sz="1400" dirty="0"/>
          </a:p>
        </p:txBody>
      </p:sp>
      <p:sp>
        <p:nvSpPr>
          <p:cNvPr id="10" name="Text 8"/>
          <p:cNvSpPr/>
          <p:nvPr/>
        </p:nvSpPr>
        <p:spPr>
          <a:xfrm>
            <a:off x="1523962" y="5556111"/>
            <a:ext cx="9397765" cy="924537"/>
          </a:xfrm>
          <a:prstGeom prst="rect">
            <a:avLst/>
          </a:prstGeom>
          <a:noFill/>
          <a:ln/>
        </p:spPr>
        <p:txBody>
          <a:bodyPr wrap="square" lIns="1016" tIns="1016" rIns="1016" bIns="1016" rtlCol="0" anchor="t"/>
          <a:lstStyle/>
          <a:p>
            <a:pPr algn="l" indent="0" marL="0">
              <a:lnSpc>
                <a:spcPct val="130000"/>
              </a:lnSpc>
              <a:buNone/>
            </a:pPr>
            <a:r>
              <a:rPr lang="en-US" sz="1300" dirty="0">
                <a:solidFill>
                  <a:srgbClr val="E9D8C8"/>
                </a:solidFill>
                <a:latin typeface="Calibri" pitchFamily="34" charset="0"/>
                <a:ea typeface="Calibri" pitchFamily="34" charset="-122"/>
                <a:cs typeface="Calibri" pitchFamily="34" charset="-120"/>
              </a:rPr>
              <a:t>A: Yes, clustering can be adapted for real-time data, but it requires efficient algorithms and infrastructure to handle continuous data streams effectively.
</a:t>
            </a:r>
            <a:endParaRPr lang="en-US" sz="1300" dirty="0"/>
          </a:p>
        </p:txBody>
      </p:sp>
      <p:sp>
        <p:nvSpPr>
          <p:cNvPr id="11" name="Text 9"/>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562B35"/>
        </a:solidFill>
      </p:bgPr>
    </p:bg>
    <p:spTree>
      <p:nvGrpSpPr>
        <p:cNvPr id="1" name=""/>
        <p:cNvGrpSpPr/>
        <p:nvPr/>
      </p:nvGrpSpPr>
      <p:grpSpPr>
        <a:xfrm>
          <a:off x="0" y="0"/>
          <a:ext cx="0" cy="0"/>
          <a:chOff x="0" y="0"/>
          <a:chExt cx="0" cy="0"/>
        </a:xfrm>
      </p:grpSpPr>
      <p:sp>
        <p:nvSpPr>
          <p:cNvPr id="2" name="Text 0"/>
          <p:cNvSpPr/>
          <p:nvPr/>
        </p:nvSpPr>
        <p:spPr>
          <a:xfrm>
            <a:off x="1523962" y="1523962"/>
            <a:ext cx="9143771" cy="1269968"/>
          </a:xfrm>
          <a:prstGeom prst="rect">
            <a:avLst/>
          </a:prstGeom>
          <a:noFill/>
          <a:ln/>
        </p:spPr>
        <p:txBody>
          <a:bodyPr wrap="square" lIns="1016" tIns="1016" rIns="1016" bIns="1016" rtlCol="0" anchor="t"/>
          <a:lstStyle/>
          <a:p>
            <a:pPr algn="ctr" indent="0" marL="0">
              <a:lnSpc>
                <a:spcPct val="120000"/>
              </a:lnSpc>
              <a:buNone/>
            </a:pPr>
            <a:r>
              <a:rPr lang="en-US" sz="2900" b="1" dirty="0">
                <a:solidFill>
                  <a:srgbClr val="F2B29C"/>
                </a:solidFill>
                <a:latin typeface="Calibri" pitchFamily="34" charset="0"/>
                <a:ea typeface="Calibri" pitchFamily="34" charset="-122"/>
                <a:cs typeface="Calibri" pitchFamily="34" charset="-120"/>
              </a:rPr>
              <a:t>Conclusion
</a:t>
            </a:r>
            <a:endParaRPr lang="en-US" sz="2900" dirty="0"/>
          </a:p>
        </p:txBody>
      </p:sp>
      <p:sp>
        <p:nvSpPr>
          <p:cNvPr id="3" name="Text 1"/>
          <p:cNvSpPr/>
          <p:nvPr/>
        </p:nvSpPr>
        <p:spPr>
          <a:xfrm>
            <a:off x="1523962" y="3047924"/>
            <a:ext cx="9143771" cy="2933627"/>
          </a:xfrm>
          <a:prstGeom prst="rect">
            <a:avLst/>
          </a:prstGeom>
          <a:noFill/>
          <a:ln/>
        </p:spPr>
        <p:txBody>
          <a:bodyPr wrap="square" lIns="1016" tIns="1016" rIns="1016" bIns="1016" rtlCol="0" anchor="t"/>
          <a:lstStyle/>
          <a:p>
            <a:pPr algn="ctr" indent="0" marL="0">
              <a:lnSpc>
                <a:spcPct val="150000"/>
              </a:lnSpc>
              <a:buNone/>
            </a:pPr>
            <a:r>
              <a:rPr lang="en-US" sz="1300" dirty="0">
                <a:solidFill>
                  <a:srgbClr val="E9D8C8"/>
                </a:solidFill>
                <a:latin typeface="Calibri" pitchFamily="34" charset="0"/>
                <a:ea typeface="Calibri" pitchFamily="34" charset="-122"/>
                <a:cs typeface="Calibri" pitchFamily="34" charset="-120"/>
              </a:rPr>
              <a:t>In summary, cluster analysis in DMA reveals significant patterns that can enhance targeted marketing strategies. Key takeaways include identifying customer segments, optimizing resource allocation, and improving engagement. Moving forward, organizations should implement these insights to refine their approaches and leverage data-driven decisions for sustained growth. Embracing these strategies will not only enhance customer satisfaction but also drive profitability in an increasingly competitive landscape.
</a:t>
            </a:r>
            <a:endParaRPr lang="en-US" sz="1300" dirty="0"/>
          </a:p>
        </p:txBody>
      </p:sp>
      <p:sp>
        <p:nvSpPr>
          <p:cNvPr id="4" name="Text 2"/>
          <p:cNvSpPr/>
          <p:nvPr/>
        </p:nvSpPr>
        <p:spPr>
          <a:xfrm>
            <a:off x="10362895" y="6537960"/>
            <a:ext cx="1691640" cy="256032"/>
          </a:xfrm>
          <a:prstGeom prst="rect">
            <a:avLst/>
          </a:prstGeom>
          <a:solidFill>
            <a:srgbClr val="000000">
              <a:alpha val="45000"/>
            </a:srgbClr>
          </a:solidFill>
          <a:ln/>
        </p:spPr>
        <p:txBody>
          <a:bodyPr wrap="square"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Made with SlideMaker.app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2026-04-15T05:43:59Z</dcterms:created>
  <dcterms:modified xsi:type="dcterms:W3CDTF">2026-04-15T05:43:59Z</dcterms:modified>
</cp:coreProperties>
</file>